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BA9677-634F-4FF0-AE10-0C08237E9D22}">
  <a:tblStyle styleId="{3FBA9677-634F-4FF0-AE10-0C08237E9D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82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00742e41f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00742e41f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Method Categorization (Question 1)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prototyping method on the list, discuss as a group where on the </a:t>
            </a:r>
            <a:r>
              <a:rPr lang="en" b="1" i="1"/>
              <a:t>fidelity </a:t>
            </a:r>
            <a:r>
              <a:rPr lang="en"/>
              <a:t>spectrum it belongs to (from low- to high-) and where on the </a:t>
            </a:r>
            <a:r>
              <a:rPr lang="en" b="1" i="1"/>
              <a:t>purpose</a:t>
            </a:r>
            <a:r>
              <a:rPr lang="en" i="1"/>
              <a:t> </a:t>
            </a:r>
            <a:r>
              <a:rPr lang="en"/>
              <a:t>spectrum it belongs (from purely-for-experience to purely-for-function) relative to the other methods. Place the post-its onto the 2x2 based on what you decide. </a:t>
            </a:r>
            <a:r>
              <a:rPr lang="en" b="1"/>
              <a:t>IMPORTANT NOTE:</a:t>
            </a:r>
            <a:r>
              <a:rPr lang="en"/>
              <a:t> </a:t>
            </a:r>
            <a:r>
              <a:rPr lang="en" i="1"/>
              <a:t>This activity is subjective; don’t worry about getting the “right” answer, and focus more on being able to justify your choices.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 can be found on the lab manual.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00742e41f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00742e41f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Method Categorization Part II (Question 2)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00742e41f_1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00742e41f_1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Method Categorization Part III (Question 3)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00742e41f_1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00742e41f_1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Creation Prompt Part I (Question 1 &amp; 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Project 1 info on Canvas, complete each of the following fields </a:t>
            </a:r>
            <a:r>
              <a:rPr lang="en" b="1"/>
              <a:t>with your group</a:t>
            </a:r>
            <a:r>
              <a:rPr lang="en"/>
              <a:t>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with your group what specific </a:t>
            </a:r>
            <a:r>
              <a:rPr lang="en" b="1" i="1"/>
              <a:t>constraints</a:t>
            </a:r>
            <a:r>
              <a:rPr lang="en"/>
              <a:t> and </a:t>
            </a:r>
            <a:r>
              <a:rPr lang="en" b="1" i="1"/>
              <a:t>variables</a:t>
            </a:r>
            <a:r>
              <a:rPr lang="en"/>
              <a:t> might be present in this challenge.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b="1"/>
              <a:t>Design Variables</a:t>
            </a:r>
            <a:r>
              <a:rPr lang="en"/>
              <a:t> - the parameters of the design which can be changed to meet the requirements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b="1"/>
              <a:t>Design Constraints</a:t>
            </a:r>
            <a:r>
              <a:rPr lang="en"/>
              <a:t> - a restriction of the design which does not add capability but effects the implementation. Examples of these include the “-itilies” such as manufacturability, assemblability, reliability, availability, sustainability, etc.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Identify at least two</a:t>
            </a:r>
            <a:endParaRPr b="1" u="sng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00742e41f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00742e41f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Method Categorization (Question 3 &amp; 4)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After defining questions: </a:t>
            </a:r>
            <a:r>
              <a:rPr lang="en"/>
              <a:t>Describe an idea for a potential prototype or partial prototype for each question in Q3. At this point, </a:t>
            </a:r>
            <a:r>
              <a:rPr lang="en" b="1"/>
              <a:t>it may be useful to share a part of an idea you generated for the prelab. </a:t>
            </a:r>
            <a:r>
              <a:rPr lang="en"/>
              <a:t>Feel free to be creative - you don’t have to limit yourself to only what you think you could build! In a perfect world, how would you answer each of these questions?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00742e41f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00742e41f_1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Prototype Method Categorization (Question 5)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00742e41f_1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00742e41f_1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Prototype Method Categorization (Question 6)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00742e41f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00742e41f_1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Prototype Building and Analysis (Question 1)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00742e41f_1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00742e41f_1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Prototype Building and Analysis (Question 1 cont.)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00742e41f_1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00742e41f_1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Prototype Building and Analysis (Question 2 &amp; 3)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00742e41f_1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00742e41f_1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lab submission guidelines, also found on the lab manual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delity Chart">
  <p:cSld name="CUSTOM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3"/>
          <p:cNvCxnSpPr>
            <a:stCxn id="15" idx="2"/>
            <a:endCxn id="16" idx="0"/>
          </p:cNvCxnSpPr>
          <p:nvPr/>
        </p:nvCxnSpPr>
        <p:spPr>
          <a:xfrm>
            <a:off x="4572000" y="394200"/>
            <a:ext cx="8100" cy="4355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7;p3"/>
          <p:cNvCxnSpPr/>
          <p:nvPr/>
        </p:nvCxnSpPr>
        <p:spPr>
          <a:xfrm>
            <a:off x="1650" y="2519500"/>
            <a:ext cx="9156900" cy="26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8;p3"/>
          <p:cNvSpPr txBox="1"/>
          <p:nvPr/>
        </p:nvSpPr>
        <p:spPr>
          <a:xfrm>
            <a:off x="0" y="2545900"/>
            <a:ext cx="23835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Low Fidelity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7614750" y="2545900"/>
            <a:ext cx="15438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High Fidelity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3880650" y="0"/>
            <a:ext cx="13827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Experience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" name="Google Shape;16;p3"/>
          <p:cNvSpPr txBox="1"/>
          <p:nvPr/>
        </p:nvSpPr>
        <p:spPr>
          <a:xfrm>
            <a:off x="3999900" y="4749300"/>
            <a:ext cx="11604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Function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 370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1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Lab 2 Template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[Team #]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[Names]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1350700" y="71028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Storyboard</a:t>
            </a:r>
            <a:endParaRPr sz="1000"/>
          </a:p>
        </p:txBody>
      </p:sp>
      <p:sp>
        <p:nvSpPr>
          <p:cNvPr id="68" name="Google Shape;68;p15"/>
          <p:cNvSpPr/>
          <p:nvPr/>
        </p:nvSpPr>
        <p:spPr>
          <a:xfrm>
            <a:off x="-1350700" y="1698563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Wireframe</a:t>
            </a:r>
            <a:endParaRPr sz="1000"/>
          </a:p>
        </p:txBody>
      </p:sp>
      <p:sp>
        <p:nvSpPr>
          <p:cNvPr id="69" name="Google Shape;69;p15"/>
          <p:cNvSpPr/>
          <p:nvPr/>
        </p:nvSpPr>
        <p:spPr>
          <a:xfrm>
            <a:off x="-1350700" y="268683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Manual Simulation</a:t>
            </a:r>
            <a:endParaRPr sz="1000"/>
          </a:p>
        </p:txBody>
      </p:sp>
      <p:sp>
        <p:nvSpPr>
          <p:cNvPr id="70" name="Google Shape;70;p15"/>
          <p:cNvSpPr/>
          <p:nvPr/>
        </p:nvSpPr>
        <p:spPr>
          <a:xfrm>
            <a:off x="-1350700" y="3675113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Video Walkthrough</a:t>
            </a:r>
            <a:endParaRPr sz="800"/>
          </a:p>
        </p:txBody>
      </p:sp>
      <p:sp>
        <p:nvSpPr>
          <p:cNvPr id="71" name="Google Shape;71;p15"/>
          <p:cNvSpPr/>
          <p:nvPr/>
        </p:nvSpPr>
        <p:spPr>
          <a:xfrm>
            <a:off x="-2510025" y="71028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Virtual Reality Simulation</a:t>
            </a:r>
            <a:endParaRPr sz="1000"/>
          </a:p>
        </p:txBody>
      </p:sp>
      <p:sp>
        <p:nvSpPr>
          <p:cNvPr id="72" name="Google Shape;72;p15"/>
          <p:cNvSpPr/>
          <p:nvPr/>
        </p:nvSpPr>
        <p:spPr>
          <a:xfrm>
            <a:off x="-2510025" y="1698563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Sketch</a:t>
            </a:r>
            <a:endParaRPr sz="1000"/>
          </a:p>
        </p:txBody>
      </p:sp>
      <p:sp>
        <p:nvSpPr>
          <p:cNvPr id="73" name="Google Shape;73;p15"/>
          <p:cNvSpPr/>
          <p:nvPr/>
        </p:nvSpPr>
        <p:spPr>
          <a:xfrm>
            <a:off x="-2510025" y="268683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Office Materials</a:t>
            </a:r>
            <a:endParaRPr sz="1000"/>
          </a:p>
        </p:txBody>
      </p:sp>
      <p:sp>
        <p:nvSpPr>
          <p:cNvPr id="74" name="Google Shape;74;p15"/>
          <p:cNvSpPr/>
          <p:nvPr/>
        </p:nvSpPr>
        <p:spPr>
          <a:xfrm>
            <a:off x="-2510025" y="3675113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Craft Materials</a:t>
            </a:r>
            <a:endParaRPr sz="1000"/>
          </a:p>
        </p:txBody>
      </p:sp>
      <p:sp>
        <p:nvSpPr>
          <p:cNvPr id="75" name="Google Shape;75;p15"/>
          <p:cNvSpPr/>
          <p:nvPr/>
        </p:nvSpPr>
        <p:spPr>
          <a:xfrm>
            <a:off x="-3669350" y="71028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3D Printed Model</a:t>
            </a:r>
            <a:endParaRPr sz="1000"/>
          </a:p>
        </p:txBody>
      </p:sp>
      <p:sp>
        <p:nvSpPr>
          <p:cNvPr id="76" name="Google Shape;76;p15"/>
          <p:cNvSpPr/>
          <p:nvPr/>
        </p:nvSpPr>
        <p:spPr>
          <a:xfrm>
            <a:off x="-3669350" y="1698563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Manual Mathematical Model</a:t>
            </a:r>
            <a:endParaRPr sz="800"/>
          </a:p>
        </p:txBody>
      </p:sp>
      <p:sp>
        <p:nvSpPr>
          <p:cNvPr id="77" name="Google Shape;77;p15"/>
          <p:cNvSpPr/>
          <p:nvPr/>
        </p:nvSpPr>
        <p:spPr>
          <a:xfrm>
            <a:off x="-3669350" y="268683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Computer-Aided Mathematical Modeling</a:t>
            </a:r>
            <a:endParaRPr sz="700"/>
          </a:p>
        </p:txBody>
      </p:sp>
      <p:sp>
        <p:nvSpPr>
          <p:cNvPr id="78" name="Google Shape;78;p15"/>
          <p:cNvSpPr/>
          <p:nvPr/>
        </p:nvSpPr>
        <p:spPr>
          <a:xfrm>
            <a:off x="-3669350" y="3675113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Engineering Drawing</a:t>
            </a:r>
            <a:endParaRPr sz="900"/>
          </a:p>
        </p:txBody>
      </p:sp>
      <p:sp>
        <p:nvSpPr>
          <p:cNvPr id="79" name="Google Shape;79;p15"/>
          <p:cNvSpPr/>
          <p:nvPr/>
        </p:nvSpPr>
        <p:spPr>
          <a:xfrm>
            <a:off x="-4828675" y="71028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Breadboard Circuit</a:t>
            </a:r>
            <a:endParaRPr sz="900"/>
          </a:p>
        </p:txBody>
      </p:sp>
      <p:sp>
        <p:nvSpPr>
          <p:cNvPr id="80" name="Google Shape;80;p15"/>
          <p:cNvSpPr/>
          <p:nvPr/>
        </p:nvSpPr>
        <p:spPr>
          <a:xfrm>
            <a:off x="-4828675" y="1698563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CAD Model</a:t>
            </a:r>
            <a:endParaRPr sz="1000"/>
          </a:p>
        </p:txBody>
      </p:sp>
      <p:sp>
        <p:nvSpPr>
          <p:cNvPr id="81" name="Google Shape;81;p15"/>
          <p:cNvSpPr/>
          <p:nvPr/>
        </p:nvSpPr>
        <p:spPr>
          <a:xfrm>
            <a:off x="-4828675" y="268683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CAD Assembly Model</a:t>
            </a:r>
            <a:endParaRPr sz="1000"/>
          </a:p>
        </p:txBody>
      </p:sp>
      <p:sp>
        <p:nvSpPr>
          <p:cNvPr id="82" name="Google Shape;82;p15"/>
          <p:cNvSpPr/>
          <p:nvPr/>
        </p:nvSpPr>
        <p:spPr>
          <a:xfrm>
            <a:off x="-4828675" y="3675113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Powerpoint Animations</a:t>
            </a:r>
            <a:endParaRPr sz="1000"/>
          </a:p>
        </p:txBody>
      </p:sp>
      <p:sp>
        <p:nvSpPr>
          <p:cNvPr id="83" name="Google Shape;83;p15"/>
          <p:cNvSpPr/>
          <p:nvPr/>
        </p:nvSpPr>
        <p:spPr>
          <a:xfrm>
            <a:off x="-5988000" y="71028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Custom PCB</a:t>
            </a:r>
            <a:endParaRPr sz="1000"/>
          </a:p>
        </p:txBody>
      </p:sp>
      <p:sp>
        <p:nvSpPr>
          <p:cNvPr id="84" name="Google Shape;84;p15"/>
          <p:cNvSpPr/>
          <p:nvPr/>
        </p:nvSpPr>
        <p:spPr>
          <a:xfrm>
            <a:off x="-5988000" y="1698563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Distorting an Existing Design</a:t>
            </a:r>
            <a:endParaRPr sz="1000"/>
          </a:p>
        </p:txBody>
      </p:sp>
      <p:sp>
        <p:nvSpPr>
          <p:cNvPr id="85" name="Google Shape;85;p15"/>
          <p:cNvSpPr/>
          <p:nvPr/>
        </p:nvSpPr>
        <p:spPr>
          <a:xfrm>
            <a:off x="-5988000" y="268683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Early Working Version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/>
        </p:nvSpPr>
        <p:spPr>
          <a:xfrm>
            <a:off x="0" y="0"/>
            <a:ext cx="91440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</a:rPr>
              <a:t>Were any of the prototypes on the list surprising to you? Pick 2 or 3 and explain why</a:t>
            </a:r>
            <a:endParaRPr sz="1700" b="1">
              <a:solidFill>
                <a:schemeClr val="dk2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0" y="1275000"/>
            <a:ext cx="3032400" cy="38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[insert text here]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055800" y="1275000"/>
            <a:ext cx="3032400" cy="38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[insert text here]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088200" y="1275000"/>
            <a:ext cx="3032400" cy="38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[insert text here]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081500" y="49363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/>
              <a:t>[Insert Prototype Name #1]</a:t>
            </a:r>
            <a:endParaRPr sz="1000" b="1"/>
          </a:p>
        </p:txBody>
      </p:sp>
      <p:sp>
        <p:nvSpPr>
          <p:cNvPr id="95" name="Google Shape;95;p16"/>
          <p:cNvSpPr/>
          <p:nvPr/>
        </p:nvSpPr>
        <p:spPr>
          <a:xfrm>
            <a:off x="4137300" y="49363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[Insert Prototype Name #2]</a:t>
            </a:r>
            <a:endParaRPr sz="1000"/>
          </a:p>
        </p:txBody>
      </p:sp>
      <p:sp>
        <p:nvSpPr>
          <p:cNvPr id="96" name="Google Shape;96;p16"/>
          <p:cNvSpPr/>
          <p:nvPr/>
        </p:nvSpPr>
        <p:spPr>
          <a:xfrm>
            <a:off x="7181400" y="49363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[Insert Prototype Name #3]</a:t>
            </a:r>
            <a:endParaRPr sz="1000" b="1"/>
          </a:p>
        </p:txBody>
      </p:sp>
      <p:cxnSp>
        <p:nvCxnSpPr>
          <p:cNvPr id="97" name="Google Shape;97;p16"/>
          <p:cNvCxnSpPr/>
          <p:nvPr/>
        </p:nvCxnSpPr>
        <p:spPr>
          <a:xfrm>
            <a:off x="3032400" y="493650"/>
            <a:ext cx="0" cy="4451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6"/>
          <p:cNvCxnSpPr/>
          <p:nvPr/>
        </p:nvCxnSpPr>
        <p:spPr>
          <a:xfrm>
            <a:off x="6088200" y="493650"/>
            <a:ext cx="0" cy="4451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0" y="0"/>
            <a:ext cx="91440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2"/>
                </a:solidFill>
              </a:rPr>
              <a:t>Which prototypes on the list prompted the most discussion from your group on where to place them? Pick 2 or 3 and describe how your group came to your decision </a:t>
            </a:r>
            <a:endParaRPr sz="17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2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0" y="1772750"/>
            <a:ext cx="3032400" cy="3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[insert text here]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055800" y="1772750"/>
            <a:ext cx="3032400" cy="3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[insert text here]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6088200" y="1772750"/>
            <a:ext cx="3032400" cy="3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[insert text here]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984325" y="84353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/>
              <a:t>[Insert Prototype Name #1]</a:t>
            </a:r>
            <a:endParaRPr sz="1000" b="1"/>
          </a:p>
        </p:txBody>
      </p:sp>
      <p:sp>
        <p:nvSpPr>
          <p:cNvPr id="108" name="Google Shape;108;p17"/>
          <p:cNvSpPr/>
          <p:nvPr/>
        </p:nvSpPr>
        <p:spPr>
          <a:xfrm>
            <a:off x="4040125" y="84353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[Insert Prototype Name #2]</a:t>
            </a:r>
            <a:endParaRPr sz="1000"/>
          </a:p>
        </p:txBody>
      </p:sp>
      <p:sp>
        <p:nvSpPr>
          <p:cNvPr id="109" name="Google Shape;109;p17"/>
          <p:cNvSpPr/>
          <p:nvPr/>
        </p:nvSpPr>
        <p:spPr>
          <a:xfrm>
            <a:off x="7084225" y="843538"/>
            <a:ext cx="846000" cy="7581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[Insert Prototype Name #3]</a:t>
            </a:r>
            <a:endParaRPr sz="1000" b="1"/>
          </a:p>
        </p:txBody>
      </p:sp>
      <p:cxnSp>
        <p:nvCxnSpPr>
          <p:cNvPr id="110" name="Google Shape;110;p17"/>
          <p:cNvCxnSpPr/>
          <p:nvPr/>
        </p:nvCxnSpPr>
        <p:spPr>
          <a:xfrm>
            <a:off x="3032400" y="742475"/>
            <a:ext cx="0" cy="4202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7"/>
          <p:cNvCxnSpPr/>
          <p:nvPr/>
        </p:nvCxnSpPr>
        <p:spPr>
          <a:xfrm>
            <a:off x="6088200" y="703600"/>
            <a:ext cx="0" cy="4241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Google Shape;116;p18"/>
          <p:cNvGraphicFramePr/>
          <p:nvPr/>
        </p:nvGraphicFramePr>
        <p:xfrm>
          <a:off x="563700" y="28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{3FBA9677-634F-4FF0-AE10-0C08237E9D22}</a:tableStyleId>
              </a:tblPr>
              <a:tblGrid>
                <a:gridCol w="402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Design Variables</a:t>
                      </a:r>
                      <a:endParaRPr sz="1800" b="1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</a:rPr>
                        <a:t>Design Constraints</a:t>
                      </a:r>
                      <a:endParaRPr sz="1800" b="1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2225"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endParaRPr b="1" u="sng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19"/>
          <p:cNvGraphicFramePr/>
          <p:nvPr/>
        </p:nvGraphicFramePr>
        <p:xfrm>
          <a:off x="0" y="70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{3FBA9677-634F-4FF0-AE10-0C08237E9D22}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000">
                <a:tc>
                  <a:txBody>
                    <a:bodyPr/>
                    <a:lstStyle/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" sz="1600"/>
                        <a:t>[Question #1 Here]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[Question #2 Here]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[Question #3 Here]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075">
                <a:tc>
                  <a:txBody>
                    <a:bodyPr/>
                    <a:lstStyle/>
                    <a:p>
                      <a:pPr marL="4572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/>
                        <a:t>[Proposed Prototyping Method]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</a:rPr>
                        <a:t>[Proposed Prototyping Method]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</a:rPr>
                        <a:t>[Proposed Prototyping Method]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00">
                <a:tc>
                  <a:txBody>
                    <a:bodyPr/>
                    <a:lstStyle/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" sz="1600"/>
                        <a:t>[What info should it provide?] </a:t>
                      </a:r>
                      <a:endParaRPr sz="1600"/>
                    </a:p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" sz="1600"/>
                        <a:t>[Why is this prototype suitable for answering it’s respective question?]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[What info should it provide?] 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[Why is this prototype suitable for answering it’s respective question?]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[What info should it provide?] 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[Why is this prototype suitable for answering it’s respective question?]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2" name="Google Shape;122;p19"/>
          <p:cNvSpPr txBox="1"/>
          <p:nvPr/>
        </p:nvSpPr>
        <p:spPr>
          <a:xfrm>
            <a:off x="0" y="0"/>
            <a:ext cx="91440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</a:rPr>
              <a:t>Identify </a:t>
            </a:r>
            <a:r>
              <a:rPr lang="en" sz="1700" b="1" u="sng">
                <a:solidFill>
                  <a:schemeClr val="dk2"/>
                </a:solidFill>
              </a:rPr>
              <a:t>at least 3</a:t>
            </a:r>
            <a:r>
              <a:rPr lang="en" sz="1700" b="1">
                <a:solidFill>
                  <a:schemeClr val="dk2"/>
                </a:solidFill>
              </a:rPr>
              <a:t> questions about the design for your selected destination that your team would like to answer using prototypes</a:t>
            </a:r>
            <a:endParaRPr sz="17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/>
        </p:nvSpPr>
        <p:spPr>
          <a:xfrm>
            <a:off x="-17650" y="3200"/>
            <a:ext cx="91440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As a team select </a:t>
            </a:r>
            <a:r>
              <a:rPr lang="en" sz="1800" b="1">
                <a:solidFill>
                  <a:schemeClr val="dk2"/>
                </a:solidFill>
              </a:rPr>
              <a:t>two</a:t>
            </a:r>
            <a:r>
              <a:rPr lang="en" sz="1800">
                <a:solidFill>
                  <a:schemeClr val="dk2"/>
                </a:solidFill>
              </a:rPr>
              <a:t> of your prototype ideas and </a:t>
            </a:r>
            <a:r>
              <a:rPr lang="en" sz="1800" b="1">
                <a:solidFill>
                  <a:schemeClr val="dk2"/>
                </a:solidFill>
              </a:rPr>
              <a:t>sketch them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8" name="Google Shape;128;p20"/>
          <p:cNvCxnSpPr>
            <a:stCxn id="127" idx="2"/>
          </p:cNvCxnSpPr>
          <p:nvPr/>
        </p:nvCxnSpPr>
        <p:spPr>
          <a:xfrm flipH="1">
            <a:off x="4550450" y="509300"/>
            <a:ext cx="3900" cy="3829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29" name="Google Shape;129;p20"/>
          <p:cNvGraphicFramePr/>
          <p:nvPr/>
        </p:nvGraphicFramePr>
        <p:xfrm>
          <a:off x="-17650" y="432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{3FBA9677-634F-4FF0-AE10-0C08237E9D22}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8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Question it answers:</a:t>
                      </a:r>
                      <a:r>
                        <a:rPr lang="en"/>
                        <a:t> [text]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Question it answers: </a:t>
                      </a:r>
                      <a:r>
                        <a:rPr lang="en"/>
                        <a:t>[text]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0" name="Google Shape;130;p20"/>
          <p:cNvSpPr txBox="1"/>
          <p:nvPr/>
        </p:nvSpPr>
        <p:spPr>
          <a:xfrm>
            <a:off x="973675" y="2103888"/>
            <a:ext cx="2332800" cy="3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Insert Sketch Here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5798325" y="2103900"/>
            <a:ext cx="2332800" cy="3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Insert Sketch Here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-17650" y="3200"/>
            <a:ext cx="91440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Based on the previous sketches answer the following questions 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37" name="Google Shape;137;p21"/>
          <p:cNvGraphicFramePr/>
          <p:nvPr/>
        </p:nvGraphicFramePr>
        <p:xfrm>
          <a:off x="-17650" y="70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{3FBA9677-634F-4FF0-AE10-0C08237E9D22}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8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Question it answers:</a:t>
                      </a:r>
                      <a:r>
                        <a:rPr lang="en"/>
                        <a:t> [text]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"/>
                        <a:t>Is there any other useful information you can get from this prototype?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"/>
                        <a:t>What other prototype(s) would you like to create to fill gaps in your knowledge? </a:t>
                      </a:r>
                      <a:endParaRPr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en"/>
                        <a:t>Would you change which method you picked? Why or why not? 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Question it answers: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[text]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Is there any other useful information you can get from this prototype?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What other prototype(s) would you like to create to fill gaps in your knowledge?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Would you change which method you picked? Why or why not?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/>
        </p:nvSpPr>
        <p:spPr>
          <a:xfrm>
            <a:off x="-17675" y="3800"/>
            <a:ext cx="9144000" cy="13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As a team build </a:t>
            </a:r>
            <a:r>
              <a:rPr lang="en" sz="1800" b="1">
                <a:solidFill>
                  <a:schemeClr val="dk2"/>
                </a:solidFill>
              </a:rPr>
              <a:t>two prototypes</a:t>
            </a:r>
            <a:r>
              <a:rPr lang="en" sz="1800">
                <a:solidFill>
                  <a:schemeClr val="dk2"/>
                </a:solidFill>
              </a:rPr>
              <a:t>. Remember the </a:t>
            </a:r>
            <a:r>
              <a:rPr lang="en" sz="1800" b="1">
                <a:solidFill>
                  <a:schemeClr val="dk2"/>
                </a:solidFill>
              </a:rPr>
              <a:t>question </a:t>
            </a:r>
            <a:r>
              <a:rPr lang="en" sz="1800">
                <a:solidFill>
                  <a:schemeClr val="dk2"/>
                </a:solidFill>
              </a:rPr>
              <a:t>you’re aiming to answer with this prototype; it could be as simple as trying to figure out what form or shape the design concept should take, or it can be as specific as honing in on a specific element of the design and simulating the experience or function of it.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-17675" y="5143500"/>
            <a:ext cx="9144000" cy="677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</a:rPr>
              <a:t>Note: The course instructors expect you will continue to work on your prototypes for D4, and will have a complete or function prototype to present. </a:t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2904300" y="2313000"/>
            <a:ext cx="33354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[Insert Images of Prototype 1]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/>
        </p:nvSpPr>
        <p:spPr>
          <a:xfrm>
            <a:off x="-17675" y="3800"/>
            <a:ext cx="9144000" cy="13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As a team build </a:t>
            </a:r>
            <a:r>
              <a:rPr lang="en" sz="1800" b="1">
                <a:solidFill>
                  <a:schemeClr val="dk2"/>
                </a:solidFill>
              </a:rPr>
              <a:t>two prototypes</a:t>
            </a:r>
            <a:r>
              <a:rPr lang="en" sz="1800">
                <a:solidFill>
                  <a:schemeClr val="dk2"/>
                </a:solidFill>
              </a:rPr>
              <a:t>. Remember the </a:t>
            </a:r>
            <a:r>
              <a:rPr lang="en" sz="1800" b="1">
                <a:solidFill>
                  <a:schemeClr val="dk2"/>
                </a:solidFill>
              </a:rPr>
              <a:t>question </a:t>
            </a:r>
            <a:r>
              <a:rPr lang="en" sz="1800">
                <a:solidFill>
                  <a:schemeClr val="dk2"/>
                </a:solidFill>
              </a:rPr>
              <a:t>you’re aiming to answer with this prototype; it could be as simple as trying to figure out what form or shape the design concept should take, or it can be as specific as honing in on a specific element of the design and simulating the experience or function of it.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-17675" y="5143500"/>
            <a:ext cx="9144000" cy="677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</a:rPr>
              <a:t>Note: The course instructors expect you will continue to work on your prototypes for D4, and will have a complete or function prototype to present. </a:t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2904300" y="2313000"/>
            <a:ext cx="33354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[Insert Images of Prototype 2]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/>
        </p:nvSpPr>
        <p:spPr>
          <a:xfrm>
            <a:off x="-17675" y="380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Answer the following discussion questions: 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What were you able to discover/communicate with these prototypes?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If you had more time and resources, what would be the next prototype to build?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/>
        </p:nvSpPr>
        <p:spPr>
          <a:xfrm>
            <a:off x="-17675" y="3800"/>
            <a:ext cx="9144000" cy="40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Post lab: 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Your post lab submission will be a TEAM submission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Ensure that your post lab has the following: 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 dirty="0">
                <a:solidFill>
                  <a:schemeClr val="dk2"/>
                </a:solidFill>
              </a:rPr>
              <a:t>Part I </a:t>
            </a:r>
            <a:endParaRPr sz="1800"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Your group’s 2x2 with all post-its </a:t>
            </a:r>
            <a:endParaRPr sz="1800"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Your responses to the 2 discussion questions in Part I 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 dirty="0">
                <a:solidFill>
                  <a:schemeClr val="dk2"/>
                </a:solidFill>
              </a:rPr>
              <a:t>Part II </a:t>
            </a:r>
            <a:endParaRPr sz="1800"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Your identified design constraints, variables and unanswered questions </a:t>
            </a:r>
            <a:endParaRPr sz="1800"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Descriptions of at least 3 prototype ideas, one for each question </a:t>
            </a:r>
            <a:endParaRPr sz="1800"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Sketches of at least 2 prototype ideas per team </a:t>
            </a:r>
            <a:endParaRPr sz="1800"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Your responses to the 3 reflection questions in Part II.6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 dirty="0">
                <a:solidFill>
                  <a:schemeClr val="dk2"/>
                </a:solidFill>
              </a:rPr>
              <a:t>Part III</a:t>
            </a:r>
            <a:endParaRPr sz="1800"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Pictures of each of your team’s two low fidelity physical prototypes </a:t>
            </a:r>
            <a:endParaRPr sz="1800"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Your responses to the 2 discussion questions in Part III.2 and III.3 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2"/>
              </a:solidFill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-17675" y="4085900"/>
            <a:ext cx="9144000" cy="14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</a:rPr>
              <a:t>Note: As a team, you should start to work on a CAD or detailed engineering drawings as you work towards more complete prototypes (D4 &amp; D5) </a:t>
            </a:r>
            <a:endParaRPr sz="16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</a:rPr>
              <a:t>Note: The course instructors expect you will continue to work on your prototypes for D4, and will have a complete or function prototype to present.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1201</Words>
  <Application>Microsoft Office PowerPoint</Application>
  <PresentationFormat>On-screen Show (16:9)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ME 370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Tenzer, Marshall Laurence</cp:lastModifiedBy>
  <cp:revision>1</cp:revision>
  <dcterms:modified xsi:type="dcterms:W3CDTF">2025-09-07T22:07:08Z</dcterms:modified>
</cp:coreProperties>
</file>