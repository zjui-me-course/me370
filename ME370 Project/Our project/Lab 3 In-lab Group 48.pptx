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19" roundtripDataSignature="AMtx7mi8crS3vqp8aXfvxfa8AT8STlKLA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4B4410C-63AF-4BC2-BBDD-6D7E2DD71A61}">
  <a:tblStyle styleId="{E4B4410C-63AF-4BC2-BBDD-6D7E2DD71A61}"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customschemas.google.com/relationships/presentationmetadata" Target="metadata"/><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 name="Google Shape;5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 name="Google Shape;6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Prototype Method Categorization (Question 1)</a:t>
            </a:r>
            <a:endParaRPr/>
          </a:p>
          <a:p>
            <a:pPr indent="0" lvl="0" marL="0" rtl="0" algn="l">
              <a:lnSpc>
                <a:spcPct val="100000"/>
              </a:lnSpc>
              <a:spcBef>
                <a:spcPts val="0"/>
              </a:spcBef>
              <a:spcAft>
                <a:spcPts val="0"/>
              </a:spcAft>
              <a:buSzPts val="1100"/>
              <a:buNone/>
            </a:pPr>
            <a:r>
              <a:rPr lang="en"/>
              <a:t>For each prototyping method on the list, discuss as a group where on the </a:t>
            </a:r>
            <a:r>
              <a:rPr b="1" i="1" lang="en"/>
              <a:t>fidelity </a:t>
            </a:r>
            <a:r>
              <a:rPr lang="en"/>
              <a:t>spectrum it belongs to (from low- to high-) and where on the </a:t>
            </a:r>
            <a:r>
              <a:rPr b="1" i="1" lang="en"/>
              <a:t>purpose</a:t>
            </a:r>
            <a:r>
              <a:rPr i="1" lang="en"/>
              <a:t> </a:t>
            </a:r>
            <a:r>
              <a:rPr lang="en"/>
              <a:t>spectrum it belongs (from purely-for-experience to purely-for-function) relative to the other methods. Place the post-its onto the 2x2 based on what you decide. </a:t>
            </a:r>
            <a:r>
              <a:rPr b="1" lang="en"/>
              <a:t>IMPORTANT NOTE:</a:t>
            </a:r>
            <a:r>
              <a:rPr lang="en"/>
              <a:t> </a:t>
            </a:r>
            <a:r>
              <a:rPr i="1" lang="en"/>
              <a:t>This activity is subjective; don’t worry about getting the “right” answer, and focus more on being able to justify your choices. </a:t>
            </a:r>
            <a:endParaRPr b="1"/>
          </a:p>
          <a:p>
            <a:pPr indent="0" lvl="0" marL="0" rtl="0" algn="l">
              <a:lnSpc>
                <a:spcPct val="100000"/>
              </a:lnSpc>
              <a:spcBef>
                <a:spcPts val="0"/>
              </a:spcBef>
              <a:spcAft>
                <a:spcPts val="0"/>
              </a:spcAft>
              <a:buSzPts val="1100"/>
              <a:buNone/>
            </a:pPr>
            <a:r>
              <a:rPr lang="en"/>
              <a:t>Definitions can be found on the lab manual.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Prototype Method Categorization Part II (Question 2)</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Prototype Method Categorization Part III (Question 3)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Prototype Creation Prompt Part I (Question 1 &amp; 2)</a:t>
            </a:r>
            <a:endParaRPr/>
          </a:p>
          <a:p>
            <a:pPr indent="0" lvl="0" marL="0" rtl="0" algn="l">
              <a:lnSpc>
                <a:spcPct val="100000"/>
              </a:lnSpc>
              <a:spcBef>
                <a:spcPts val="0"/>
              </a:spcBef>
              <a:spcAft>
                <a:spcPts val="0"/>
              </a:spcAft>
              <a:buSzPts val="1100"/>
              <a:buNone/>
            </a:pPr>
            <a:r>
              <a:rPr lang="en"/>
              <a:t>Using Project 1 info on Canvas, complete each of the following fields </a:t>
            </a:r>
            <a:r>
              <a:rPr b="1" lang="en"/>
              <a:t>with your group</a:t>
            </a:r>
            <a:r>
              <a:rPr lang="en"/>
              <a:t>:</a:t>
            </a:r>
            <a:endParaRPr/>
          </a:p>
          <a:p>
            <a:pPr indent="0" lvl="0" marL="0" rtl="0" algn="l">
              <a:lnSpc>
                <a:spcPct val="100000"/>
              </a:lnSpc>
              <a:spcBef>
                <a:spcPts val="0"/>
              </a:spcBef>
              <a:spcAft>
                <a:spcPts val="0"/>
              </a:spcAft>
              <a:buSzPts val="1100"/>
              <a:buNone/>
            </a:pPr>
            <a:r>
              <a:rPr lang="en"/>
              <a:t>List with your group what specific </a:t>
            </a:r>
            <a:r>
              <a:rPr b="1" i="1" lang="en"/>
              <a:t>constraints</a:t>
            </a:r>
            <a:r>
              <a:rPr lang="en"/>
              <a:t> and </a:t>
            </a:r>
            <a:r>
              <a:rPr b="1" i="1" lang="en"/>
              <a:t>variables</a:t>
            </a:r>
            <a:r>
              <a:rPr lang="en"/>
              <a:t> might be present in this challenge. </a:t>
            </a:r>
            <a:endParaRPr/>
          </a:p>
          <a:p>
            <a:pPr indent="-298450" lvl="0" marL="457200" rtl="0" algn="l">
              <a:lnSpc>
                <a:spcPct val="100000"/>
              </a:lnSpc>
              <a:spcBef>
                <a:spcPts val="0"/>
              </a:spcBef>
              <a:spcAft>
                <a:spcPts val="0"/>
              </a:spcAft>
              <a:buSzPts val="1100"/>
              <a:buChar char="●"/>
            </a:pPr>
            <a:r>
              <a:rPr b="1" lang="en"/>
              <a:t>Design Variables</a:t>
            </a:r>
            <a:r>
              <a:rPr lang="en"/>
              <a:t> - the parameters of the design which can be changed to meet the requirements</a:t>
            </a:r>
            <a:endParaRPr/>
          </a:p>
          <a:p>
            <a:pPr indent="-298450" lvl="0" marL="457200" rtl="0" algn="l">
              <a:lnSpc>
                <a:spcPct val="100000"/>
              </a:lnSpc>
              <a:spcBef>
                <a:spcPts val="0"/>
              </a:spcBef>
              <a:spcAft>
                <a:spcPts val="0"/>
              </a:spcAft>
              <a:buSzPts val="1100"/>
              <a:buChar char="●"/>
            </a:pPr>
            <a:r>
              <a:rPr b="1" lang="en"/>
              <a:t>Design Constraints</a:t>
            </a:r>
            <a:r>
              <a:rPr lang="en"/>
              <a:t> - a restriction of the design which does not add capability but effects the implementation. Examples of these include the “-itilies” such as manufacturability, assemblability, reliability, availability, sustainability, etc.  </a:t>
            </a:r>
            <a:endParaRPr/>
          </a:p>
          <a:p>
            <a:pPr indent="0" lvl="0" marL="0" rtl="0" algn="l">
              <a:lnSpc>
                <a:spcPct val="100000"/>
              </a:lnSpc>
              <a:spcBef>
                <a:spcPts val="0"/>
              </a:spcBef>
              <a:spcAft>
                <a:spcPts val="0"/>
              </a:spcAft>
              <a:buSzPts val="1100"/>
              <a:buNone/>
            </a:pPr>
            <a:r>
              <a:rPr b="1" lang="en" u="sng"/>
              <a:t>Identify at least two</a:t>
            </a:r>
            <a:endParaRPr b="1" u="sng"/>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Prototype Method Categorization (Question 3 &amp; 4) </a:t>
            </a:r>
            <a:endParaRPr/>
          </a:p>
          <a:p>
            <a:pPr indent="0" lvl="0" marL="0" rtl="0" algn="l">
              <a:lnSpc>
                <a:spcPct val="100000"/>
              </a:lnSpc>
              <a:spcBef>
                <a:spcPts val="0"/>
              </a:spcBef>
              <a:spcAft>
                <a:spcPts val="0"/>
              </a:spcAft>
              <a:buSzPts val="1100"/>
              <a:buNone/>
            </a:pPr>
            <a:r>
              <a:rPr b="1" lang="en"/>
              <a:t>After defining questions: </a:t>
            </a:r>
            <a:r>
              <a:rPr lang="en"/>
              <a:t>Describe an idea for a potential prototype or partial prototype for each question in Q3. At this point, </a:t>
            </a:r>
            <a:r>
              <a:rPr b="1" lang="en"/>
              <a:t>it may be useful to share a part of an idea you generated for the prelab. </a:t>
            </a:r>
            <a:r>
              <a:rPr lang="en"/>
              <a:t>Feel free to be creative - you don’t have to limit yourself to only what you think you could build! In a perfect world, how would you answer each of these questions?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 name="Google Shape;12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Prototype Method Categorization (Question 5)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Prototype Method Categorization (Question 6)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Physical Prototype Building and Analysis (Question 1)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Physical Prototype Building and Analysis (Question 1 cont.)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Physical Prototype Building and Analysis (Question 2 &amp; 3)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Post lab submission guidelines, also found on the lab manual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delity Chart">
  <p:cSld name="CUSTOM">
    <p:spTree>
      <p:nvGrpSpPr>
        <p:cNvPr id="13" name="Shape 13"/>
        <p:cNvGrpSpPr/>
        <p:nvPr/>
      </p:nvGrpSpPr>
      <p:grpSpPr>
        <a:xfrm>
          <a:off x="0" y="0"/>
          <a:ext cx="0" cy="0"/>
          <a:chOff x="0" y="0"/>
          <a:chExt cx="0" cy="0"/>
        </a:xfrm>
      </p:grpSpPr>
      <p:cxnSp>
        <p:nvCxnSpPr>
          <p:cNvPr id="14" name="Google Shape;14;p15"/>
          <p:cNvCxnSpPr>
            <a:stCxn id="15" idx="2"/>
            <a:endCxn id="16" idx="0"/>
          </p:cNvCxnSpPr>
          <p:nvPr/>
        </p:nvCxnSpPr>
        <p:spPr>
          <a:xfrm>
            <a:off x="4572000" y="394200"/>
            <a:ext cx="8100" cy="4355100"/>
          </a:xfrm>
          <a:prstGeom prst="straightConnector1">
            <a:avLst/>
          </a:prstGeom>
          <a:noFill/>
          <a:ln cap="flat" cmpd="sng" w="76200">
            <a:solidFill>
              <a:schemeClr val="dk2"/>
            </a:solidFill>
            <a:prstDash val="solid"/>
            <a:round/>
            <a:headEnd len="sm" w="sm" type="none"/>
            <a:tailEnd len="sm" w="sm" type="none"/>
          </a:ln>
        </p:spPr>
      </p:cxnSp>
      <p:cxnSp>
        <p:nvCxnSpPr>
          <p:cNvPr id="17" name="Google Shape;17;p15"/>
          <p:cNvCxnSpPr/>
          <p:nvPr/>
        </p:nvCxnSpPr>
        <p:spPr>
          <a:xfrm>
            <a:off x="1650" y="2519500"/>
            <a:ext cx="9156900" cy="26400"/>
          </a:xfrm>
          <a:prstGeom prst="straightConnector1">
            <a:avLst/>
          </a:prstGeom>
          <a:noFill/>
          <a:ln cap="flat" cmpd="sng" w="76200">
            <a:solidFill>
              <a:schemeClr val="dk2"/>
            </a:solidFill>
            <a:prstDash val="solid"/>
            <a:round/>
            <a:headEnd len="sm" w="sm" type="none"/>
            <a:tailEnd len="sm" w="sm" type="none"/>
          </a:ln>
        </p:spPr>
      </p:cxnSp>
      <p:sp>
        <p:nvSpPr>
          <p:cNvPr id="18" name="Google Shape;18;p15"/>
          <p:cNvSpPr txBox="1"/>
          <p:nvPr/>
        </p:nvSpPr>
        <p:spPr>
          <a:xfrm>
            <a:off x="0" y="2545900"/>
            <a:ext cx="2383500" cy="39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Low Fidelity</a:t>
            </a:r>
            <a:endParaRPr b="0" i="0" sz="1800" u="none" cap="none" strike="noStrike">
              <a:solidFill>
                <a:schemeClr val="dk2"/>
              </a:solidFill>
              <a:latin typeface="Arial"/>
              <a:ea typeface="Arial"/>
              <a:cs typeface="Arial"/>
              <a:sym typeface="Arial"/>
            </a:endParaRPr>
          </a:p>
        </p:txBody>
      </p:sp>
      <p:sp>
        <p:nvSpPr>
          <p:cNvPr id="19" name="Google Shape;19;p15"/>
          <p:cNvSpPr txBox="1"/>
          <p:nvPr/>
        </p:nvSpPr>
        <p:spPr>
          <a:xfrm>
            <a:off x="7614750" y="2545900"/>
            <a:ext cx="1543800" cy="39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High Fidelity</a:t>
            </a:r>
            <a:endParaRPr b="0" i="0" sz="1800" u="none" cap="none" strike="noStrike">
              <a:solidFill>
                <a:schemeClr val="dk2"/>
              </a:solidFill>
              <a:latin typeface="Arial"/>
              <a:ea typeface="Arial"/>
              <a:cs typeface="Arial"/>
              <a:sym typeface="Arial"/>
            </a:endParaRPr>
          </a:p>
        </p:txBody>
      </p:sp>
      <p:sp>
        <p:nvSpPr>
          <p:cNvPr id="15" name="Google Shape;15;p15"/>
          <p:cNvSpPr txBox="1"/>
          <p:nvPr/>
        </p:nvSpPr>
        <p:spPr>
          <a:xfrm>
            <a:off x="3880650" y="0"/>
            <a:ext cx="1382700" cy="39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Experience</a:t>
            </a:r>
            <a:endParaRPr b="0" i="0" sz="1800" u="none" cap="none" strike="noStrike">
              <a:solidFill>
                <a:schemeClr val="dk2"/>
              </a:solidFill>
              <a:latin typeface="Arial"/>
              <a:ea typeface="Arial"/>
              <a:cs typeface="Arial"/>
              <a:sym typeface="Arial"/>
            </a:endParaRPr>
          </a:p>
        </p:txBody>
      </p:sp>
      <p:sp>
        <p:nvSpPr>
          <p:cNvPr id="16" name="Google Shape;16;p15"/>
          <p:cNvSpPr txBox="1"/>
          <p:nvPr/>
        </p:nvSpPr>
        <p:spPr>
          <a:xfrm>
            <a:off x="3999900" y="4749300"/>
            <a:ext cx="1160400" cy="39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Function</a:t>
            </a:r>
            <a:endParaRPr b="0" i="0" sz="1800" u="none" cap="none" strike="noStrike">
              <a:solidFill>
                <a:schemeClr val="dk2"/>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 name="Shape 20"/>
        <p:cNvGrpSpPr/>
        <p:nvPr/>
      </p:nvGrpSpPr>
      <p:grpSpPr>
        <a:xfrm>
          <a:off x="0" y="0"/>
          <a:ext cx="0" cy="0"/>
          <a:chOff x="0" y="0"/>
          <a:chExt cx="0" cy="0"/>
        </a:xfrm>
      </p:grpSpPr>
      <p:sp>
        <p:nvSpPr>
          <p:cNvPr id="21" name="Google Shape;21;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 name="Shape 22"/>
        <p:cNvGrpSpPr/>
        <p:nvPr/>
      </p:nvGrpSpPr>
      <p:grpSpPr>
        <a:xfrm>
          <a:off x="0" y="0"/>
          <a:ext cx="0" cy="0"/>
          <a:chOff x="0" y="0"/>
          <a:chExt cx="0" cy="0"/>
        </a:xfrm>
      </p:grpSpPr>
      <p:sp>
        <p:nvSpPr>
          <p:cNvPr id="23" name="Google Shape;23;p1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4" name="Google Shape;24;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8" name="Google Shape;28;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9" name="Shape 29"/>
        <p:cNvGrpSpPr/>
        <p:nvPr/>
      </p:nvGrpSpPr>
      <p:grpSpPr>
        <a:xfrm>
          <a:off x="0" y="0"/>
          <a:ext cx="0" cy="0"/>
          <a:chOff x="0" y="0"/>
          <a:chExt cx="0" cy="0"/>
        </a:xfrm>
      </p:grpSpPr>
      <p:sp>
        <p:nvSpPr>
          <p:cNvPr id="30" name="Google Shape;30;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1" name="Google Shape;31;p1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2" name="Google Shape;32;p1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 name="Google Shape;33;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 name="Shape 34"/>
        <p:cNvGrpSpPr/>
        <p:nvPr/>
      </p:nvGrpSpPr>
      <p:grpSpPr>
        <a:xfrm>
          <a:off x="0" y="0"/>
          <a:ext cx="0" cy="0"/>
          <a:chOff x="0" y="0"/>
          <a:chExt cx="0" cy="0"/>
        </a:xfrm>
      </p:grpSpPr>
      <p:sp>
        <p:nvSpPr>
          <p:cNvPr id="35" name="Google Shape;35;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6" name="Google Shape;36;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7" name="Shape 37"/>
        <p:cNvGrpSpPr/>
        <p:nvPr/>
      </p:nvGrpSpPr>
      <p:grpSpPr>
        <a:xfrm>
          <a:off x="0" y="0"/>
          <a:ext cx="0" cy="0"/>
          <a:chOff x="0" y="0"/>
          <a:chExt cx="0" cy="0"/>
        </a:xfrm>
      </p:grpSpPr>
      <p:sp>
        <p:nvSpPr>
          <p:cNvPr id="38" name="Google Shape;38;p2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9" name="Google Shape;39;p2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0" name="Google Shape;40;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1" name="Shape 41"/>
        <p:cNvGrpSpPr/>
        <p:nvPr/>
      </p:nvGrpSpPr>
      <p:grpSpPr>
        <a:xfrm>
          <a:off x="0" y="0"/>
          <a:ext cx="0" cy="0"/>
          <a:chOff x="0" y="0"/>
          <a:chExt cx="0" cy="0"/>
        </a:xfrm>
      </p:grpSpPr>
      <p:sp>
        <p:nvSpPr>
          <p:cNvPr id="42" name="Google Shape;42;p2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3" name="Google Shape;43;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2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2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7" name="Google Shape;47;p2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8" name="Google Shape;48;p2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9" name="Google Shape;49;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p2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52" name="Google Shape;52;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3" name="Shape 53"/>
        <p:cNvGrpSpPr/>
        <p:nvPr/>
      </p:nvGrpSpPr>
      <p:grpSpPr>
        <a:xfrm>
          <a:off x="0" y="0"/>
          <a:ext cx="0" cy="0"/>
          <a:chOff x="0" y="0"/>
          <a:chExt cx="0" cy="0"/>
        </a:xfrm>
      </p:grpSpPr>
      <p:sp>
        <p:nvSpPr>
          <p:cNvPr id="54" name="Google Shape;54;p25"/>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5" name="Google Shape;55;p2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6" name="Google Shape;56;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jpg"/><Relationship Id="rId4"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lang="en"/>
              <a:t>ME 370</a:t>
            </a:r>
            <a:endParaRPr/>
          </a:p>
        </p:txBody>
      </p:sp>
      <p:sp>
        <p:nvSpPr>
          <p:cNvPr id="62" name="Google Shape;62;p1"/>
          <p:cNvSpPr txBox="1"/>
          <p:nvPr>
            <p:ph idx="1" type="subTitle"/>
          </p:nvPr>
        </p:nvSpPr>
        <p:spPr>
          <a:xfrm>
            <a:off x="311700" y="2834125"/>
            <a:ext cx="8520600" cy="11934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ctr">
              <a:lnSpc>
                <a:spcPct val="100000"/>
              </a:lnSpc>
              <a:spcBef>
                <a:spcPts val="0"/>
              </a:spcBef>
              <a:spcAft>
                <a:spcPts val="0"/>
              </a:spcAft>
              <a:buSzPct val="108108"/>
              <a:buNone/>
            </a:pPr>
            <a:r>
              <a:rPr lang="en"/>
              <a:t>Design Lab 3 Template</a:t>
            </a:r>
            <a:endParaRPr/>
          </a:p>
          <a:p>
            <a:pPr indent="0" lvl="0" marL="0" rtl="0" algn="ctr">
              <a:lnSpc>
                <a:spcPct val="100000"/>
              </a:lnSpc>
              <a:spcBef>
                <a:spcPts val="0"/>
              </a:spcBef>
              <a:spcAft>
                <a:spcPts val="0"/>
              </a:spcAft>
              <a:buSzPct val="108108"/>
              <a:buNone/>
            </a:pPr>
            <a:r>
              <a:rPr lang="en"/>
              <a:t>[Team 48]</a:t>
            </a:r>
            <a:endParaRPr/>
          </a:p>
          <a:p>
            <a:pPr indent="0" lvl="0" marL="0" rtl="0" algn="ctr">
              <a:lnSpc>
                <a:spcPct val="100000"/>
              </a:lnSpc>
              <a:spcBef>
                <a:spcPts val="0"/>
              </a:spcBef>
              <a:spcAft>
                <a:spcPts val="0"/>
              </a:spcAft>
              <a:buSzPct val="108108"/>
              <a:buNone/>
            </a:pPr>
            <a:r>
              <a:rPr lang="en"/>
              <a:t>[Sebastian, Daniel, Shihong Yuan, Liangbing Zhao]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2"/>
          <p:cNvSpPr/>
          <p:nvPr/>
        </p:nvSpPr>
        <p:spPr>
          <a:xfrm>
            <a:off x="823550" y="621013"/>
            <a:ext cx="846000" cy="758100"/>
          </a:xfrm>
          <a:prstGeom prst="rect">
            <a:avLst/>
          </a:prstGeom>
          <a:solidFill>
            <a:srgbClr val="FFF2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Storyboard</a:t>
            </a:r>
            <a:endParaRPr b="0" i="0" sz="1000" u="none" cap="none" strike="noStrike">
              <a:solidFill>
                <a:srgbClr val="000000"/>
              </a:solidFill>
              <a:latin typeface="Arial"/>
              <a:ea typeface="Arial"/>
              <a:cs typeface="Arial"/>
              <a:sym typeface="Arial"/>
            </a:endParaRPr>
          </a:p>
        </p:txBody>
      </p:sp>
      <p:sp>
        <p:nvSpPr>
          <p:cNvPr id="68" name="Google Shape;68;p2"/>
          <p:cNvSpPr/>
          <p:nvPr/>
        </p:nvSpPr>
        <p:spPr>
          <a:xfrm>
            <a:off x="2909275" y="2695713"/>
            <a:ext cx="846000" cy="758100"/>
          </a:xfrm>
          <a:prstGeom prst="rect">
            <a:avLst/>
          </a:prstGeom>
          <a:solidFill>
            <a:srgbClr val="FFF2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Wireframe</a:t>
            </a:r>
            <a:endParaRPr b="0" i="0" sz="1000" u="none" cap="none" strike="noStrike">
              <a:solidFill>
                <a:srgbClr val="000000"/>
              </a:solidFill>
              <a:latin typeface="Arial"/>
              <a:ea typeface="Arial"/>
              <a:cs typeface="Arial"/>
              <a:sym typeface="Arial"/>
            </a:endParaRPr>
          </a:p>
        </p:txBody>
      </p:sp>
      <p:sp>
        <p:nvSpPr>
          <p:cNvPr id="69" name="Google Shape;69;p2"/>
          <p:cNvSpPr/>
          <p:nvPr/>
        </p:nvSpPr>
        <p:spPr>
          <a:xfrm>
            <a:off x="5617525" y="1258088"/>
            <a:ext cx="846000" cy="758100"/>
          </a:xfrm>
          <a:prstGeom prst="rect">
            <a:avLst/>
          </a:prstGeom>
          <a:solidFill>
            <a:srgbClr val="FFF2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Manual Simulation</a:t>
            </a:r>
            <a:endParaRPr b="0" i="0" sz="1000" u="none" cap="none" strike="noStrike">
              <a:solidFill>
                <a:srgbClr val="000000"/>
              </a:solidFill>
              <a:latin typeface="Arial"/>
              <a:ea typeface="Arial"/>
              <a:cs typeface="Arial"/>
              <a:sym typeface="Arial"/>
            </a:endParaRPr>
          </a:p>
        </p:txBody>
      </p:sp>
      <p:sp>
        <p:nvSpPr>
          <p:cNvPr id="70" name="Google Shape;70;p2"/>
          <p:cNvSpPr/>
          <p:nvPr/>
        </p:nvSpPr>
        <p:spPr>
          <a:xfrm>
            <a:off x="8298000" y="88363"/>
            <a:ext cx="846000" cy="758100"/>
          </a:xfrm>
          <a:prstGeom prst="rect">
            <a:avLst/>
          </a:prstGeom>
          <a:solidFill>
            <a:srgbClr val="FFF2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0000"/>
                </a:solidFill>
                <a:latin typeface="Arial"/>
                <a:ea typeface="Arial"/>
                <a:cs typeface="Arial"/>
                <a:sym typeface="Arial"/>
              </a:rPr>
              <a:t>Video Walkthrough</a:t>
            </a:r>
            <a:endParaRPr b="0" i="0" sz="800" u="none" cap="none" strike="noStrike">
              <a:solidFill>
                <a:srgbClr val="000000"/>
              </a:solidFill>
              <a:latin typeface="Arial"/>
              <a:ea typeface="Arial"/>
              <a:cs typeface="Arial"/>
              <a:sym typeface="Arial"/>
            </a:endParaRPr>
          </a:p>
        </p:txBody>
      </p:sp>
      <p:sp>
        <p:nvSpPr>
          <p:cNvPr id="71" name="Google Shape;71;p2"/>
          <p:cNvSpPr/>
          <p:nvPr/>
        </p:nvSpPr>
        <p:spPr>
          <a:xfrm>
            <a:off x="7014975" y="382863"/>
            <a:ext cx="846000" cy="758100"/>
          </a:xfrm>
          <a:prstGeom prst="rect">
            <a:avLst/>
          </a:prstGeom>
          <a:solidFill>
            <a:srgbClr val="FFF2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Virtual Reality Simulation</a:t>
            </a:r>
            <a:endParaRPr b="0" i="0" sz="1000" u="none" cap="none" strike="noStrike">
              <a:solidFill>
                <a:srgbClr val="000000"/>
              </a:solidFill>
              <a:latin typeface="Arial"/>
              <a:ea typeface="Arial"/>
              <a:cs typeface="Arial"/>
              <a:sym typeface="Arial"/>
            </a:endParaRPr>
          </a:p>
        </p:txBody>
      </p:sp>
      <p:sp>
        <p:nvSpPr>
          <p:cNvPr id="72" name="Google Shape;72;p2"/>
          <p:cNvSpPr/>
          <p:nvPr/>
        </p:nvSpPr>
        <p:spPr>
          <a:xfrm>
            <a:off x="559663" y="2192688"/>
            <a:ext cx="846000" cy="758100"/>
          </a:xfrm>
          <a:prstGeom prst="rect">
            <a:avLst/>
          </a:prstGeom>
          <a:solidFill>
            <a:srgbClr val="FFF2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Sketch</a:t>
            </a:r>
            <a:endParaRPr b="0" i="0" sz="1000" u="none" cap="none" strike="noStrike">
              <a:solidFill>
                <a:srgbClr val="000000"/>
              </a:solidFill>
              <a:latin typeface="Arial"/>
              <a:ea typeface="Arial"/>
              <a:cs typeface="Arial"/>
              <a:sym typeface="Arial"/>
            </a:endParaRPr>
          </a:p>
        </p:txBody>
      </p:sp>
      <p:sp>
        <p:nvSpPr>
          <p:cNvPr id="73" name="Google Shape;73;p2"/>
          <p:cNvSpPr/>
          <p:nvPr/>
        </p:nvSpPr>
        <p:spPr>
          <a:xfrm>
            <a:off x="124225" y="276750"/>
            <a:ext cx="846000" cy="758100"/>
          </a:xfrm>
          <a:prstGeom prst="rect">
            <a:avLst/>
          </a:prstGeom>
          <a:solidFill>
            <a:srgbClr val="FFF2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Office Materials</a:t>
            </a:r>
            <a:endParaRPr b="0" i="0" sz="1000" u="none" cap="none" strike="noStrike">
              <a:solidFill>
                <a:srgbClr val="000000"/>
              </a:solidFill>
              <a:latin typeface="Arial"/>
              <a:ea typeface="Arial"/>
              <a:cs typeface="Arial"/>
              <a:sym typeface="Arial"/>
            </a:endParaRPr>
          </a:p>
        </p:txBody>
      </p:sp>
      <p:sp>
        <p:nvSpPr>
          <p:cNvPr id="74" name="Google Shape;74;p2"/>
          <p:cNvSpPr/>
          <p:nvPr/>
        </p:nvSpPr>
        <p:spPr>
          <a:xfrm>
            <a:off x="1523200" y="2192688"/>
            <a:ext cx="846000" cy="758100"/>
          </a:xfrm>
          <a:prstGeom prst="rect">
            <a:avLst/>
          </a:prstGeom>
          <a:solidFill>
            <a:srgbClr val="FFF2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Craft Materials</a:t>
            </a:r>
            <a:endParaRPr b="0" i="0" sz="1000" u="none" cap="none" strike="noStrike">
              <a:solidFill>
                <a:srgbClr val="000000"/>
              </a:solidFill>
              <a:latin typeface="Arial"/>
              <a:ea typeface="Arial"/>
              <a:cs typeface="Arial"/>
              <a:sym typeface="Arial"/>
            </a:endParaRPr>
          </a:p>
        </p:txBody>
      </p:sp>
      <p:sp>
        <p:nvSpPr>
          <p:cNvPr id="75" name="Google Shape;75;p2"/>
          <p:cNvSpPr/>
          <p:nvPr/>
        </p:nvSpPr>
        <p:spPr>
          <a:xfrm>
            <a:off x="5617525" y="3152188"/>
            <a:ext cx="846000" cy="758100"/>
          </a:xfrm>
          <a:prstGeom prst="rect">
            <a:avLst/>
          </a:prstGeom>
          <a:solidFill>
            <a:srgbClr val="FFF2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3D Printed Model</a:t>
            </a:r>
            <a:endParaRPr b="0" i="0" sz="1000" u="none" cap="none" strike="noStrike">
              <a:solidFill>
                <a:srgbClr val="000000"/>
              </a:solidFill>
              <a:latin typeface="Arial"/>
              <a:ea typeface="Arial"/>
              <a:cs typeface="Arial"/>
              <a:sym typeface="Arial"/>
            </a:endParaRPr>
          </a:p>
        </p:txBody>
      </p:sp>
      <p:sp>
        <p:nvSpPr>
          <p:cNvPr id="76" name="Google Shape;76;p2"/>
          <p:cNvSpPr/>
          <p:nvPr/>
        </p:nvSpPr>
        <p:spPr>
          <a:xfrm>
            <a:off x="124225" y="1140963"/>
            <a:ext cx="846000" cy="758100"/>
          </a:xfrm>
          <a:prstGeom prst="rect">
            <a:avLst/>
          </a:prstGeom>
          <a:solidFill>
            <a:srgbClr val="FFF2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Manual Mathematical Model</a:t>
            </a:r>
            <a:endParaRPr b="0" i="0" sz="800" u="none" cap="none" strike="noStrike">
              <a:solidFill>
                <a:srgbClr val="000000"/>
              </a:solidFill>
              <a:latin typeface="Arial"/>
              <a:ea typeface="Arial"/>
              <a:cs typeface="Arial"/>
              <a:sym typeface="Arial"/>
            </a:endParaRPr>
          </a:p>
        </p:txBody>
      </p:sp>
      <p:sp>
        <p:nvSpPr>
          <p:cNvPr id="77" name="Google Shape;77;p2"/>
          <p:cNvSpPr/>
          <p:nvPr/>
        </p:nvSpPr>
        <p:spPr>
          <a:xfrm>
            <a:off x="2640975" y="1034838"/>
            <a:ext cx="846000" cy="758100"/>
          </a:xfrm>
          <a:prstGeom prst="rect">
            <a:avLst/>
          </a:prstGeom>
          <a:solidFill>
            <a:srgbClr val="FFF2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Computer-Aided Mathematical Modeling</a:t>
            </a:r>
            <a:endParaRPr b="0" i="0" sz="700" u="none" cap="none" strike="noStrike">
              <a:solidFill>
                <a:srgbClr val="000000"/>
              </a:solidFill>
              <a:latin typeface="Arial"/>
              <a:ea typeface="Arial"/>
              <a:cs typeface="Arial"/>
              <a:sym typeface="Arial"/>
            </a:endParaRPr>
          </a:p>
        </p:txBody>
      </p:sp>
      <p:sp>
        <p:nvSpPr>
          <p:cNvPr id="78" name="Google Shape;78;p2"/>
          <p:cNvSpPr/>
          <p:nvPr/>
        </p:nvSpPr>
        <p:spPr>
          <a:xfrm>
            <a:off x="5617525" y="4014288"/>
            <a:ext cx="846000" cy="758100"/>
          </a:xfrm>
          <a:prstGeom prst="rect">
            <a:avLst/>
          </a:prstGeom>
          <a:solidFill>
            <a:srgbClr val="FFF2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0000"/>
                </a:solidFill>
                <a:latin typeface="Arial"/>
                <a:ea typeface="Arial"/>
                <a:cs typeface="Arial"/>
                <a:sym typeface="Arial"/>
              </a:rPr>
              <a:t>Engineering Drawing</a:t>
            </a:r>
            <a:endParaRPr b="0" i="0" sz="900" u="none" cap="none" strike="noStrike">
              <a:solidFill>
                <a:srgbClr val="000000"/>
              </a:solidFill>
              <a:latin typeface="Arial"/>
              <a:ea typeface="Arial"/>
              <a:cs typeface="Arial"/>
              <a:sym typeface="Arial"/>
            </a:endParaRPr>
          </a:p>
        </p:txBody>
      </p:sp>
      <p:sp>
        <p:nvSpPr>
          <p:cNvPr id="79" name="Google Shape;79;p2"/>
          <p:cNvSpPr/>
          <p:nvPr/>
        </p:nvSpPr>
        <p:spPr>
          <a:xfrm>
            <a:off x="1669538" y="4014288"/>
            <a:ext cx="846000" cy="758100"/>
          </a:xfrm>
          <a:prstGeom prst="rect">
            <a:avLst/>
          </a:prstGeom>
          <a:solidFill>
            <a:srgbClr val="FFF2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0000"/>
                </a:solidFill>
                <a:latin typeface="Arial"/>
                <a:ea typeface="Arial"/>
                <a:cs typeface="Arial"/>
                <a:sym typeface="Arial"/>
              </a:rPr>
              <a:t>Breadboard Circuit</a:t>
            </a:r>
            <a:endParaRPr b="0" i="0" sz="900" u="none" cap="none" strike="noStrike">
              <a:solidFill>
                <a:srgbClr val="000000"/>
              </a:solidFill>
              <a:latin typeface="Arial"/>
              <a:ea typeface="Arial"/>
              <a:cs typeface="Arial"/>
              <a:sym typeface="Arial"/>
            </a:endParaRPr>
          </a:p>
        </p:txBody>
      </p:sp>
      <p:sp>
        <p:nvSpPr>
          <p:cNvPr id="80" name="Google Shape;80;p2"/>
          <p:cNvSpPr/>
          <p:nvPr/>
        </p:nvSpPr>
        <p:spPr>
          <a:xfrm>
            <a:off x="6571550" y="3152188"/>
            <a:ext cx="846000" cy="758100"/>
          </a:xfrm>
          <a:prstGeom prst="rect">
            <a:avLst/>
          </a:prstGeom>
          <a:solidFill>
            <a:srgbClr val="FFF2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CAD Model</a:t>
            </a:r>
            <a:endParaRPr b="0" i="0" sz="1000" u="none" cap="none" strike="noStrike">
              <a:solidFill>
                <a:srgbClr val="000000"/>
              </a:solidFill>
              <a:latin typeface="Arial"/>
              <a:ea typeface="Arial"/>
              <a:cs typeface="Arial"/>
              <a:sym typeface="Arial"/>
            </a:endParaRPr>
          </a:p>
        </p:txBody>
      </p:sp>
      <p:sp>
        <p:nvSpPr>
          <p:cNvPr id="81" name="Google Shape;81;p2"/>
          <p:cNvSpPr/>
          <p:nvPr/>
        </p:nvSpPr>
        <p:spPr>
          <a:xfrm>
            <a:off x="7107325" y="2192688"/>
            <a:ext cx="846000" cy="758100"/>
          </a:xfrm>
          <a:prstGeom prst="rect">
            <a:avLst/>
          </a:prstGeom>
          <a:solidFill>
            <a:srgbClr val="FFF2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CAD Assembly Model</a:t>
            </a:r>
            <a:endParaRPr b="0" i="0" sz="1000" u="none" cap="none" strike="noStrike">
              <a:solidFill>
                <a:srgbClr val="000000"/>
              </a:solidFill>
              <a:latin typeface="Arial"/>
              <a:ea typeface="Arial"/>
              <a:cs typeface="Arial"/>
              <a:sym typeface="Arial"/>
            </a:endParaRPr>
          </a:p>
        </p:txBody>
      </p:sp>
      <p:sp>
        <p:nvSpPr>
          <p:cNvPr id="82" name="Google Shape;82;p2"/>
          <p:cNvSpPr/>
          <p:nvPr/>
        </p:nvSpPr>
        <p:spPr>
          <a:xfrm>
            <a:off x="1669550" y="940463"/>
            <a:ext cx="846000" cy="758100"/>
          </a:xfrm>
          <a:prstGeom prst="rect">
            <a:avLst/>
          </a:prstGeom>
          <a:solidFill>
            <a:srgbClr val="FFF2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Powerpoint Animations</a:t>
            </a:r>
            <a:endParaRPr b="0" i="0" sz="1000" u="none" cap="none" strike="noStrike">
              <a:solidFill>
                <a:srgbClr val="000000"/>
              </a:solidFill>
              <a:latin typeface="Arial"/>
              <a:ea typeface="Arial"/>
              <a:cs typeface="Arial"/>
              <a:sym typeface="Arial"/>
            </a:endParaRPr>
          </a:p>
        </p:txBody>
      </p:sp>
      <p:sp>
        <p:nvSpPr>
          <p:cNvPr id="83" name="Google Shape;83;p2"/>
          <p:cNvSpPr/>
          <p:nvPr/>
        </p:nvSpPr>
        <p:spPr>
          <a:xfrm>
            <a:off x="8167750" y="4222488"/>
            <a:ext cx="846000" cy="758100"/>
          </a:xfrm>
          <a:prstGeom prst="rect">
            <a:avLst/>
          </a:prstGeom>
          <a:solidFill>
            <a:srgbClr val="FFF2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Custom PCB</a:t>
            </a:r>
            <a:endParaRPr b="0" i="0" sz="1000" u="none" cap="none" strike="noStrike">
              <a:solidFill>
                <a:srgbClr val="000000"/>
              </a:solidFill>
              <a:latin typeface="Arial"/>
              <a:ea typeface="Arial"/>
              <a:cs typeface="Arial"/>
              <a:sym typeface="Arial"/>
            </a:endParaRPr>
          </a:p>
        </p:txBody>
      </p:sp>
      <p:sp>
        <p:nvSpPr>
          <p:cNvPr id="84" name="Google Shape;84;p2"/>
          <p:cNvSpPr/>
          <p:nvPr/>
        </p:nvSpPr>
        <p:spPr>
          <a:xfrm>
            <a:off x="2909275" y="1624163"/>
            <a:ext cx="846000" cy="758100"/>
          </a:xfrm>
          <a:prstGeom prst="rect">
            <a:avLst/>
          </a:prstGeom>
          <a:solidFill>
            <a:srgbClr val="FFF2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Distorting an Existing Design</a:t>
            </a:r>
            <a:endParaRPr b="0" i="0" sz="1000" u="none" cap="none" strike="noStrike">
              <a:solidFill>
                <a:srgbClr val="000000"/>
              </a:solidFill>
              <a:latin typeface="Arial"/>
              <a:ea typeface="Arial"/>
              <a:cs typeface="Arial"/>
              <a:sym typeface="Arial"/>
            </a:endParaRPr>
          </a:p>
        </p:txBody>
      </p:sp>
      <p:sp>
        <p:nvSpPr>
          <p:cNvPr id="85" name="Google Shape;85;p2"/>
          <p:cNvSpPr/>
          <p:nvPr/>
        </p:nvSpPr>
        <p:spPr>
          <a:xfrm>
            <a:off x="4149000" y="2091538"/>
            <a:ext cx="846000" cy="758100"/>
          </a:xfrm>
          <a:prstGeom prst="rect">
            <a:avLst/>
          </a:prstGeom>
          <a:solidFill>
            <a:srgbClr val="FFF2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Early Working Version</a:t>
            </a:r>
            <a:endParaRPr b="0" i="0" sz="10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3"/>
          <p:cNvSpPr txBox="1"/>
          <p:nvPr/>
        </p:nvSpPr>
        <p:spPr>
          <a:xfrm>
            <a:off x="0" y="0"/>
            <a:ext cx="9144000" cy="470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chemeClr val="dk2"/>
                </a:solidFill>
                <a:latin typeface="Arial"/>
                <a:ea typeface="Arial"/>
                <a:cs typeface="Arial"/>
                <a:sym typeface="Arial"/>
              </a:rPr>
              <a:t>Were any of the prototypes on the list surprising to you? Pick 2 or 3 and explain why</a:t>
            </a:r>
            <a:endParaRPr b="1" i="0" sz="1700" u="none" cap="none" strike="noStrike">
              <a:solidFill>
                <a:schemeClr val="dk2"/>
              </a:solidFill>
              <a:latin typeface="Arial"/>
              <a:ea typeface="Arial"/>
              <a:cs typeface="Arial"/>
              <a:sym typeface="Arial"/>
            </a:endParaRPr>
          </a:p>
        </p:txBody>
      </p:sp>
      <p:sp>
        <p:nvSpPr>
          <p:cNvPr id="91" name="Google Shape;91;p3"/>
          <p:cNvSpPr txBox="1"/>
          <p:nvPr/>
        </p:nvSpPr>
        <p:spPr>
          <a:xfrm>
            <a:off x="0" y="1275000"/>
            <a:ext cx="3032400" cy="38685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Clr>
                <a:schemeClr val="dk2"/>
              </a:buClr>
              <a:buSzPts val="1800"/>
              <a:buFont typeface="Arial"/>
              <a:buChar char="●"/>
            </a:pPr>
            <a:r>
              <a:rPr lang="en" sz="1800">
                <a:solidFill>
                  <a:schemeClr val="dk2"/>
                </a:solidFill>
              </a:rPr>
              <a:t>This one was surprising because when I think of prototyping I typically think of a new product</a:t>
            </a:r>
            <a:endParaRPr sz="1800">
              <a:solidFill>
                <a:schemeClr val="dk2"/>
              </a:solidFill>
            </a:endParaRPr>
          </a:p>
          <a:p>
            <a:pPr indent="-342900" lvl="0" marL="457200" marR="0" rtl="0" algn="l">
              <a:lnSpc>
                <a:spcPct val="100000"/>
              </a:lnSpc>
              <a:spcBef>
                <a:spcPts val="0"/>
              </a:spcBef>
              <a:spcAft>
                <a:spcPts val="0"/>
              </a:spcAft>
              <a:buClr>
                <a:schemeClr val="dk2"/>
              </a:buClr>
              <a:buSzPts val="1800"/>
              <a:buChar char="●"/>
            </a:pPr>
            <a:r>
              <a:rPr lang="en" sz="1800">
                <a:solidFill>
                  <a:schemeClr val="dk2"/>
                </a:solidFill>
              </a:rPr>
              <a:t>However it makes sense as if there is already a design it makes sense to build off of it</a:t>
            </a:r>
            <a:endParaRPr sz="1800">
              <a:solidFill>
                <a:schemeClr val="dk2"/>
              </a:solidFill>
            </a:endParaRPr>
          </a:p>
        </p:txBody>
      </p:sp>
      <p:sp>
        <p:nvSpPr>
          <p:cNvPr id="92" name="Google Shape;92;p3"/>
          <p:cNvSpPr txBox="1"/>
          <p:nvPr/>
        </p:nvSpPr>
        <p:spPr>
          <a:xfrm>
            <a:off x="3055800" y="1275000"/>
            <a:ext cx="3032400" cy="38685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Clr>
                <a:schemeClr val="dk2"/>
              </a:buClr>
              <a:buSzPts val="1800"/>
              <a:buFont typeface="Arial"/>
              <a:buChar char="●"/>
            </a:pPr>
            <a:r>
              <a:rPr lang="en" sz="1800">
                <a:solidFill>
                  <a:schemeClr val="dk2"/>
                </a:solidFill>
              </a:rPr>
              <a:t>A virtual reality simulation is something very high fidelity when creating a prototype to convey the experience</a:t>
            </a:r>
            <a:endParaRPr sz="1800">
              <a:solidFill>
                <a:schemeClr val="dk2"/>
              </a:solidFill>
            </a:endParaRPr>
          </a:p>
          <a:p>
            <a:pPr indent="-342900" lvl="0" marL="457200" marR="0" rtl="0" algn="l">
              <a:lnSpc>
                <a:spcPct val="100000"/>
              </a:lnSpc>
              <a:spcBef>
                <a:spcPts val="0"/>
              </a:spcBef>
              <a:spcAft>
                <a:spcPts val="0"/>
              </a:spcAft>
              <a:buClr>
                <a:schemeClr val="dk2"/>
              </a:buClr>
              <a:buSzPts val="1800"/>
              <a:buChar char="●"/>
            </a:pPr>
            <a:r>
              <a:rPr lang="en" sz="1800">
                <a:solidFill>
                  <a:schemeClr val="dk2"/>
                </a:solidFill>
              </a:rPr>
              <a:t>I would think that going straight to a video walkthrough may be more helpful but that would depend on the design being prototyped</a:t>
            </a:r>
            <a:endParaRPr sz="1800">
              <a:solidFill>
                <a:schemeClr val="dk2"/>
              </a:solidFill>
            </a:endParaRPr>
          </a:p>
        </p:txBody>
      </p:sp>
      <p:sp>
        <p:nvSpPr>
          <p:cNvPr id="93" name="Google Shape;93;p3"/>
          <p:cNvSpPr txBox="1"/>
          <p:nvPr/>
        </p:nvSpPr>
        <p:spPr>
          <a:xfrm>
            <a:off x="6088200" y="1275000"/>
            <a:ext cx="3032400" cy="3868500"/>
          </a:xfrm>
          <a:prstGeom prst="rect">
            <a:avLst/>
          </a:prstGeom>
          <a:noFill/>
          <a:ln>
            <a:noFill/>
          </a:ln>
        </p:spPr>
        <p:txBody>
          <a:bodyPr anchorCtr="0" anchor="t" bIns="91425" lIns="91425" spcFirstLastPara="1" rIns="91425" wrap="square" tIns="91425">
            <a:noAutofit/>
          </a:bodyPr>
          <a:lstStyle/>
          <a:p>
            <a:pPr indent="-336550" lvl="0" marL="457200" marR="0" rtl="0" algn="l">
              <a:lnSpc>
                <a:spcPct val="100000"/>
              </a:lnSpc>
              <a:spcBef>
                <a:spcPts val="0"/>
              </a:spcBef>
              <a:spcAft>
                <a:spcPts val="0"/>
              </a:spcAft>
              <a:buClr>
                <a:schemeClr val="dk2"/>
              </a:buClr>
              <a:buSzPts val="1700"/>
              <a:buChar char="●"/>
            </a:pPr>
            <a:r>
              <a:rPr lang="en" sz="1700">
                <a:solidFill>
                  <a:schemeClr val="dk2"/>
                </a:solidFill>
              </a:rPr>
              <a:t>Manual simulation helps us actually operate certain mechanical structure, and we can feel the friction existing in this mechanical structure and the driving force required.</a:t>
            </a:r>
            <a:endParaRPr sz="1700">
              <a:solidFill>
                <a:schemeClr val="dk2"/>
              </a:solidFill>
            </a:endParaRPr>
          </a:p>
          <a:p>
            <a:pPr indent="-336550" lvl="0" marL="457200" marR="0" rtl="0" algn="l">
              <a:lnSpc>
                <a:spcPct val="100000"/>
              </a:lnSpc>
              <a:spcBef>
                <a:spcPts val="0"/>
              </a:spcBef>
              <a:spcAft>
                <a:spcPts val="0"/>
              </a:spcAft>
              <a:buClr>
                <a:schemeClr val="dk2"/>
              </a:buClr>
              <a:buSzPts val="1700"/>
              <a:buChar char="●"/>
            </a:pPr>
            <a:r>
              <a:rPr lang="en" sz="1700">
                <a:solidFill>
                  <a:schemeClr val="dk2"/>
                </a:solidFill>
              </a:rPr>
              <a:t>This will also help us determine the number of transmission structures and the ratio of the number of gear teeth</a:t>
            </a:r>
            <a:endParaRPr sz="1700">
              <a:solidFill>
                <a:schemeClr val="dk2"/>
              </a:solidFill>
            </a:endParaRPr>
          </a:p>
        </p:txBody>
      </p:sp>
      <p:sp>
        <p:nvSpPr>
          <p:cNvPr id="94" name="Google Shape;94;p3"/>
          <p:cNvSpPr/>
          <p:nvPr/>
        </p:nvSpPr>
        <p:spPr>
          <a:xfrm>
            <a:off x="1081500" y="493638"/>
            <a:ext cx="846000" cy="758100"/>
          </a:xfrm>
          <a:prstGeom prst="rect">
            <a:avLst/>
          </a:prstGeom>
          <a:solidFill>
            <a:srgbClr val="FFF2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000000"/>
                </a:solidFill>
                <a:latin typeface="Arial"/>
                <a:ea typeface="Arial"/>
                <a:cs typeface="Arial"/>
                <a:sym typeface="Arial"/>
              </a:rPr>
              <a:t>[Insert Prototype Name #1]</a:t>
            </a:r>
            <a:endParaRPr b="1" i="0" sz="1000" u="none" cap="none" strike="noStrike">
              <a:solidFill>
                <a:srgbClr val="000000"/>
              </a:solidFill>
              <a:latin typeface="Arial"/>
              <a:ea typeface="Arial"/>
              <a:cs typeface="Arial"/>
              <a:sym typeface="Arial"/>
            </a:endParaRPr>
          </a:p>
        </p:txBody>
      </p:sp>
      <p:sp>
        <p:nvSpPr>
          <p:cNvPr id="95" name="Google Shape;95;p3"/>
          <p:cNvSpPr/>
          <p:nvPr/>
        </p:nvSpPr>
        <p:spPr>
          <a:xfrm>
            <a:off x="7181400" y="493638"/>
            <a:ext cx="846000" cy="758100"/>
          </a:xfrm>
          <a:prstGeom prst="rect">
            <a:avLst/>
          </a:prstGeom>
          <a:solidFill>
            <a:srgbClr val="FFF2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lang="en" sz="1000">
                <a:solidFill>
                  <a:schemeClr val="dk1"/>
                </a:solidFill>
              </a:rPr>
              <a:t>Manual Simulation</a:t>
            </a:r>
            <a:endParaRPr b="1" i="0" sz="1000" u="none" cap="none" strike="noStrike">
              <a:solidFill>
                <a:srgbClr val="000000"/>
              </a:solidFill>
              <a:latin typeface="Arial"/>
              <a:ea typeface="Arial"/>
              <a:cs typeface="Arial"/>
              <a:sym typeface="Arial"/>
            </a:endParaRPr>
          </a:p>
        </p:txBody>
      </p:sp>
      <p:cxnSp>
        <p:nvCxnSpPr>
          <p:cNvPr id="96" name="Google Shape;96;p3"/>
          <p:cNvCxnSpPr/>
          <p:nvPr/>
        </p:nvCxnSpPr>
        <p:spPr>
          <a:xfrm>
            <a:off x="3032400" y="493650"/>
            <a:ext cx="0" cy="4451400"/>
          </a:xfrm>
          <a:prstGeom prst="straightConnector1">
            <a:avLst/>
          </a:prstGeom>
          <a:noFill/>
          <a:ln cap="flat" cmpd="sng" w="28575">
            <a:solidFill>
              <a:schemeClr val="dk2"/>
            </a:solidFill>
            <a:prstDash val="solid"/>
            <a:round/>
            <a:headEnd len="sm" w="sm" type="none"/>
            <a:tailEnd len="sm" w="sm" type="none"/>
          </a:ln>
        </p:spPr>
      </p:cxnSp>
      <p:cxnSp>
        <p:nvCxnSpPr>
          <p:cNvPr id="97" name="Google Shape;97;p3"/>
          <p:cNvCxnSpPr/>
          <p:nvPr/>
        </p:nvCxnSpPr>
        <p:spPr>
          <a:xfrm>
            <a:off x="6088200" y="493650"/>
            <a:ext cx="0" cy="4451400"/>
          </a:xfrm>
          <a:prstGeom prst="straightConnector1">
            <a:avLst/>
          </a:prstGeom>
          <a:noFill/>
          <a:ln cap="flat" cmpd="sng" w="28575">
            <a:solidFill>
              <a:schemeClr val="dk2"/>
            </a:solidFill>
            <a:prstDash val="solid"/>
            <a:round/>
            <a:headEnd len="sm" w="sm" type="none"/>
            <a:tailEnd len="sm" w="sm" type="none"/>
          </a:ln>
        </p:spPr>
      </p:cxnSp>
      <p:sp>
        <p:nvSpPr>
          <p:cNvPr id="98" name="Google Shape;98;p3"/>
          <p:cNvSpPr/>
          <p:nvPr/>
        </p:nvSpPr>
        <p:spPr>
          <a:xfrm>
            <a:off x="1081500" y="470388"/>
            <a:ext cx="846000" cy="758100"/>
          </a:xfrm>
          <a:prstGeom prst="rect">
            <a:avLst/>
          </a:prstGeom>
          <a:solidFill>
            <a:srgbClr val="FFF2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Distorting an Existing Design</a:t>
            </a:r>
            <a:endParaRPr b="0" i="0" sz="1000" u="none" cap="none" strike="noStrike">
              <a:solidFill>
                <a:srgbClr val="000000"/>
              </a:solidFill>
              <a:latin typeface="Arial"/>
              <a:ea typeface="Arial"/>
              <a:cs typeface="Arial"/>
              <a:sym typeface="Arial"/>
            </a:endParaRPr>
          </a:p>
        </p:txBody>
      </p:sp>
      <p:sp>
        <p:nvSpPr>
          <p:cNvPr id="99" name="Google Shape;99;p3"/>
          <p:cNvSpPr/>
          <p:nvPr/>
        </p:nvSpPr>
        <p:spPr>
          <a:xfrm>
            <a:off x="4137300" y="493638"/>
            <a:ext cx="846000" cy="758100"/>
          </a:xfrm>
          <a:prstGeom prst="rect">
            <a:avLst/>
          </a:prstGeom>
          <a:solidFill>
            <a:srgbClr val="FFF2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Virtual Reality Simulation</a:t>
            </a:r>
            <a:endParaRPr b="0" i="0" sz="10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4"/>
          <p:cNvSpPr txBox="1"/>
          <p:nvPr/>
        </p:nvSpPr>
        <p:spPr>
          <a:xfrm>
            <a:off x="0" y="0"/>
            <a:ext cx="9144000" cy="470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 sz="1700" u="none" cap="none" strike="noStrike">
                <a:solidFill>
                  <a:schemeClr val="dk2"/>
                </a:solidFill>
                <a:latin typeface="Arial"/>
                <a:ea typeface="Arial"/>
                <a:cs typeface="Arial"/>
                <a:sym typeface="Arial"/>
              </a:rPr>
              <a:t>Which prototypes on the list prompted the most discussion from your group on where to place them? Pick 2 or 3 and describe how your group came to your decision </a:t>
            </a:r>
            <a:endParaRPr b="1" i="0" sz="17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chemeClr val="dk2"/>
              </a:solidFill>
              <a:latin typeface="Arial"/>
              <a:ea typeface="Arial"/>
              <a:cs typeface="Arial"/>
              <a:sym typeface="Arial"/>
            </a:endParaRPr>
          </a:p>
        </p:txBody>
      </p:sp>
      <p:sp>
        <p:nvSpPr>
          <p:cNvPr id="105" name="Google Shape;105;p4"/>
          <p:cNvSpPr txBox="1"/>
          <p:nvPr/>
        </p:nvSpPr>
        <p:spPr>
          <a:xfrm>
            <a:off x="0" y="1772750"/>
            <a:ext cx="3032400" cy="33708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Clr>
                <a:schemeClr val="dk2"/>
              </a:buClr>
              <a:buSzPts val="1800"/>
              <a:buFont typeface="Arial"/>
              <a:buChar char="●"/>
            </a:pPr>
            <a:r>
              <a:rPr lang="en" sz="1800">
                <a:solidFill>
                  <a:schemeClr val="dk2"/>
                </a:solidFill>
              </a:rPr>
              <a:t>We werent sure where to put this between experience and function</a:t>
            </a:r>
            <a:endParaRPr sz="1800">
              <a:solidFill>
                <a:schemeClr val="dk2"/>
              </a:solidFill>
            </a:endParaRPr>
          </a:p>
          <a:p>
            <a:pPr indent="-342900" lvl="0" marL="457200" marR="0" rtl="0" algn="l">
              <a:lnSpc>
                <a:spcPct val="100000"/>
              </a:lnSpc>
              <a:spcBef>
                <a:spcPts val="0"/>
              </a:spcBef>
              <a:spcAft>
                <a:spcPts val="0"/>
              </a:spcAft>
              <a:buClr>
                <a:schemeClr val="dk2"/>
              </a:buClr>
              <a:buSzPts val="1800"/>
              <a:buChar char="●"/>
            </a:pPr>
            <a:r>
              <a:rPr lang="en" sz="1800">
                <a:solidFill>
                  <a:schemeClr val="dk2"/>
                </a:solidFill>
              </a:rPr>
              <a:t>We decided it was more experience because its used to prove if something will work, it doesnt dictate how you will make it work</a:t>
            </a:r>
            <a:endParaRPr sz="1800">
              <a:solidFill>
                <a:schemeClr val="dk2"/>
              </a:solidFill>
            </a:endParaRPr>
          </a:p>
        </p:txBody>
      </p:sp>
      <p:sp>
        <p:nvSpPr>
          <p:cNvPr id="106" name="Google Shape;106;p4"/>
          <p:cNvSpPr txBox="1"/>
          <p:nvPr/>
        </p:nvSpPr>
        <p:spPr>
          <a:xfrm>
            <a:off x="3055800" y="1772750"/>
            <a:ext cx="3032400" cy="3370800"/>
          </a:xfrm>
          <a:prstGeom prst="rect">
            <a:avLst/>
          </a:prstGeom>
          <a:noFill/>
          <a:ln>
            <a:noFill/>
          </a:ln>
        </p:spPr>
        <p:txBody>
          <a:bodyPr anchorCtr="0" anchor="t" bIns="91425" lIns="91425" spcFirstLastPara="1" rIns="91425" wrap="square" tIns="91425">
            <a:noAutofit/>
          </a:bodyPr>
          <a:lstStyle/>
          <a:p>
            <a:pPr indent="-336550" lvl="0" marL="457200" marR="0" rtl="0" algn="l">
              <a:lnSpc>
                <a:spcPct val="100000"/>
              </a:lnSpc>
              <a:spcBef>
                <a:spcPts val="0"/>
              </a:spcBef>
              <a:spcAft>
                <a:spcPts val="0"/>
              </a:spcAft>
              <a:buClr>
                <a:schemeClr val="dk2"/>
              </a:buClr>
              <a:buSzPts val="1700"/>
              <a:buFont typeface="Arial"/>
              <a:buChar char="●"/>
            </a:pPr>
            <a:r>
              <a:rPr lang="en" sz="1700">
                <a:solidFill>
                  <a:schemeClr val="dk2"/>
                </a:solidFill>
              </a:rPr>
              <a:t>We werent sure what level of </a:t>
            </a:r>
            <a:r>
              <a:rPr lang="en" sz="1700">
                <a:solidFill>
                  <a:schemeClr val="dk2"/>
                </a:solidFill>
              </a:rPr>
              <a:t>fidelity</a:t>
            </a:r>
            <a:r>
              <a:rPr lang="en" sz="1700">
                <a:solidFill>
                  <a:schemeClr val="dk2"/>
                </a:solidFill>
              </a:rPr>
              <a:t> an engineering drawing was</a:t>
            </a:r>
            <a:endParaRPr sz="1700">
              <a:solidFill>
                <a:schemeClr val="dk2"/>
              </a:solidFill>
            </a:endParaRPr>
          </a:p>
          <a:p>
            <a:pPr indent="-336550" lvl="0" marL="457200" marR="0" rtl="0" algn="l">
              <a:lnSpc>
                <a:spcPct val="100000"/>
              </a:lnSpc>
              <a:spcBef>
                <a:spcPts val="0"/>
              </a:spcBef>
              <a:spcAft>
                <a:spcPts val="0"/>
              </a:spcAft>
              <a:buClr>
                <a:schemeClr val="dk2"/>
              </a:buClr>
              <a:buSzPts val="1700"/>
              <a:buChar char="●"/>
            </a:pPr>
            <a:r>
              <a:rPr lang="en" sz="1700">
                <a:solidFill>
                  <a:schemeClr val="dk2"/>
                </a:solidFill>
              </a:rPr>
              <a:t>We decided it was pretty high fidelity because it typically includes dimensions/tolerances which would be something that you decide late in the </a:t>
            </a:r>
            <a:r>
              <a:rPr lang="en" sz="1700">
                <a:solidFill>
                  <a:schemeClr val="dk2"/>
                </a:solidFill>
              </a:rPr>
              <a:t>design</a:t>
            </a:r>
            <a:r>
              <a:rPr lang="en" sz="1700">
                <a:solidFill>
                  <a:schemeClr val="dk2"/>
                </a:solidFill>
              </a:rPr>
              <a:t> process</a:t>
            </a:r>
            <a:endParaRPr sz="1700">
              <a:solidFill>
                <a:schemeClr val="dk2"/>
              </a:solidFill>
            </a:endParaRPr>
          </a:p>
        </p:txBody>
      </p:sp>
      <p:sp>
        <p:nvSpPr>
          <p:cNvPr id="107" name="Google Shape;107;p4"/>
          <p:cNvSpPr txBox="1"/>
          <p:nvPr/>
        </p:nvSpPr>
        <p:spPr>
          <a:xfrm>
            <a:off x="6088200" y="1772750"/>
            <a:ext cx="3032400" cy="33708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Clr>
                <a:schemeClr val="dk2"/>
              </a:buClr>
              <a:buSzPts val="1800"/>
              <a:buFont typeface="Arial"/>
              <a:buChar char="●"/>
            </a:pPr>
            <a:r>
              <a:rPr lang="en" sz="1800">
                <a:solidFill>
                  <a:schemeClr val="dk2"/>
                </a:solidFill>
              </a:rPr>
              <a:t>We struggled if this was experience or function</a:t>
            </a:r>
            <a:endParaRPr sz="1800">
              <a:solidFill>
                <a:schemeClr val="dk2"/>
              </a:solidFill>
            </a:endParaRPr>
          </a:p>
          <a:p>
            <a:pPr indent="-342900" lvl="0" marL="457200" marR="0" rtl="0" algn="l">
              <a:lnSpc>
                <a:spcPct val="100000"/>
              </a:lnSpc>
              <a:spcBef>
                <a:spcPts val="0"/>
              </a:spcBef>
              <a:spcAft>
                <a:spcPts val="0"/>
              </a:spcAft>
              <a:buClr>
                <a:schemeClr val="dk2"/>
              </a:buClr>
              <a:buSzPts val="1800"/>
              <a:buChar char="●"/>
            </a:pPr>
            <a:r>
              <a:rPr lang="en" sz="1800">
                <a:solidFill>
                  <a:schemeClr val="dk2"/>
                </a:solidFill>
              </a:rPr>
              <a:t>We decided on experience because it would help show someone how it works and what it looks like, it wouldnt decide how it functions</a:t>
            </a:r>
            <a:endParaRPr sz="1800">
              <a:solidFill>
                <a:schemeClr val="dk2"/>
              </a:solidFill>
            </a:endParaRPr>
          </a:p>
        </p:txBody>
      </p:sp>
      <p:sp>
        <p:nvSpPr>
          <p:cNvPr id="108" name="Google Shape;108;p4"/>
          <p:cNvSpPr/>
          <p:nvPr/>
        </p:nvSpPr>
        <p:spPr>
          <a:xfrm>
            <a:off x="984325" y="843538"/>
            <a:ext cx="846000" cy="758100"/>
          </a:xfrm>
          <a:prstGeom prst="rect">
            <a:avLst/>
          </a:prstGeom>
          <a:solidFill>
            <a:srgbClr val="FFF2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000000"/>
                </a:solidFill>
                <a:latin typeface="Arial"/>
                <a:ea typeface="Arial"/>
                <a:cs typeface="Arial"/>
                <a:sym typeface="Arial"/>
              </a:rPr>
              <a:t>[Insert Prototype Name #1]</a:t>
            </a:r>
            <a:endParaRPr b="1" i="0" sz="1000" u="none" cap="none" strike="noStrike">
              <a:solidFill>
                <a:srgbClr val="000000"/>
              </a:solidFill>
              <a:latin typeface="Arial"/>
              <a:ea typeface="Arial"/>
              <a:cs typeface="Arial"/>
              <a:sym typeface="Arial"/>
            </a:endParaRPr>
          </a:p>
        </p:txBody>
      </p:sp>
      <p:sp>
        <p:nvSpPr>
          <p:cNvPr id="109" name="Google Shape;109;p4"/>
          <p:cNvSpPr/>
          <p:nvPr/>
        </p:nvSpPr>
        <p:spPr>
          <a:xfrm>
            <a:off x="4040125" y="843538"/>
            <a:ext cx="846000" cy="758100"/>
          </a:xfrm>
          <a:prstGeom prst="rect">
            <a:avLst/>
          </a:prstGeom>
          <a:solidFill>
            <a:srgbClr val="FFF2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chemeClr val="dk1"/>
                </a:solidFill>
                <a:latin typeface="Arial"/>
                <a:ea typeface="Arial"/>
                <a:cs typeface="Arial"/>
                <a:sym typeface="Arial"/>
              </a:rPr>
              <a:t>[Insert Prototype Name #2]</a:t>
            </a:r>
            <a:endParaRPr b="0" i="0" sz="1000" u="none" cap="none" strike="noStrike">
              <a:solidFill>
                <a:srgbClr val="000000"/>
              </a:solidFill>
              <a:latin typeface="Arial"/>
              <a:ea typeface="Arial"/>
              <a:cs typeface="Arial"/>
              <a:sym typeface="Arial"/>
            </a:endParaRPr>
          </a:p>
        </p:txBody>
      </p:sp>
      <p:sp>
        <p:nvSpPr>
          <p:cNvPr id="110" name="Google Shape;110;p4"/>
          <p:cNvSpPr/>
          <p:nvPr/>
        </p:nvSpPr>
        <p:spPr>
          <a:xfrm>
            <a:off x="7084225" y="843538"/>
            <a:ext cx="846000" cy="758100"/>
          </a:xfrm>
          <a:prstGeom prst="rect">
            <a:avLst/>
          </a:prstGeom>
          <a:solidFill>
            <a:srgbClr val="FFF2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chemeClr val="dk1"/>
                </a:solidFill>
                <a:latin typeface="Arial"/>
                <a:ea typeface="Arial"/>
                <a:cs typeface="Arial"/>
                <a:sym typeface="Arial"/>
              </a:rPr>
              <a:t>[Insert Prototype Name #3]</a:t>
            </a:r>
            <a:endParaRPr b="1" i="0" sz="1000" u="none" cap="none" strike="noStrike">
              <a:solidFill>
                <a:srgbClr val="000000"/>
              </a:solidFill>
              <a:latin typeface="Arial"/>
              <a:ea typeface="Arial"/>
              <a:cs typeface="Arial"/>
              <a:sym typeface="Arial"/>
            </a:endParaRPr>
          </a:p>
        </p:txBody>
      </p:sp>
      <p:cxnSp>
        <p:nvCxnSpPr>
          <p:cNvPr id="111" name="Google Shape;111;p4"/>
          <p:cNvCxnSpPr/>
          <p:nvPr/>
        </p:nvCxnSpPr>
        <p:spPr>
          <a:xfrm>
            <a:off x="3032400" y="742475"/>
            <a:ext cx="0" cy="4202700"/>
          </a:xfrm>
          <a:prstGeom prst="straightConnector1">
            <a:avLst/>
          </a:prstGeom>
          <a:noFill/>
          <a:ln cap="flat" cmpd="sng" w="28575">
            <a:solidFill>
              <a:schemeClr val="dk2"/>
            </a:solidFill>
            <a:prstDash val="solid"/>
            <a:round/>
            <a:headEnd len="sm" w="sm" type="none"/>
            <a:tailEnd len="sm" w="sm" type="none"/>
          </a:ln>
        </p:spPr>
      </p:cxnSp>
      <p:cxnSp>
        <p:nvCxnSpPr>
          <p:cNvPr id="112" name="Google Shape;112;p4"/>
          <p:cNvCxnSpPr/>
          <p:nvPr/>
        </p:nvCxnSpPr>
        <p:spPr>
          <a:xfrm>
            <a:off x="6088200" y="703600"/>
            <a:ext cx="0" cy="4241400"/>
          </a:xfrm>
          <a:prstGeom prst="straightConnector1">
            <a:avLst/>
          </a:prstGeom>
          <a:noFill/>
          <a:ln cap="flat" cmpd="sng" w="28575">
            <a:solidFill>
              <a:schemeClr val="dk2"/>
            </a:solidFill>
            <a:prstDash val="solid"/>
            <a:round/>
            <a:headEnd len="sm" w="sm" type="none"/>
            <a:tailEnd len="sm" w="sm" type="none"/>
          </a:ln>
        </p:spPr>
      </p:cxnSp>
      <p:sp>
        <p:nvSpPr>
          <p:cNvPr id="113" name="Google Shape;113;p4"/>
          <p:cNvSpPr/>
          <p:nvPr/>
        </p:nvSpPr>
        <p:spPr>
          <a:xfrm>
            <a:off x="996025" y="843538"/>
            <a:ext cx="846000" cy="758100"/>
          </a:xfrm>
          <a:prstGeom prst="rect">
            <a:avLst/>
          </a:prstGeom>
          <a:solidFill>
            <a:srgbClr val="FFF2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Manual Mathematical Model</a:t>
            </a:r>
            <a:endParaRPr b="0" i="0" sz="800" u="none" cap="none" strike="noStrike">
              <a:solidFill>
                <a:srgbClr val="000000"/>
              </a:solidFill>
              <a:latin typeface="Arial"/>
              <a:ea typeface="Arial"/>
              <a:cs typeface="Arial"/>
              <a:sym typeface="Arial"/>
            </a:endParaRPr>
          </a:p>
        </p:txBody>
      </p:sp>
      <p:sp>
        <p:nvSpPr>
          <p:cNvPr id="114" name="Google Shape;114;p4"/>
          <p:cNvSpPr/>
          <p:nvPr/>
        </p:nvSpPr>
        <p:spPr>
          <a:xfrm>
            <a:off x="4034275" y="843538"/>
            <a:ext cx="846000" cy="758100"/>
          </a:xfrm>
          <a:prstGeom prst="rect">
            <a:avLst/>
          </a:prstGeom>
          <a:solidFill>
            <a:srgbClr val="FFF2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0000"/>
                </a:solidFill>
                <a:latin typeface="Arial"/>
                <a:ea typeface="Arial"/>
                <a:cs typeface="Arial"/>
                <a:sym typeface="Arial"/>
              </a:rPr>
              <a:t>Engineering Drawing</a:t>
            </a:r>
            <a:endParaRPr b="0" i="0" sz="900" u="none" cap="none" strike="noStrike">
              <a:solidFill>
                <a:srgbClr val="000000"/>
              </a:solidFill>
              <a:latin typeface="Arial"/>
              <a:ea typeface="Arial"/>
              <a:cs typeface="Arial"/>
              <a:sym typeface="Arial"/>
            </a:endParaRPr>
          </a:p>
        </p:txBody>
      </p:sp>
      <p:sp>
        <p:nvSpPr>
          <p:cNvPr id="115" name="Google Shape;115;p4"/>
          <p:cNvSpPr/>
          <p:nvPr/>
        </p:nvSpPr>
        <p:spPr>
          <a:xfrm>
            <a:off x="7084225" y="843538"/>
            <a:ext cx="846000" cy="758100"/>
          </a:xfrm>
          <a:prstGeom prst="rect">
            <a:avLst/>
          </a:prstGeom>
          <a:solidFill>
            <a:srgbClr val="FFF2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0000"/>
                </a:solidFill>
                <a:latin typeface="Arial"/>
                <a:ea typeface="Arial"/>
                <a:cs typeface="Arial"/>
                <a:sym typeface="Arial"/>
              </a:rPr>
              <a:t>Video Walkthrough</a:t>
            </a:r>
            <a:endParaRPr b="0" i="0" sz="8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graphicFrame>
        <p:nvGraphicFramePr>
          <p:cNvPr id="120" name="Google Shape;120;p5"/>
          <p:cNvGraphicFramePr/>
          <p:nvPr/>
        </p:nvGraphicFramePr>
        <p:xfrm>
          <a:off x="563700" y="285750"/>
          <a:ext cx="3000000" cy="3000000"/>
        </p:xfrm>
        <a:graphic>
          <a:graphicData uri="http://schemas.openxmlformats.org/drawingml/2006/table">
            <a:tbl>
              <a:tblPr>
                <a:noFill/>
                <a:tableStyleId>{E4B4410C-63AF-4BC2-BBDD-6D7E2DD71A61}</a:tableStyleId>
              </a:tblPr>
              <a:tblGrid>
                <a:gridCol w="4027725"/>
                <a:gridCol w="4027725"/>
              </a:tblGrid>
              <a:tr h="433200">
                <a:tc>
                  <a:txBody>
                    <a:bodyPr/>
                    <a:lstStyle/>
                    <a:p>
                      <a:pPr indent="0" lvl="0" marL="0" marR="0" rtl="0" algn="ctr">
                        <a:lnSpc>
                          <a:spcPct val="100000"/>
                        </a:lnSpc>
                        <a:spcBef>
                          <a:spcPts val="0"/>
                        </a:spcBef>
                        <a:spcAft>
                          <a:spcPts val="0"/>
                        </a:spcAft>
                        <a:buClr>
                          <a:srgbClr val="000000"/>
                        </a:buClr>
                        <a:buSzPts val="1800"/>
                        <a:buFont typeface="Arial"/>
                        <a:buNone/>
                      </a:pPr>
                      <a:r>
                        <a:rPr b="1" lang="en" sz="1800" u="none" cap="none" strike="noStrike"/>
                        <a:t>Design Variables</a:t>
                      </a:r>
                      <a:endParaRPr b="1" sz="1800" u="none" cap="none" strike="noStrike"/>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1" lang="en" sz="1800" u="none" cap="none" strike="noStrike">
                          <a:solidFill>
                            <a:schemeClr val="dk1"/>
                          </a:solidFill>
                        </a:rPr>
                        <a:t>Design Constraints</a:t>
                      </a:r>
                      <a:endParaRPr b="1" sz="1800" u="none" cap="none" strike="noStrike"/>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tcPr>
                </a:tc>
              </a:tr>
              <a:tr h="4022225">
                <a:tc>
                  <a:txBody>
                    <a:bodyPr/>
                    <a:lstStyle/>
                    <a:p>
                      <a:pPr indent="-317500" lvl="0" marL="457200" marR="0" rtl="0" algn="l">
                        <a:lnSpc>
                          <a:spcPct val="100000"/>
                        </a:lnSpc>
                        <a:spcBef>
                          <a:spcPts val="0"/>
                        </a:spcBef>
                        <a:spcAft>
                          <a:spcPts val="0"/>
                        </a:spcAft>
                        <a:buSzPts val="1400"/>
                        <a:buChar char="●"/>
                      </a:pPr>
                      <a:r>
                        <a:rPr lang="en"/>
                        <a:t>Speed of the robot</a:t>
                      </a:r>
                      <a:endParaRPr/>
                    </a:p>
                    <a:p>
                      <a:pPr indent="-317500" lvl="0" marL="457200" marR="0" rtl="0" algn="l">
                        <a:lnSpc>
                          <a:spcPct val="100000"/>
                        </a:lnSpc>
                        <a:spcBef>
                          <a:spcPts val="0"/>
                        </a:spcBef>
                        <a:spcAft>
                          <a:spcPts val="0"/>
                        </a:spcAft>
                        <a:buSzPts val="1400"/>
                        <a:buChar char="●"/>
                      </a:pPr>
                      <a:r>
                        <a:rPr lang="en"/>
                        <a:t>Gear ratios</a:t>
                      </a:r>
                      <a:endParaRPr/>
                    </a:p>
                    <a:p>
                      <a:pPr indent="-317500" lvl="0" marL="457200" marR="0" rtl="0" algn="l">
                        <a:lnSpc>
                          <a:spcPct val="100000"/>
                        </a:lnSpc>
                        <a:spcBef>
                          <a:spcPts val="0"/>
                        </a:spcBef>
                        <a:spcAft>
                          <a:spcPts val="0"/>
                        </a:spcAft>
                        <a:buSzPts val="1400"/>
                        <a:buChar char="●"/>
                      </a:pPr>
                      <a:r>
                        <a:rPr lang="en"/>
                        <a:t>Materials used for construction</a:t>
                      </a:r>
                      <a:endParaRPr/>
                    </a:p>
                    <a:p>
                      <a:pPr indent="-317500" lvl="0" marL="457200" marR="0" rtl="0" algn="l">
                        <a:lnSpc>
                          <a:spcPct val="100000"/>
                        </a:lnSpc>
                        <a:spcBef>
                          <a:spcPts val="0"/>
                        </a:spcBef>
                        <a:spcAft>
                          <a:spcPts val="0"/>
                        </a:spcAft>
                        <a:buSzPts val="1400"/>
                        <a:buChar char="●"/>
                      </a:pPr>
                      <a:r>
                        <a:rPr lang="en"/>
                        <a:t>Payload being transported</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tcPr>
                </a:tc>
                <a:tc>
                  <a:txBody>
                    <a:bodyPr/>
                    <a:lstStyle/>
                    <a:p>
                      <a:pPr indent="-317500" lvl="0" marL="457200" marR="0" rtl="0" algn="l">
                        <a:lnSpc>
                          <a:spcPct val="100000"/>
                        </a:lnSpc>
                        <a:spcBef>
                          <a:spcPts val="0"/>
                        </a:spcBef>
                        <a:spcAft>
                          <a:spcPts val="0"/>
                        </a:spcAft>
                        <a:buSzPts val="1400"/>
                        <a:buChar char="●"/>
                      </a:pPr>
                      <a:r>
                        <a:rPr lang="en"/>
                        <a:t>Budget</a:t>
                      </a:r>
                      <a:endParaRPr/>
                    </a:p>
                    <a:p>
                      <a:pPr indent="-317500" lvl="0" marL="457200" marR="0" rtl="0" algn="l">
                        <a:lnSpc>
                          <a:spcPct val="100000"/>
                        </a:lnSpc>
                        <a:spcBef>
                          <a:spcPts val="0"/>
                        </a:spcBef>
                        <a:spcAft>
                          <a:spcPts val="0"/>
                        </a:spcAft>
                        <a:buSzPts val="1400"/>
                        <a:buChar char="●"/>
                      </a:pPr>
                      <a:r>
                        <a:rPr lang="en"/>
                        <a:t>Time</a:t>
                      </a:r>
                      <a:endParaRPr/>
                    </a:p>
                    <a:p>
                      <a:pPr indent="-317500" lvl="0" marL="457200" marR="0" rtl="0" algn="l">
                        <a:lnSpc>
                          <a:spcPct val="100000"/>
                        </a:lnSpc>
                        <a:spcBef>
                          <a:spcPts val="0"/>
                        </a:spcBef>
                        <a:spcAft>
                          <a:spcPts val="0"/>
                        </a:spcAft>
                        <a:buSzPts val="1400"/>
                        <a:buChar char="●"/>
                      </a:pPr>
                      <a:r>
                        <a:rPr lang="en"/>
                        <a:t>Spatial footprint of design</a:t>
                      </a:r>
                      <a:endParaRPr/>
                    </a:p>
                    <a:p>
                      <a:pPr indent="-317500" lvl="0" marL="457200" marR="0" rtl="0" algn="l">
                        <a:lnSpc>
                          <a:spcPct val="100000"/>
                        </a:lnSpc>
                        <a:spcBef>
                          <a:spcPts val="0"/>
                        </a:spcBef>
                        <a:spcAft>
                          <a:spcPts val="0"/>
                        </a:spcAft>
                        <a:buSzPts val="1400"/>
                        <a:buChar char="●"/>
                      </a:pPr>
                      <a:r>
                        <a:rPr lang="en"/>
                        <a:t>Payload weight criteria</a:t>
                      </a:r>
                      <a:endParaRPr/>
                    </a:p>
                    <a:p>
                      <a:pPr indent="-317500" lvl="0" marL="457200" marR="0" rtl="0" algn="l">
                        <a:lnSpc>
                          <a:spcPct val="100000"/>
                        </a:lnSpc>
                        <a:spcBef>
                          <a:spcPts val="0"/>
                        </a:spcBef>
                        <a:spcAft>
                          <a:spcPts val="0"/>
                        </a:spcAft>
                        <a:buSzPts val="1400"/>
                        <a:buChar char="●"/>
                      </a:pPr>
                      <a:r>
                        <a:rPr lang="en"/>
                        <a:t>Manufacturing methods allowed</a:t>
                      </a:r>
                      <a:endParaRPr/>
                    </a:p>
                    <a:p>
                      <a:pPr indent="-317500" lvl="0" marL="457200" marR="0" rtl="0" algn="l">
                        <a:lnSpc>
                          <a:spcPct val="100000"/>
                        </a:lnSpc>
                        <a:spcBef>
                          <a:spcPts val="0"/>
                        </a:spcBef>
                        <a:spcAft>
                          <a:spcPts val="0"/>
                        </a:spcAft>
                        <a:buSzPts val="1400"/>
                        <a:buChar char="●"/>
                      </a:pPr>
                      <a:r>
                        <a:rPr lang="en"/>
                        <a:t>Driving mechanism (hand-crank)</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graphicFrame>
        <p:nvGraphicFramePr>
          <p:cNvPr id="125" name="Google Shape;125;p6"/>
          <p:cNvGraphicFramePr/>
          <p:nvPr/>
        </p:nvGraphicFramePr>
        <p:xfrm>
          <a:off x="0" y="709525"/>
          <a:ext cx="3000000" cy="3000000"/>
        </p:xfrm>
        <a:graphic>
          <a:graphicData uri="http://schemas.openxmlformats.org/drawingml/2006/table">
            <a:tbl>
              <a:tblPr>
                <a:noFill/>
                <a:tableStyleId>{E4B4410C-63AF-4BC2-BBDD-6D7E2DD71A61}</a:tableStyleId>
              </a:tblPr>
              <a:tblGrid>
                <a:gridCol w="3048000"/>
                <a:gridCol w="3048000"/>
                <a:gridCol w="3048000"/>
              </a:tblGrid>
              <a:tr h="565000">
                <a:tc>
                  <a:txBody>
                    <a:bodyPr/>
                    <a:lstStyle/>
                    <a:p>
                      <a:pPr indent="-330200" lvl="0" marL="457200" marR="0" rtl="0" algn="l">
                        <a:lnSpc>
                          <a:spcPct val="100000"/>
                        </a:lnSpc>
                        <a:spcBef>
                          <a:spcPts val="0"/>
                        </a:spcBef>
                        <a:spcAft>
                          <a:spcPts val="0"/>
                        </a:spcAft>
                        <a:buClr>
                          <a:srgbClr val="000000"/>
                        </a:buClr>
                        <a:buSzPts val="1600"/>
                        <a:buFont typeface="Arial"/>
                        <a:buChar char="●"/>
                      </a:pPr>
                      <a:r>
                        <a:rPr lang="en" sz="1600"/>
                        <a:t>What </a:t>
                      </a:r>
                      <a:r>
                        <a:rPr lang="en" sz="1600"/>
                        <a:t>dispensing mechanism are we using?</a:t>
                      </a:r>
                      <a:endParaRPr b="1" sz="16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28575">
                      <a:solidFill>
                        <a:schemeClr val="dk2"/>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330200" lvl="0" marL="457200" marR="0" rtl="0" algn="l">
                        <a:lnSpc>
                          <a:spcPct val="100000"/>
                        </a:lnSpc>
                        <a:spcBef>
                          <a:spcPts val="0"/>
                        </a:spcBef>
                        <a:spcAft>
                          <a:spcPts val="0"/>
                        </a:spcAft>
                        <a:buClr>
                          <a:schemeClr val="dk1"/>
                        </a:buClr>
                        <a:buSzPts val="1600"/>
                        <a:buFont typeface="Arial"/>
                        <a:buChar char="●"/>
                      </a:pPr>
                      <a:r>
                        <a:rPr lang="en" sz="1600">
                          <a:solidFill>
                            <a:schemeClr val="dk1"/>
                          </a:solidFill>
                        </a:rPr>
                        <a:t>How is the payload going to be stored in the robot?</a:t>
                      </a:r>
                      <a:endParaRPr sz="1400" u="none" cap="none" strike="noStrike"/>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330200" lvl="0" marL="457200" marR="0" rtl="0" algn="l">
                        <a:lnSpc>
                          <a:spcPct val="100000"/>
                        </a:lnSpc>
                        <a:spcBef>
                          <a:spcPts val="0"/>
                        </a:spcBef>
                        <a:spcAft>
                          <a:spcPts val="0"/>
                        </a:spcAft>
                        <a:buClr>
                          <a:schemeClr val="dk1"/>
                        </a:buClr>
                        <a:buSzPts val="1600"/>
                        <a:buFont typeface="Arial"/>
                        <a:buChar char="●"/>
                      </a:pPr>
                      <a:r>
                        <a:rPr lang="en" sz="1600">
                          <a:solidFill>
                            <a:schemeClr val="dk1"/>
                          </a:solidFill>
                        </a:rPr>
                        <a:t>How do we connect different transmission mechanisms?</a:t>
                      </a:r>
                      <a:endParaRPr sz="1400" u="none" cap="none" strike="noStrike"/>
                    </a:p>
                  </a:txBody>
                  <a:tcPr marT="91425" marB="91425" marR="91425" marL="91425">
                    <a:lnL cap="flat" cmpd="sng" w="28575">
                      <a:solidFill>
                        <a:schemeClr val="dk2"/>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chemeClr val="dk2"/>
                      </a:solidFill>
                      <a:prstDash val="solid"/>
                      <a:round/>
                      <a:headEnd len="sm" w="sm" type="none"/>
                      <a:tailEnd len="sm" w="sm" type="none"/>
                    </a:lnB>
                  </a:tcPr>
                </a:tc>
              </a:tr>
              <a:tr h="806075">
                <a:tc>
                  <a:txBody>
                    <a:bodyPr/>
                    <a:lstStyle/>
                    <a:p>
                      <a:pPr indent="-228600" lvl="0" marL="457200" marR="0" rtl="0" algn="l">
                        <a:lnSpc>
                          <a:spcPct val="100000"/>
                        </a:lnSpc>
                        <a:spcBef>
                          <a:spcPts val="0"/>
                        </a:spcBef>
                        <a:spcAft>
                          <a:spcPts val="0"/>
                        </a:spcAft>
                        <a:buClr>
                          <a:srgbClr val="000000"/>
                        </a:buClr>
                        <a:buSzPts val="1600"/>
                        <a:buFont typeface="Arial"/>
                        <a:buNone/>
                      </a:pPr>
                      <a:r>
                        <a:rPr b="1" lang="en" sz="1600"/>
                        <a:t>3D Printing</a:t>
                      </a:r>
                      <a:endParaRPr b="1" sz="16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2857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228600" lvl="0" marL="457200" marR="0" rtl="0" algn="l">
                        <a:lnSpc>
                          <a:spcPct val="100000"/>
                        </a:lnSpc>
                        <a:spcBef>
                          <a:spcPts val="0"/>
                        </a:spcBef>
                        <a:spcAft>
                          <a:spcPts val="0"/>
                        </a:spcAft>
                        <a:buClr>
                          <a:schemeClr val="dk1"/>
                        </a:buClr>
                        <a:buSzPts val="1100"/>
                        <a:buFont typeface="Arial"/>
                        <a:buNone/>
                      </a:pPr>
                      <a:r>
                        <a:rPr b="1" lang="en" sz="1600">
                          <a:solidFill>
                            <a:schemeClr val="dk1"/>
                          </a:solidFill>
                        </a:rPr>
                        <a:t>Craft/Office Materials</a:t>
                      </a:r>
                      <a:endParaRPr sz="1600" u="none" cap="none" strike="noStrike">
                        <a:solidFill>
                          <a:schemeClr val="dk1"/>
                        </a:solidFill>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228600" lvl="0" marL="457200" marR="0" rtl="0" algn="l">
                        <a:lnSpc>
                          <a:spcPct val="100000"/>
                        </a:lnSpc>
                        <a:spcBef>
                          <a:spcPts val="0"/>
                        </a:spcBef>
                        <a:spcAft>
                          <a:spcPts val="0"/>
                        </a:spcAft>
                        <a:buClr>
                          <a:schemeClr val="dk1"/>
                        </a:buClr>
                        <a:buSzPts val="1100"/>
                        <a:buFont typeface="Arial"/>
                        <a:buNone/>
                      </a:pPr>
                      <a:r>
                        <a:rPr b="1" lang="en" sz="1600">
                          <a:solidFill>
                            <a:schemeClr val="dk1"/>
                          </a:solidFill>
                        </a:rPr>
                        <a:t>Gears and transmission</a:t>
                      </a:r>
                      <a:endParaRPr sz="1600" u="none" cap="none" strike="noStrike">
                        <a:solidFill>
                          <a:schemeClr val="dk1"/>
                        </a:solidFill>
                      </a:endParaRPr>
                    </a:p>
                  </a:txBody>
                  <a:tcPr marT="91425" marB="91425" marR="91425" marL="91425">
                    <a:lnL cap="flat" cmpd="sng" w="28575">
                      <a:solidFill>
                        <a:schemeClr val="dk2"/>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r h="3062900">
                <a:tc>
                  <a:txBody>
                    <a:bodyPr/>
                    <a:lstStyle/>
                    <a:p>
                      <a:pPr indent="-330200" lvl="0" marL="457200" marR="0" rtl="0" algn="l">
                        <a:lnSpc>
                          <a:spcPct val="100000"/>
                        </a:lnSpc>
                        <a:spcBef>
                          <a:spcPts val="0"/>
                        </a:spcBef>
                        <a:spcAft>
                          <a:spcPts val="0"/>
                        </a:spcAft>
                        <a:buClr>
                          <a:srgbClr val="000000"/>
                        </a:buClr>
                        <a:buSzPts val="1600"/>
                        <a:buFont typeface="Arial"/>
                        <a:buChar char="●"/>
                      </a:pPr>
                      <a:r>
                        <a:rPr lang="en" sz="1600"/>
                        <a:t>Components we will need to buy/design</a:t>
                      </a:r>
                      <a:endParaRPr sz="1600"/>
                    </a:p>
                    <a:p>
                      <a:pPr indent="-330200" lvl="0" marL="457200" marR="0" rtl="0" algn="l">
                        <a:lnSpc>
                          <a:spcPct val="100000"/>
                        </a:lnSpc>
                        <a:spcBef>
                          <a:spcPts val="0"/>
                        </a:spcBef>
                        <a:spcAft>
                          <a:spcPts val="0"/>
                        </a:spcAft>
                        <a:buSzPts val="1600"/>
                        <a:buChar char="●"/>
                      </a:pPr>
                      <a:r>
                        <a:rPr lang="en" sz="1600"/>
                        <a:t>What mechanism we will use (gears,linkages,etc.)</a:t>
                      </a:r>
                      <a:endParaRPr sz="1600"/>
                    </a:p>
                    <a:p>
                      <a:pPr indent="-330200" lvl="0" marL="457200" marR="0" rtl="0" algn="l">
                        <a:lnSpc>
                          <a:spcPct val="100000"/>
                        </a:lnSpc>
                        <a:spcBef>
                          <a:spcPts val="0"/>
                        </a:spcBef>
                        <a:spcAft>
                          <a:spcPts val="0"/>
                        </a:spcAft>
                        <a:buSzPts val="1600"/>
                        <a:buChar char="●"/>
                      </a:pPr>
                      <a:r>
                        <a:rPr lang="en" sz="1600"/>
                        <a:t>What movements we want to have </a:t>
                      </a:r>
                      <a:endParaRPr sz="1600" u="none" cap="none" strike="noStrike"/>
                    </a:p>
                    <a:p>
                      <a:pPr indent="-330200" lvl="0" marL="457200" marR="0" rtl="0" algn="l">
                        <a:lnSpc>
                          <a:spcPct val="100000"/>
                        </a:lnSpc>
                        <a:spcBef>
                          <a:spcPts val="0"/>
                        </a:spcBef>
                        <a:spcAft>
                          <a:spcPts val="0"/>
                        </a:spcAft>
                        <a:buSzPts val="1600"/>
                        <a:buChar char="●"/>
                      </a:pPr>
                      <a:r>
                        <a:rPr lang="en" sz="1600"/>
                        <a:t>It will allow us to make a pretty detailed </a:t>
                      </a:r>
                      <a:r>
                        <a:rPr lang="en" sz="1600"/>
                        <a:t>prototype but also change it up pretty easily</a:t>
                      </a:r>
                      <a:endParaRPr sz="1600"/>
                    </a:p>
                  </a:txBody>
                  <a:tcPr marT="91425" marB="91425" marR="91425" marL="91425">
                    <a:lnL cap="flat" cmpd="sng" w="9525">
                      <a:solidFill>
                        <a:srgbClr val="9E9E9E">
                          <a:alpha val="0"/>
                        </a:srgbClr>
                      </a:solidFill>
                      <a:prstDash val="solid"/>
                      <a:round/>
                      <a:headEnd len="sm" w="sm" type="none"/>
                      <a:tailEnd len="sm" w="sm" type="none"/>
                    </a:lnL>
                    <a:lnR cap="flat" cmpd="sng" w="2857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330200" lvl="0" marL="457200" marR="0" rtl="0" algn="l">
                        <a:lnSpc>
                          <a:spcPct val="100000"/>
                        </a:lnSpc>
                        <a:spcBef>
                          <a:spcPts val="0"/>
                        </a:spcBef>
                        <a:spcAft>
                          <a:spcPts val="0"/>
                        </a:spcAft>
                        <a:buClr>
                          <a:schemeClr val="dk1"/>
                        </a:buClr>
                        <a:buSzPts val="1600"/>
                        <a:buFont typeface="Arial"/>
                        <a:buChar char="●"/>
                      </a:pPr>
                      <a:r>
                        <a:rPr lang="en" sz="1600">
                          <a:solidFill>
                            <a:schemeClr val="dk1"/>
                          </a:solidFill>
                        </a:rPr>
                        <a:t>Appearance</a:t>
                      </a:r>
                      <a:r>
                        <a:rPr lang="en" sz="1600" u="none" cap="none" strike="noStrike">
                          <a:solidFill>
                            <a:schemeClr val="dk1"/>
                          </a:solidFill>
                        </a:rPr>
                        <a:t> </a:t>
                      </a:r>
                      <a:endParaRPr sz="1600" u="none" cap="none" strike="noStrike">
                        <a:solidFill>
                          <a:schemeClr val="dk1"/>
                        </a:solidFill>
                      </a:endParaRPr>
                    </a:p>
                    <a:p>
                      <a:pPr indent="-330200" lvl="0" marL="457200" marR="0" rtl="0" algn="l">
                        <a:lnSpc>
                          <a:spcPct val="100000"/>
                        </a:lnSpc>
                        <a:spcBef>
                          <a:spcPts val="0"/>
                        </a:spcBef>
                        <a:spcAft>
                          <a:spcPts val="0"/>
                        </a:spcAft>
                        <a:buClr>
                          <a:schemeClr val="dk1"/>
                        </a:buClr>
                        <a:buSzPts val="1600"/>
                        <a:buFont typeface="Arial"/>
                        <a:buChar char="●"/>
                      </a:pPr>
                      <a:r>
                        <a:rPr lang="en" sz="1600">
                          <a:solidFill>
                            <a:schemeClr val="dk1"/>
                          </a:solidFill>
                        </a:rPr>
                        <a:t>Relative scale of robot</a:t>
                      </a:r>
                      <a:endParaRPr sz="1600" u="none" cap="none" strike="noStrike">
                        <a:solidFill>
                          <a:schemeClr val="dk1"/>
                        </a:solidFill>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330200" lvl="0" marL="457200" marR="0" rtl="0" algn="l">
                        <a:lnSpc>
                          <a:spcPct val="100000"/>
                        </a:lnSpc>
                        <a:spcBef>
                          <a:spcPts val="0"/>
                        </a:spcBef>
                        <a:spcAft>
                          <a:spcPts val="0"/>
                        </a:spcAft>
                        <a:buClr>
                          <a:schemeClr val="dk1"/>
                        </a:buClr>
                        <a:buSzPts val="1600"/>
                        <a:buFont typeface="Arial"/>
                        <a:buChar char="●"/>
                      </a:pPr>
                      <a:r>
                        <a:rPr lang="en" sz="1600">
                          <a:solidFill>
                            <a:schemeClr val="dk1"/>
                          </a:solidFill>
                        </a:rPr>
                        <a:t>Speed ​​ratio of different turntables</a:t>
                      </a:r>
                      <a:endParaRPr sz="1600">
                        <a:solidFill>
                          <a:schemeClr val="dk1"/>
                        </a:solidFill>
                      </a:endParaRPr>
                    </a:p>
                    <a:p>
                      <a:pPr indent="-330200" lvl="0" marL="457200" marR="0" rtl="0" algn="l">
                        <a:lnSpc>
                          <a:spcPct val="100000"/>
                        </a:lnSpc>
                        <a:spcBef>
                          <a:spcPts val="0"/>
                        </a:spcBef>
                        <a:spcAft>
                          <a:spcPts val="0"/>
                        </a:spcAft>
                        <a:buClr>
                          <a:schemeClr val="dk1"/>
                        </a:buClr>
                        <a:buSzPts val="1600"/>
                        <a:buChar char="●"/>
                      </a:pPr>
                      <a:r>
                        <a:rPr lang="en" sz="1600">
                          <a:solidFill>
                            <a:schemeClr val="dk1"/>
                          </a:solidFill>
                        </a:rPr>
                        <a:t>Restraint device</a:t>
                      </a:r>
                      <a:endParaRPr sz="1600">
                        <a:solidFill>
                          <a:schemeClr val="dk1"/>
                        </a:solidFill>
                      </a:endParaRPr>
                    </a:p>
                    <a:p>
                      <a:pPr indent="-330200" lvl="0" marL="457200" marR="0" rtl="0" algn="l">
                        <a:lnSpc>
                          <a:spcPct val="100000"/>
                        </a:lnSpc>
                        <a:spcBef>
                          <a:spcPts val="0"/>
                        </a:spcBef>
                        <a:spcAft>
                          <a:spcPts val="0"/>
                        </a:spcAft>
                        <a:buClr>
                          <a:schemeClr val="dk1"/>
                        </a:buClr>
                        <a:buSzPts val="1600"/>
                        <a:buChar char="●"/>
                      </a:pPr>
                      <a:r>
                        <a:rPr lang="en" sz="1600">
                          <a:solidFill>
                            <a:schemeClr val="dk1"/>
                          </a:solidFill>
                        </a:rPr>
                        <a:t>We can use this prototype to demonstrate our most basic transmission process, how to combine two devices together.</a:t>
                      </a:r>
                      <a:endParaRPr sz="1600">
                        <a:solidFill>
                          <a:schemeClr val="dk1"/>
                        </a:solidFill>
                      </a:endParaRPr>
                    </a:p>
                  </a:txBody>
                  <a:tcPr marT="91425" marB="91425" marR="91425" marL="91425">
                    <a:lnL cap="flat" cmpd="sng" w="28575">
                      <a:solidFill>
                        <a:schemeClr val="dk2"/>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126" name="Google Shape;126;p6"/>
          <p:cNvSpPr txBox="1"/>
          <p:nvPr/>
        </p:nvSpPr>
        <p:spPr>
          <a:xfrm>
            <a:off x="0" y="0"/>
            <a:ext cx="9144000" cy="470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chemeClr val="dk2"/>
                </a:solidFill>
                <a:latin typeface="Arial"/>
                <a:ea typeface="Arial"/>
                <a:cs typeface="Arial"/>
                <a:sym typeface="Arial"/>
              </a:rPr>
              <a:t>Identify </a:t>
            </a:r>
            <a:r>
              <a:rPr b="1" i="0" lang="en" sz="1700" u="sng" cap="none" strike="noStrike">
                <a:solidFill>
                  <a:schemeClr val="dk2"/>
                </a:solidFill>
                <a:latin typeface="Arial"/>
                <a:ea typeface="Arial"/>
                <a:cs typeface="Arial"/>
                <a:sym typeface="Arial"/>
              </a:rPr>
              <a:t>at least 3</a:t>
            </a:r>
            <a:r>
              <a:rPr b="1" i="0" lang="en" sz="1700" u="none" cap="none" strike="noStrike">
                <a:solidFill>
                  <a:schemeClr val="dk2"/>
                </a:solidFill>
                <a:latin typeface="Arial"/>
                <a:ea typeface="Arial"/>
                <a:cs typeface="Arial"/>
                <a:sym typeface="Arial"/>
              </a:rPr>
              <a:t> questions about the design for your selected destination that your team would like to answer using prototypes</a:t>
            </a:r>
            <a:endParaRPr b="1" i="0" sz="17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chemeClr val="dk2"/>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7"/>
          <p:cNvSpPr txBox="1"/>
          <p:nvPr/>
        </p:nvSpPr>
        <p:spPr>
          <a:xfrm>
            <a:off x="-17650" y="3200"/>
            <a:ext cx="9144000" cy="506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As a team select </a:t>
            </a:r>
            <a:r>
              <a:rPr b="1" i="0" lang="en" sz="1800" u="none" cap="none" strike="noStrike">
                <a:solidFill>
                  <a:schemeClr val="dk2"/>
                </a:solidFill>
                <a:latin typeface="Arial"/>
                <a:ea typeface="Arial"/>
                <a:cs typeface="Arial"/>
                <a:sym typeface="Arial"/>
              </a:rPr>
              <a:t>two</a:t>
            </a:r>
            <a:r>
              <a:rPr b="0" i="0" lang="en" sz="1800" u="none" cap="none" strike="noStrike">
                <a:solidFill>
                  <a:schemeClr val="dk2"/>
                </a:solidFill>
                <a:latin typeface="Arial"/>
                <a:ea typeface="Arial"/>
                <a:cs typeface="Arial"/>
                <a:sym typeface="Arial"/>
              </a:rPr>
              <a:t> of your prototype ideas and </a:t>
            </a:r>
            <a:r>
              <a:rPr b="1" i="0" lang="en" sz="1800" u="none" cap="none" strike="noStrike">
                <a:solidFill>
                  <a:schemeClr val="dk2"/>
                </a:solidFill>
                <a:latin typeface="Arial"/>
                <a:ea typeface="Arial"/>
                <a:cs typeface="Arial"/>
                <a:sym typeface="Arial"/>
              </a:rPr>
              <a:t>sketch them</a:t>
            </a:r>
            <a:r>
              <a:rPr b="0" i="0" lang="en" sz="1800" u="none" cap="none" strike="noStrike">
                <a:solidFill>
                  <a:schemeClr val="dk2"/>
                </a:solidFill>
                <a:latin typeface="Arial"/>
                <a:ea typeface="Arial"/>
                <a:cs typeface="Arial"/>
                <a:sym typeface="Arial"/>
              </a:rPr>
              <a:t> </a:t>
            </a:r>
            <a:endParaRPr b="0" i="0" sz="1800" u="none" cap="none" strike="noStrike">
              <a:solidFill>
                <a:schemeClr val="dk2"/>
              </a:solidFill>
              <a:latin typeface="Arial"/>
              <a:ea typeface="Arial"/>
              <a:cs typeface="Arial"/>
              <a:sym typeface="Arial"/>
            </a:endParaRPr>
          </a:p>
        </p:txBody>
      </p:sp>
      <p:cxnSp>
        <p:nvCxnSpPr>
          <p:cNvPr id="132" name="Google Shape;132;p7"/>
          <p:cNvCxnSpPr>
            <a:stCxn id="131" idx="2"/>
          </p:cNvCxnSpPr>
          <p:nvPr/>
        </p:nvCxnSpPr>
        <p:spPr>
          <a:xfrm flipH="1">
            <a:off x="4550450" y="509300"/>
            <a:ext cx="3900" cy="3829500"/>
          </a:xfrm>
          <a:prstGeom prst="straightConnector1">
            <a:avLst/>
          </a:prstGeom>
          <a:noFill/>
          <a:ln cap="flat" cmpd="sng" w="28575">
            <a:solidFill>
              <a:schemeClr val="dk2"/>
            </a:solidFill>
            <a:prstDash val="solid"/>
            <a:round/>
            <a:headEnd len="sm" w="sm" type="none"/>
            <a:tailEnd len="sm" w="sm" type="none"/>
          </a:ln>
        </p:spPr>
      </p:cxnSp>
      <p:graphicFrame>
        <p:nvGraphicFramePr>
          <p:cNvPr id="133" name="Google Shape;133;p7"/>
          <p:cNvGraphicFramePr/>
          <p:nvPr/>
        </p:nvGraphicFramePr>
        <p:xfrm>
          <a:off x="0" y="4191925"/>
          <a:ext cx="3000000" cy="3000000"/>
        </p:xfrm>
        <a:graphic>
          <a:graphicData uri="http://schemas.openxmlformats.org/drawingml/2006/table">
            <a:tbl>
              <a:tblPr>
                <a:noFill/>
                <a:tableStyleId>{E4B4410C-63AF-4BC2-BBDD-6D7E2DD71A61}</a:tableStyleId>
              </a:tblPr>
              <a:tblGrid>
                <a:gridCol w="4572000"/>
                <a:gridCol w="4572000"/>
              </a:tblGrid>
              <a:tr h="668950">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t>Question it answers:</a:t>
                      </a:r>
                      <a:r>
                        <a:rPr lang="en" sz="1400" u="none" cap="none" strike="noStrike"/>
                        <a:t> </a:t>
                      </a:r>
                      <a:r>
                        <a:rPr lang="en" sz="1600">
                          <a:solidFill>
                            <a:schemeClr val="dk1"/>
                          </a:solidFill>
                        </a:rPr>
                        <a:t>What dispensing mechanism are we using?</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b="1"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b="1" sz="1400" u="none" cap="none" strike="noStrike"/>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t>Question it answers: </a:t>
                      </a:r>
                      <a:r>
                        <a:rPr lang="en" sz="1600">
                          <a:solidFill>
                            <a:schemeClr val="dk1"/>
                          </a:solidFill>
                        </a:rPr>
                        <a:t>How do we connect different transmission mechanisms?</a:t>
                      </a:r>
                      <a:endParaRPr b="1" sz="1400" u="none" cap="none" strike="noStrike"/>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bl>
          </a:graphicData>
        </a:graphic>
      </p:graphicFrame>
      <p:pic>
        <p:nvPicPr>
          <p:cNvPr id="134" name="Google Shape;134;p7"/>
          <p:cNvPicPr preferRelativeResize="0"/>
          <p:nvPr/>
        </p:nvPicPr>
        <p:blipFill>
          <a:blip r:embed="rId3">
            <a:alphaModFix/>
          </a:blip>
          <a:stretch>
            <a:fillRect/>
          </a:stretch>
        </p:blipFill>
        <p:spPr>
          <a:xfrm>
            <a:off x="152400" y="661700"/>
            <a:ext cx="2947975" cy="2345400"/>
          </a:xfrm>
          <a:prstGeom prst="rect">
            <a:avLst/>
          </a:prstGeom>
          <a:noFill/>
          <a:ln>
            <a:noFill/>
          </a:ln>
        </p:spPr>
      </p:pic>
      <p:pic>
        <p:nvPicPr>
          <p:cNvPr id="135" name="Google Shape;135;p7"/>
          <p:cNvPicPr preferRelativeResize="0"/>
          <p:nvPr/>
        </p:nvPicPr>
        <p:blipFill>
          <a:blip r:embed="rId4">
            <a:alphaModFix/>
          </a:blip>
          <a:stretch>
            <a:fillRect/>
          </a:stretch>
        </p:blipFill>
        <p:spPr>
          <a:xfrm>
            <a:off x="4550450" y="916200"/>
            <a:ext cx="4419600" cy="2868815"/>
          </a:xfrm>
          <a:prstGeom prst="rect">
            <a:avLst/>
          </a:prstGeom>
          <a:noFill/>
          <a:ln>
            <a:noFill/>
          </a:ln>
        </p:spPr>
      </p:pic>
      <p:pic>
        <p:nvPicPr>
          <p:cNvPr id="136" name="Google Shape;136;p7" title="Image (4).jpg"/>
          <p:cNvPicPr preferRelativeResize="0"/>
          <p:nvPr/>
        </p:nvPicPr>
        <p:blipFill>
          <a:blip r:embed="rId5">
            <a:alphaModFix/>
          </a:blip>
          <a:stretch>
            <a:fillRect/>
          </a:stretch>
        </p:blipFill>
        <p:spPr>
          <a:xfrm>
            <a:off x="1869400" y="1903750"/>
            <a:ext cx="2524274" cy="20415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8"/>
          <p:cNvSpPr txBox="1"/>
          <p:nvPr/>
        </p:nvSpPr>
        <p:spPr>
          <a:xfrm>
            <a:off x="-17650" y="3200"/>
            <a:ext cx="9144000" cy="506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Based on the previous sketches answer the following questions </a:t>
            </a:r>
            <a:endParaRPr b="0" i="0" sz="1800" u="none" cap="none" strike="noStrike">
              <a:solidFill>
                <a:schemeClr val="dk2"/>
              </a:solidFill>
              <a:latin typeface="Arial"/>
              <a:ea typeface="Arial"/>
              <a:cs typeface="Arial"/>
              <a:sym typeface="Arial"/>
            </a:endParaRPr>
          </a:p>
        </p:txBody>
      </p:sp>
      <p:graphicFrame>
        <p:nvGraphicFramePr>
          <p:cNvPr id="142" name="Google Shape;142;p8"/>
          <p:cNvGraphicFramePr/>
          <p:nvPr/>
        </p:nvGraphicFramePr>
        <p:xfrm>
          <a:off x="-17650" y="704950"/>
          <a:ext cx="3000000" cy="3000000"/>
        </p:xfrm>
        <a:graphic>
          <a:graphicData uri="http://schemas.openxmlformats.org/drawingml/2006/table">
            <a:tbl>
              <a:tblPr>
                <a:noFill/>
                <a:tableStyleId>{E4B4410C-63AF-4BC2-BBDD-6D7E2DD71A61}</a:tableStyleId>
              </a:tblPr>
              <a:tblGrid>
                <a:gridCol w="4572000"/>
                <a:gridCol w="4572000"/>
              </a:tblGrid>
              <a:tr h="4438550">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t>Question it answers:</a:t>
                      </a:r>
                      <a:r>
                        <a:rPr lang="en" sz="1400" u="none" cap="none" strike="noStrike"/>
                        <a:t> </a:t>
                      </a:r>
                      <a:r>
                        <a:rPr lang="en" sz="1600">
                          <a:solidFill>
                            <a:schemeClr val="dk1"/>
                          </a:solidFill>
                        </a:rPr>
                        <a:t>What dispensing mechanism are we using?</a:t>
                      </a:r>
                      <a:endParaRPr b="1" sz="1400" u="none" cap="none" strike="noStrike"/>
                    </a:p>
                    <a:p>
                      <a:pPr indent="-317500" lvl="0" marL="457200" marR="0" rtl="0" algn="l">
                        <a:lnSpc>
                          <a:spcPct val="100000"/>
                        </a:lnSpc>
                        <a:spcBef>
                          <a:spcPts val="0"/>
                        </a:spcBef>
                        <a:spcAft>
                          <a:spcPts val="0"/>
                        </a:spcAft>
                        <a:buClr>
                          <a:srgbClr val="000000"/>
                        </a:buClr>
                        <a:buSzPts val="1400"/>
                        <a:buFont typeface="Arial"/>
                        <a:buAutoNum type="arabicPeriod"/>
                      </a:pPr>
                      <a:r>
                        <a:rPr lang="en" sz="1400" u="none" cap="none" strike="noStrike"/>
                        <a:t>Is there any other useful information you can get from this prototype?</a:t>
                      </a:r>
                      <a:endParaRPr sz="1400" u="none" cap="none" strike="noStrike"/>
                    </a:p>
                    <a:p>
                      <a:pPr indent="-317500" lvl="0" marL="457200" marR="0" rtl="0" algn="l">
                        <a:lnSpc>
                          <a:spcPct val="100000"/>
                        </a:lnSpc>
                        <a:spcBef>
                          <a:spcPts val="0"/>
                        </a:spcBef>
                        <a:spcAft>
                          <a:spcPts val="0"/>
                        </a:spcAft>
                        <a:buClr>
                          <a:srgbClr val="000000"/>
                        </a:buClr>
                        <a:buSzPts val="1400"/>
                        <a:buFont typeface="Arial"/>
                        <a:buAutoNum type="arabicPeriod"/>
                      </a:pPr>
                      <a:r>
                        <a:rPr lang="en" sz="1400" u="none" cap="none" strike="noStrike"/>
                        <a:t>What other prototype(s) would you like to create to fill gaps in your knowledge? </a:t>
                      </a:r>
                      <a:endParaRPr sz="1400" u="none" cap="none" strike="noStrike"/>
                    </a:p>
                    <a:p>
                      <a:pPr indent="-317500" lvl="0" marL="457200" marR="0" rtl="0" algn="l">
                        <a:lnSpc>
                          <a:spcPct val="100000"/>
                        </a:lnSpc>
                        <a:spcBef>
                          <a:spcPts val="0"/>
                        </a:spcBef>
                        <a:spcAft>
                          <a:spcPts val="0"/>
                        </a:spcAft>
                        <a:buClr>
                          <a:srgbClr val="000000"/>
                        </a:buClr>
                        <a:buSzPts val="1400"/>
                        <a:buFont typeface="Arial"/>
                        <a:buAutoNum type="arabicPeriod"/>
                      </a:pPr>
                      <a:r>
                        <a:rPr lang="en" sz="1400" u="none" cap="none" strike="noStrike"/>
                        <a:t>Would you change which method you picked? Why or why not?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rtl="0" algn="l">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rgbClr val="000000"/>
                        </a:buClr>
                        <a:buSzPts val="1400"/>
                        <a:buFont typeface="Arial"/>
                        <a:buNone/>
                      </a:pPr>
                      <a:r>
                        <a:rPr lang="en"/>
                        <a:t>This prototype rotates to push objects from each area into the hole, allowing them to fall. We might design a multi-layered turntable to store more objects, addressing the limited number of objects we can store. We won't change our approach, as the turntable is easier to integrate with gears and facilitates the movement of the cargo cart in Project 2.</a:t>
                      </a:r>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1" lang="en" sz="1400" u="none" cap="none" strike="noStrike">
                          <a:solidFill>
                            <a:schemeClr val="dk1"/>
                          </a:solidFill>
                        </a:rPr>
                        <a:t>Question it answers:</a:t>
                      </a:r>
                      <a:r>
                        <a:rPr lang="en" sz="1600">
                          <a:solidFill>
                            <a:schemeClr val="dk1"/>
                          </a:solidFill>
                        </a:rPr>
                        <a:t>How do we connect different transmission mechanisms?</a:t>
                      </a:r>
                      <a:endParaRPr b="1" sz="1400" u="none" cap="none" strike="noStrike">
                        <a:solidFill>
                          <a:schemeClr val="dk1"/>
                        </a:solidFill>
                      </a:endParaRPr>
                    </a:p>
                    <a:p>
                      <a:pPr indent="-317500" lvl="0" marL="457200" marR="0" rtl="0" algn="l">
                        <a:lnSpc>
                          <a:spcPct val="100000"/>
                        </a:lnSpc>
                        <a:spcBef>
                          <a:spcPts val="0"/>
                        </a:spcBef>
                        <a:spcAft>
                          <a:spcPts val="0"/>
                        </a:spcAft>
                        <a:buClr>
                          <a:schemeClr val="dk1"/>
                        </a:buClr>
                        <a:buSzPts val="1400"/>
                        <a:buFont typeface="Arial"/>
                        <a:buAutoNum type="arabicPeriod"/>
                      </a:pPr>
                      <a:r>
                        <a:rPr lang="en" sz="1400" u="none" cap="none" strike="noStrike">
                          <a:solidFill>
                            <a:schemeClr val="dk1"/>
                          </a:solidFill>
                        </a:rPr>
                        <a:t>Is there any other useful information you can get from this prototype?</a:t>
                      </a:r>
                      <a:endParaRPr sz="1400" u="none" cap="none" strike="noStrike">
                        <a:solidFill>
                          <a:schemeClr val="dk1"/>
                        </a:solidFill>
                      </a:endParaRPr>
                    </a:p>
                    <a:p>
                      <a:pPr indent="-317500" lvl="0" marL="457200" marR="0" rtl="0" algn="l">
                        <a:lnSpc>
                          <a:spcPct val="100000"/>
                        </a:lnSpc>
                        <a:spcBef>
                          <a:spcPts val="0"/>
                        </a:spcBef>
                        <a:spcAft>
                          <a:spcPts val="0"/>
                        </a:spcAft>
                        <a:buClr>
                          <a:schemeClr val="dk1"/>
                        </a:buClr>
                        <a:buSzPts val="1400"/>
                        <a:buFont typeface="Arial"/>
                        <a:buAutoNum type="arabicPeriod"/>
                      </a:pPr>
                      <a:r>
                        <a:rPr lang="en" sz="1400" u="none" cap="none" strike="noStrike">
                          <a:solidFill>
                            <a:schemeClr val="dk1"/>
                          </a:solidFill>
                        </a:rPr>
                        <a:t>What other prototype(s) would you like to create to fill gaps in your knowledge? </a:t>
                      </a:r>
                      <a:endParaRPr sz="1400" u="none" cap="none" strike="noStrike">
                        <a:solidFill>
                          <a:schemeClr val="dk1"/>
                        </a:solidFill>
                      </a:endParaRPr>
                    </a:p>
                    <a:p>
                      <a:pPr indent="-317500" lvl="0" marL="457200" marR="0" rtl="0" algn="l">
                        <a:lnSpc>
                          <a:spcPct val="100000"/>
                        </a:lnSpc>
                        <a:spcBef>
                          <a:spcPts val="0"/>
                        </a:spcBef>
                        <a:spcAft>
                          <a:spcPts val="0"/>
                        </a:spcAft>
                        <a:buClr>
                          <a:schemeClr val="dk1"/>
                        </a:buClr>
                        <a:buSzPts val="1400"/>
                        <a:buFont typeface="Arial"/>
                        <a:buAutoNum type="arabicPeriod"/>
                      </a:pPr>
                      <a:r>
                        <a:rPr lang="en" sz="1400" u="none" cap="none" strike="noStrike">
                          <a:solidFill>
                            <a:schemeClr val="dk1"/>
                          </a:solidFill>
                        </a:rPr>
                        <a:t>Would you change which method you picked? Why or why not? </a:t>
                      </a:r>
                      <a:endParaRPr sz="1400" u="none" cap="none" strike="noStrike">
                        <a:solidFill>
                          <a:schemeClr val="dk1"/>
                        </a:solidFill>
                      </a:endParaRPr>
                    </a:p>
                    <a:p>
                      <a:pPr indent="0" lvl="0" marL="0" marR="0" rtl="0" algn="l">
                        <a:lnSpc>
                          <a:spcPct val="100000"/>
                        </a:lnSpc>
                        <a:spcBef>
                          <a:spcPts val="0"/>
                        </a:spcBef>
                        <a:spcAft>
                          <a:spcPts val="0"/>
                        </a:spcAft>
                        <a:buClr>
                          <a:srgbClr val="000000"/>
                        </a:buClr>
                        <a:buSzPts val="1400"/>
                        <a:buFont typeface="Arial"/>
                        <a:buNone/>
                      </a:pPr>
                      <a:r>
                        <a:t/>
                      </a:r>
                      <a:endParaRPr>
                        <a:solidFill>
                          <a:schemeClr val="dk1"/>
                        </a:solidFill>
                      </a:endParaRPr>
                    </a:p>
                    <a:p>
                      <a:pPr indent="0" lvl="0" marL="0" marR="0" rtl="0" algn="l">
                        <a:lnSpc>
                          <a:spcPct val="100000"/>
                        </a:lnSpc>
                        <a:spcBef>
                          <a:spcPts val="0"/>
                        </a:spcBef>
                        <a:spcAft>
                          <a:spcPts val="0"/>
                        </a:spcAft>
                        <a:buClr>
                          <a:srgbClr val="000000"/>
                        </a:buClr>
                        <a:buSzPts val="1400"/>
                        <a:buFont typeface="Arial"/>
                        <a:buNone/>
                      </a:pPr>
                      <a:r>
                        <a:t/>
                      </a:r>
                      <a:endParaRPr>
                        <a:solidFill>
                          <a:schemeClr val="dk1"/>
                        </a:solidFill>
                      </a:endParaRPr>
                    </a:p>
                    <a:p>
                      <a:pPr indent="0" lvl="0" marL="0" marR="0" rtl="0" algn="l">
                        <a:lnSpc>
                          <a:spcPct val="100000"/>
                        </a:lnSpc>
                        <a:spcBef>
                          <a:spcPts val="0"/>
                        </a:spcBef>
                        <a:spcAft>
                          <a:spcPts val="0"/>
                        </a:spcAft>
                        <a:buClr>
                          <a:srgbClr val="000000"/>
                        </a:buClr>
                        <a:buSzPts val="1400"/>
                        <a:buFont typeface="Arial"/>
                        <a:buNone/>
                      </a:pPr>
                      <a:r>
                        <a:rPr lang="en">
                          <a:solidFill>
                            <a:schemeClr val="dk1"/>
                          </a:solidFill>
                        </a:rPr>
                        <a:t>Our prototype's transmission is achieved through rotation. The regular rotation of the turntable realizes the regular sliding of the card slot. We will create a gear-link prototype to complete the concept. We will not change our connection method, using gears with different numbers of teeth and multiple gears.</a:t>
                      </a:r>
                      <a:endParaRPr sz="1400" u="none" cap="none" strike="noStrike">
                        <a:solidFill>
                          <a:schemeClr val="dk1"/>
                        </a:solidFill>
                      </a:endParaRPr>
                    </a:p>
                    <a:p>
                      <a:pPr indent="0" lvl="0" marL="0" marR="0" rtl="0" algn="l">
                        <a:lnSpc>
                          <a:spcPct val="100000"/>
                        </a:lnSpc>
                        <a:spcBef>
                          <a:spcPts val="0"/>
                        </a:spcBef>
                        <a:spcAft>
                          <a:spcPts val="0"/>
                        </a:spcAft>
                        <a:buClr>
                          <a:srgbClr val="000000"/>
                        </a:buClr>
                        <a:buSzPts val="1400"/>
                        <a:buFont typeface="Arial"/>
                        <a:buNone/>
                      </a:pPr>
                      <a:r>
                        <a:t/>
                      </a:r>
                      <a:endParaRPr b="1" sz="1400" u="none" cap="none" strike="noStrike">
                        <a:solidFill>
                          <a:schemeClr val="dk1"/>
                        </a:solidFill>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9"/>
          <p:cNvSpPr txBox="1"/>
          <p:nvPr/>
        </p:nvSpPr>
        <p:spPr>
          <a:xfrm>
            <a:off x="-17675" y="3800"/>
            <a:ext cx="9144000" cy="1321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As a team build </a:t>
            </a:r>
            <a:r>
              <a:rPr b="1" i="0" lang="en" sz="1800" u="none" cap="none" strike="noStrike">
                <a:solidFill>
                  <a:schemeClr val="dk2"/>
                </a:solidFill>
                <a:latin typeface="Arial"/>
                <a:ea typeface="Arial"/>
                <a:cs typeface="Arial"/>
                <a:sym typeface="Arial"/>
              </a:rPr>
              <a:t>two prototypes</a:t>
            </a:r>
            <a:r>
              <a:rPr b="0" i="0" lang="en" sz="1800" u="none" cap="none" strike="noStrike">
                <a:solidFill>
                  <a:schemeClr val="dk2"/>
                </a:solidFill>
                <a:latin typeface="Arial"/>
                <a:ea typeface="Arial"/>
                <a:cs typeface="Arial"/>
                <a:sym typeface="Arial"/>
              </a:rPr>
              <a:t>. Remember the </a:t>
            </a:r>
            <a:r>
              <a:rPr b="1" i="0" lang="en" sz="1800" u="none" cap="none" strike="noStrike">
                <a:solidFill>
                  <a:schemeClr val="dk2"/>
                </a:solidFill>
                <a:latin typeface="Arial"/>
                <a:ea typeface="Arial"/>
                <a:cs typeface="Arial"/>
                <a:sym typeface="Arial"/>
              </a:rPr>
              <a:t>question </a:t>
            </a:r>
            <a:r>
              <a:rPr b="0" i="0" lang="en" sz="1800" u="none" cap="none" strike="noStrike">
                <a:solidFill>
                  <a:schemeClr val="dk2"/>
                </a:solidFill>
                <a:latin typeface="Arial"/>
                <a:ea typeface="Arial"/>
                <a:cs typeface="Arial"/>
                <a:sym typeface="Arial"/>
              </a:rPr>
              <a:t>you’re aiming to answer with this prototype; it could be as simple as trying to figure out what form or shape the design concept should take, or it can be as specific as honing in on a specific element of the design and simulating the experience or function of it. </a:t>
            </a:r>
            <a:endParaRPr b="0" i="0" sz="1800" u="none" cap="none" strike="noStrike">
              <a:solidFill>
                <a:schemeClr val="dk2"/>
              </a:solidFill>
              <a:latin typeface="Arial"/>
              <a:ea typeface="Arial"/>
              <a:cs typeface="Arial"/>
              <a:sym typeface="Arial"/>
            </a:endParaRPr>
          </a:p>
        </p:txBody>
      </p:sp>
      <p:sp>
        <p:nvSpPr>
          <p:cNvPr id="148" name="Google Shape;148;p9"/>
          <p:cNvSpPr txBox="1"/>
          <p:nvPr/>
        </p:nvSpPr>
        <p:spPr>
          <a:xfrm>
            <a:off x="-17675" y="5143500"/>
            <a:ext cx="9144000" cy="677100"/>
          </a:xfrm>
          <a:prstGeom prst="rect">
            <a:avLst/>
          </a:prstGeom>
          <a:solidFill>
            <a:schemeClr val="accent6"/>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dk2"/>
                </a:solidFill>
                <a:latin typeface="Arial"/>
                <a:ea typeface="Arial"/>
                <a:cs typeface="Arial"/>
                <a:sym typeface="Arial"/>
              </a:rPr>
              <a:t>Note: The course instructors expect you will continue to work on your prototypes for D4, and will have a complete or function prototype to present. </a:t>
            </a:r>
            <a:endParaRPr b="0" i="0" sz="1400" u="none" cap="none" strike="noStrike">
              <a:solidFill>
                <a:srgbClr val="000000"/>
              </a:solidFill>
              <a:latin typeface="Arial"/>
              <a:ea typeface="Arial"/>
              <a:cs typeface="Arial"/>
              <a:sym typeface="Arial"/>
            </a:endParaRPr>
          </a:p>
        </p:txBody>
      </p:sp>
      <p:sp>
        <p:nvSpPr>
          <p:cNvPr id="149" name="Google Shape;149;p9"/>
          <p:cNvSpPr txBox="1"/>
          <p:nvPr/>
        </p:nvSpPr>
        <p:spPr>
          <a:xfrm>
            <a:off x="4980575" y="1325600"/>
            <a:ext cx="3335400" cy="3296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en" sz="1800">
                <a:solidFill>
                  <a:schemeClr val="dk2"/>
                </a:solidFill>
              </a:rPr>
              <a:t>The goal is to show how we drop. The key structure of our prototype is to make objects fall by rotating them. We use a circular shape and make each grid hold objects.</a:t>
            </a:r>
            <a:endParaRPr b="0" i="0" sz="1800" u="none" cap="none" strike="noStrike">
              <a:solidFill>
                <a:schemeClr val="dk2"/>
              </a:solidFill>
              <a:latin typeface="Arial"/>
              <a:ea typeface="Arial"/>
              <a:cs typeface="Arial"/>
              <a:sym typeface="Arial"/>
            </a:endParaRPr>
          </a:p>
        </p:txBody>
      </p:sp>
      <p:pic>
        <p:nvPicPr>
          <p:cNvPr id="150" name="Google Shape;150;p9" title="4fe3d9db894d252627814c9b82e0ec67.png"/>
          <p:cNvPicPr preferRelativeResize="0"/>
          <p:nvPr/>
        </p:nvPicPr>
        <p:blipFill>
          <a:blip r:embed="rId3">
            <a:alphaModFix/>
          </a:blip>
          <a:stretch>
            <a:fillRect/>
          </a:stretch>
        </p:blipFill>
        <p:spPr>
          <a:xfrm>
            <a:off x="144525" y="1289250"/>
            <a:ext cx="2437700" cy="2176150"/>
          </a:xfrm>
          <a:prstGeom prst="rect">
            <a:avLst/>
          </a:prstGeom>
          <a:noFill/>
          <a:ln>
            <a:noFill/>
          </a:ln>
        </p:spPr>
      </p:pic>
      <p:pic>
        <p:nvPicPr>
          <p:cNvPr id="151" name="Google Shape;151;p9" title="90510641c8bb89f06dd8c6edf955d61f.png"/>
          <p:cNvPicPr preferRelativeResize="0"/>
          <p:nvPr/>
        </p:nvPicPr>
        <p:blipFill>
          <a:blip r:embed="rId4">
            <a:alphaModFix/>
          </a:blip>
          <a:stretch>
            <a:fillRect/>
          </a:stretch>
        </p:blipFill>
        <p:spPr>
          <a:xfrm>
            <a:off x="2582225" y="1289250"/>
            <a:ext cx="2117254" cy="21761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0"/>
          <p:cNvSpPr txBox="1"/>
          <p:nvPr/>
        </p:nvSpPr>
        <p:spPr>
          <a:xfrm>
            <a:off x="-17675" y="3800"/>
            <a:ext cx="9144000" cy="1321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As a team build </a:t>
            </a:r>
            <a:r>
              <a:rPr b="1" i="0" lang="en" sz="1800" u="none" cap="none" strike="noStrike">
                <a:solidFill>
                  <a:schemeClr val="dk2"/>
                </a:solidFill>
                <a:latin typeface="Arial"/>
                <a:ea typeface="Arial"/>
                <a:cs typeface="Arial"/>
                <a:sym typeface="Arial"/>
              </a:rPr>
              <a:t>two prototypes</a:t>
            </a:r>
            <a:r>
              <a:rPr b="0" i="0" lang="en" sz="1800" u="none" cap="none" strike="noStrike">
                <a:solidFill>
                  <a:schemeClr val="dk2"/>
                </a:solidFill>
                <a:latin typeface="Arial"/>
                <a:ea typeface="Arial"/>
                <a:cs typeface="Arial"/>
                <a:sym typeface="Arial"/>
              </a:rPr>
              <a:t>. Remember the </a:t>
            </a:r>
            <a:r>
              <a:rPr b="1" i="0" lang="en" sz="1800" u="none" cap="none" strike="noStrike">
                <a:solidFill>
                  <a:schemeClr val="dk2"/>
                </a:solidFill>
                <a:latin typeface="Arial"/>
                <a:ea typeface="Arial"/>
                <a:cs typeface="Arial"/>
                <a:sym typeface="Arial"/>
              </a:rPr>
              <a:t>question </a:t>
            </a:r>
            <a:r>
              <a:rPr b="0" i="0" lang="en" sz="1800" u="none" cap="none" strike="noStrike">
                <a:solidFill>
                  <a:schemeClr val="dk2"/>
                </a:solidFill>
                <a:latin typeface="Arial"/>
                <a:ea typeface="Arial"/>
                <a:cs typeface="Arial"/>
                <a:sym typeface="Arial"/>
              </a:rPr>
              <a:t>you’re aiming to answer with this prototype; it could be as simple as trying to figure out what form or shape the design concept should take, or it can be as specific as honing in on a specific element of the design and simulating the experience or function of it. </a:t>
            </a:r>
            <a:endParaRPr b="0" i="0" sz="1800" u="none" cap="none" strike="noStrike">
              <a:solidFill>
                <a:schemeClr val="dk2"/>
              </a:solidFill>
              <a:latin typeface="Arial"/>
              <a:ea typeface="Arial"/>
              <a:cs typeface="Arial"/>
              <a:sym typeface="Arial"/>
            </a:endParaRPr>
          </a:p>
        </p:txBody>
      </p:sp>
      <p:sp>
        <p:nvSpPr>
          <p:cNvPr id="157" name="Google Shape;157;p10"/>
          <p:cNvSpPr txBox="1"/>
          <p:nvPr/>
        </p:nvSpPr>
        <p:spPr>
          <a:xfrm>
            <a:off x="-17675" y="5143500"/>
            <a:ext cx="9144000" cy="677100"/>
          </a:xfrm>
          <a:prstGeom prst="rect">
            <a:avLst/>
          </a:prstGeom>
          <a:solidFill>
            <a:schemeClr val="accent6"/>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dk2"/>
                </a:solidFill>
                <a:latin typeface="Arial"/>
                <a:ea typeface="Arial"/>
                <a:cs typeface="Arial"/>
                <a:sym typeface="Arial"/>
              </a:rPr>
              <a:t>Note: The course instructors expect you will continue to work on your prototypes for D4, and will have a complete or function prototype to present. </a:t>
            </a:r>
            <a:endParaRPr b="0" i="0" sz="1400" u="none" cap="none" strike="noStrike">
              <a:solidFill>
                <a:srgbClr val="000000"/>
              </a:solidFill>
              <a:latin typeface="Arial"/>
              <a:ea typeface="Arial"/>
              <a:cs typeface="Arial"/>
              <a:sym typeface="Arial"/>
            </a:endParaRPr>
          </a:p>
        </p:txBody>
      </p:sp>
      <p:pic>
        <p:nvPicPr>
          <p:cNvPr id="158" name="Google Shape;158;p10"/>
          <p:cNvPicPr preferRelativeResize="0"/>
          <p:nvPr/>
        </p:nvPicPr>
        <p:blipFill>
          <a:blip r:embed="rId3">
            <a:alphaModFix/>
          </a:blip>
          <a:stretch>
            <a:fillRect/>
          </a:stretch>
        </p:blipFill>
        <p:spPr>
          <a:xfrm>
            <a:off x="187675" y="2639325"/>
            <a:ext cx="3175129" cy="2381347"/>
          </a:xfrm>
          <a:prstGeom prst="rect">
            <a:avLst/>
          </a:prstGeom>
          <a:noFill/>
          <a:ln>
            <a:noFill/>
          </a:ln>
        </p:spPr>
      </p:pic>
      <p:pic>
        <p:nvPicPr>
          <p:cNvPr id="159" name="Google Shape;159;p10"/>
          <p:cNvPicPr preferRelativeResize="0"/>
          <p:nvPr/>
        </p:nvPicPr>
        <p:blipFill>
          <a:blip r:embed="rId4">
            <a:alphaModFix/>
          </a:blip>
          <a:stretch>
            <a:fillRect/>
          </a:stretch>
        </p:blipFill>
        <p:spPr>
          <a:xfrm>
            <a:off x="436400" y="1210424"/>
            <a:ext cx="2560975" cy="1920724"/>
          </a:xfrm>
          <a:prstGeom prst="rect">
            <a:avLst/>
          </a:prstGeom>
          <a:noFill/>
          <a:ln>
            <a:noFill/>
          </a:ln>
        </p:spPr>
      </p:pic>
      <p:sp>
        <p:nvSpPr>
          <p:cNvPr id="160" name="Google Shape;160;p10"/>
          <p:cNvSpPr txBox="1"/>
          <p:nvPr/>
        </p:nvSpPr>
        <p:spPr>
          <a:xfrm>
            <a:off x="4980575" y="1325600"/>
            <a:ext cx="3335400" cy="3296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en" sz="1800">
                <a:solidFill>
                  <a:schemeClr val="dk2"/>
                </a:solidFill>
              </a:rPr>
              <a:t>The goal of this prototype is to get a feel for how the scotch-yoke mechanism will work. The part on the left is where the carousel (prototype 1) will drop the packages into. Once dropped they will be pushed out by the scotch-yoke.</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1"/>
          <p:cNvSpPr txBox="1"/>
          <p:nvPr/>
        </p:nvSpPr>
        <p:spPr>
          <a:xfrm>
            <a:off x="-17675" y="3800"/>
            <a:ext cx="9144000" cy="514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Arial"/>
                <a:ea typeface="Arial"/>
                <a:cs typeface="Arial"/>
                <a:sym typeface="Arial"/>
              </a:rPr>
              <a:t>Answer the following discussion questions: </a:t>
            </a:r>
            <a:endParaRPr b="1" i="0" sz="18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a:p>
            <a:pPr indent="-342900" lvl="0" marL="457200" marR="0" rtl="0" algn="l">
              <a:lnSpc>
                <a:spcPct val="100000"/>
              </a:lnSpc>
              <a:spcBef>
                <a:spcPts val="0"/>
              </a:spcBef>
              <a:spcAft>
                <a:spcPts val="0"/>
              </a:spcAft>
              <a:buClr>
                <a:schemeClr val="dk2"/>
              </a:buClr>
              <a:buSzPts val="1800"/>
              <a:buFont typeface="Arial"/>
              <a:buAutoNum type="arabicPeriod"/>
            </a:pPr>
            <a:r>
              <a:rPr b="0" i="0" lang="en" sz="1800" u="none" cap="none" strike="noStrike">
                <a:solidFill>
                  <a:schemeClr val="dk2"/>
                </a:solidFill>
                <a:latin typeface="Arial"/>
                <a:ea typeface="Arial"/>
                <a:cs typeface="Arial"/>
                <a:sym typeface="Arial"/>
              </a:rPr>
              <a:t>What were you able to discover/communicate with these prototypes?</a:t>
            </a:r>
            <a:endParaRPr b="0" i="0" sz="18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lang="en" sz="1800">
                <a:solidFill>
                  <a:schemeClr val="dk1"/>
                </a:solidFill>
              </a:rPr>
              <a:t>We were able to get an idea of the real-life scale of our design. We were also able to grasp the functionality of our </a:t>
            </a:r>
            <a:r>
              <a:rPr lang="en" sz="1800">
                <a:solidFill>
                  <a:schemeClr val="dk1"/>
                </a:solidFill>
              </a:rPr>
              <a:t>dispensing</a:t>
            </a:r>
            <a:r>
              <a:rPr lang="en" sz="1800">
                <a:solidFill>
                  <a:schemeClr val="dk1"/>
                </a:solidFill>
              </a:rPr>
              <a:t> mechanism, and thus improve issues we are encountering with excessive friction.</a:t>
            </a:r>
            <a:endParaRPr b="0" i="0" sz="18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a:p>
            <a:pPr indent="-342900" lvl="0" marL="457200" marR="0" rtl="0" algn="l">
              <a:lnSpc>
                <a:spcPct val="100000"/>
              </a:lnSpc>
              <a:spcBef>
                <a:spcPts val="0"/>
              </a:spcBef>
              <a:spcAft>
                <a:spcPts val="0"/>
              </a:spcAft>
              <a:buClr>
                <a:schemeClr val="dk2"/>
              </a:buClr>
              <a:buSzPts val="1800"/>
              <a:buFont typeface="Arial"/>
              <a:buAutoNum type="arabicPeriod"/>
            </a:pPr>
            <a:r>
              <a:rPr b="0" i="0" lang="en" sz="1800" u="none" cap="none" strike="noStrike">
                <a:solidFill>
                  <a:schemeClr val="dk2"/>
                </a:solidFill>
                <a:latin typeface="Arial"/>
                <a:ea typeface="Arial"/>
                <a:cs typeface="Arial"/>
                <a:sym typeface="Arial"/>
              </a:rPr>
              <a:t>If you had more time and resources, what would be the next prototype to build?</a:t>
            </a:r>
            <a:endParaRPr b="0" i="0" sz="18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None/>
            </a:pPr>
            <a:r>
              <a:t/>
            </a:r>
            <a:endParaRPr sz="1800">
              <a:solidFill>
                <a:schemeClr val="dk2"/>
              </a:solidFill>
            </a:endParaRPr>
          </a:p>
          <a:p>
            <a:pPr indent="0" lvl="0" marL="0" marR="0" rtl="0" algn="l">
              <a:lnSpc>
                <a:spcPct val="100000"/>
              </a:lnSpc>
              <a:spcBef>
                <a:spcPts val="0"/>
              </a:spcBef>
              <a:spcAft>
                <a:spcPts val="0"/>
              </a:spcAft>
              <a:buNone/>
            </a:pPr>
            <a:r>
              <a:rPr lang="en" sz="1800">
                <a:solidFill>
                  <a:schemeClr val="dk1"/>
                </a:solidFill>
              </a:rPr>
              <a:t>The next prototype iteration would involve more 3D printed components as that is a material we believe a bulk of our final design will include. We also want to look into making the mechanism smaller so it fits the shoebox spatial constraint.</a:t>
            </a:r>
            <a:endParaRPr sz="18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2"/>
          <p:cNvSpPr txBox="1"/>
          <p:nvPr/>
        </p:nvSpPr>
        <p:spPr>
          <a:xfrm>
            <a:off x="-17675" y="3800"/>
            <a:ext cx="9144000" cy="4082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Post lab: </a:t>
            </a:r>
            <a:endParaRPr b="0" i="0" sz="18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Your post lab submission will be a TEAM submission</a:t>
            </a:r>
            <a:endParaRPr b="0" i="0" sz="18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Ensure that your post lab has the following: </a:t>
            </a:r>
            <a:endParaRPr b="0" i="0" sz="1800" u="none" cap="none" strike="noStrike">
              <a:solidFill>
                <a:schemeClr val="dk2"/>
              </a:solidFill>
              <a:latin typeface="Arial"/>
              <a:ea typeface="Arial"/>
              <a:cs typeface="Arial"/>
              <a:sym typeface="Arial"/>
            </a:endParaRPr>
          </a:p>
          <a:p>
            <a:pPr indent="-342900" lvl="0" marL="457200" marR="0" rtl="0" algn="l">
              <a:lnSpc>
                <a:spcPct val="100000"/>
              </a:lnSpc>
              <a:spcBef>
                <a:spcPts val="0"/>
              </a:spcBef>
              <a:spcAft>
                <a:spcPts val="0"/>
              </a:spcAft>
              <a:buClr>
                <a:schemeClr val="dk2"/>
              </a:buClr>
              <a:buSzPts val="1800"/>
              <a:buFont typeface="Arial"/>
              <a:buChar char="●"/>
            </a:pPr>
            <a:r>
              <a:rPr b="0" i="0" lang="en" sz="1800" u="none" cap="none" strike="noStrike">
                <a:solidFill>
                  <a:schemeClr val="dk2"/>
                </a:solidFill>
                <a:latin typeface="Arial"/>
                <a:ea typeface="Arial"/>
                <a:cs typeface="Arial"/>
                <a:sym typeface="Arial"/>
              </a:rPr>
              <a:t>Part I </a:t>
            </a:r>
            <a:endParaRPr b="0" i="0" sz="1800" u="none" cap="none" strike="noStrike">
              <a:solidFill>
                <a:schemeClr val="dk2"/>
              </a:solidFill>
              <a:latin typeface="Arial"/>
              <a:ea typeface="Arial"/>
              <a:cs typeface="Arial"/>
              <a:sym typeface="Arial"/>
            </a:endParaRPr>
          </a:p>
          <a:p>
            <a:pPr indent="-342900" lvl="1" marL="914400" marR="0" rtl="0" algn="l">
              <a:lnSpc>
                <a:spcPct val="100000"/>
              </a:lnSpc>
              <a:spcBef>
                <a:spcPts val="0"/>
              </a:spcBef>
              <a:spcAft>
                <a:spcPts val="0"/>
              </a:spcAft>
              <a:buClr>
                <a:schemeClr val="dk2"/>
              </a:buClr>
              <a:buSzPts val="1800"/>
              <a:buFont typeface="Arial"/>
              <a:buChar char="○"/>
            </a:pPr>
            <a:r>
              <a:rPr b="0" i="0" lang="en" sz="1800" u="none" cap="none" strike="noStrike">
                <a:solidFill>
                  <a:schemeClr val="dk2"/>
                </a:solidFill>
                <a:latin typeface="Arial"/>
                <a:ea typeface="Arial"/>
                <a:cs typeface="Arial"/>
                <a:sym typeface="Arial"/>
              </a:rPr>
              <a:t>Your group’s 2x2 with all post-its </a:t>
            </a:r>
            <a:endParaRPr b="0" i="0" sz="1800" u="none" cap="none" strike="noStrike">
              <a:solidFill>
                <a:schemeClr val="dk2"/>
              </a:solidFill>
              <a:latin typeface="Arial"/>
              <a:ea typeface="Arial"/>
              <a:cs typeface="Arial"/>
              <a:sym typeface="Arial"/>
            </a:endParaRPr>
          </a:p>
          <a:p>
            <a:pPr indent="-342900" lvl="1" marL="914400" marR="0" rtl="0" algn="l">
              <a:lnSpc>
                <a:spcPct val="100000"/>
              </a:lnSpc>
              <a:spcBef>
                <a:spcPts val="0"/>
              </a:spcBef>
              <a:spcAft>
                <a:spcPts val="0"/>
              </a:spcAft>
              <a:buClr>
                <a:schemeClr val="dk2"/>
              </a:buClr>
              <a:buSzPts val="1800"/>
              <a:buFont typeface="Arial"/>
              <a:buChar char="○"/>
            </a:pPr>
            <a:r>
              <a:rPr b="0" i="0" lang="en" sz="1800" u="none" cap="none" strike="noStrike">
                <a:solidFill>
                  <a:schemeClr val="dk2"/>
                </a:solidFill>
                <a:latin typeface="Arial"/>
                <a:ea typeface="Arial"/>
                <a:cs typeface="Arial"/>
                <a:sym typeface="Arial"/>
              </a:rPr>
              <a:t>Your responses to the 2 discussion questions in Part I </a:t>
            </a:r>
            <a:endParaRPr b="0" i="0" sz="1800" u="none" cap="none" strike="noStrike">
              <a:solidFill>
                <a:schemeClr val="dk2"/>
              </a:solidFill>
              <a:latin typeface="Arial"/>
              <a:ea typeface="Arial"/>
              <a:cs typeface="Arial"/>
              <a:sym typeface="Arial"/>
            </a:endParaRPr>
          </a:p>
          <a:p>
            <a:pPr indent="-342900" lvl="0" marL="457200" marR="0" rtl="0" algn="l">
              <a:lnSpc>
                <a:spcPct val="100000"/>
              </a:lnSpc>
              <a:spcBef>
                <a:spcPts val="0"/>
              </a:spcBef>
              <a:spcAft>
                <a:spcPts val="0"/>
              </a:spcAft>
              <a:buClr>
                <a:schemeClr val="dk2"/>
              </a:buClr>
              <a:buSzPts val="1800"/>
              <a:buFont typeface="Arial"/>
              <a:buChar char="●"/>
            </a:pPr>
            <a:r>
              <a:rPr b="0" i="0" lang="en" sz="1800" u="none" cap="none" strike="noStrike">
                <a:solidFill>
                  <a:schemeClr val="dk2"/>
                </a:solidFill>
                <a:latin typeface="Arial"/>
                <a:ea typeface="Arial"/>
                <a:cs typeface="Arial"/>
                <a:sym typeface="Arial"/>
              </a:rPr>
              <a:t>Part II </a:t>
            </a:r>
            <a:endParaRPr b="0" i="0" sz="1800" u="none" cap="none" strike="noStrike">
              <a:solidFill>
                <a:schemeClr val="dk2"/>
              </a:solidFill>
              <a:latin typeface="Arial"/>
              <a:ea typeface="Arial"/>
              <a:cs typeface="Arial"/>
              <a:sym typeface="Arial"/>
            </a:endParaRPr>
          </a:p>
          <a:p>
            <a:pPr indent="-342900" lvl="1" marL="914400" marR="0" rtl="0" algn="l">
              <a:lnSpc>
                <a:spcPct val="100000"/>
              </a:lnSpc>
              <a:spcBef>
                <a:spcPts val="0"/>
              </a:spcBef>
              <a:spcAft>
                <a:spcPts val="0"/>
              </a:spcAft>
              <a:buClr>
                <a:schemeClr val="dk2"/>
              </a:buClr>
              <a:buSzPts val="1800"/>
              <a:buFont typeface="Arial"/>
              <a:buChar char="○"/>
            </a:pPr>
            <a:r>
              <a:rPr b="0" i="0" lang="en" sz="1800" u="none" cap="none" strike="noStrike">
                <a:solidFill>
                  <a:schemeClr val="dk2"/>
                </a:solidFill>
                <a:latin typeface="Arial"/>
                <a:ea typeface="Arial"/>
                <a:cs typeface="Arial"/>
                <a:sym typeface="Arial"/>
              </a:rPr>
              <a:t>Your identified design constraints, variables and unanswered questions </a:t>
            </a:r>
            <a:endParaRPr b="0" i="0" sz="1800" u="none" cap="none" strike="noStrike">
              <a:solidFill>
                <a:schemeClr val="dk2"/>
              </a:solidFill>
              <a:latin typeface="Arial"/>
              <a:ea typeface="Arial"/>
              <a:cs typeface="Arial"/>
              <a:sym typeface="Arial"/>
            </a:endParaRPr>
          </a:p>
          <a:p>
            <a:pPr indent="-342900" lvl="1" marL="914400" marR="0" rtl="0" algn="l">
              <a:lnSpc>
                <a:spcPct val="100000"/>
              </a:lnSpc>
              <a:spcBef>
                <a:spcPts val="0"/>
              </a:spcBef>
              <a:spcAft>
                <a:spcPts val="0"/>
              </a:spcAft>
              <a:buClr>
                <a:schemeClr val="dk2"/>
              </a:buClr>
              <a:buSzPts val="1800"/>
              <a:buFont typeface="Arial"/>
              <a:buChar char="○"/>
            </a:pPr>
            <a:r>
              <a:rPr b="0" i="0" lang="en" sz="1800" u="none" cap="none" strike="noStrike">
                <a:solidFill>
                  <a:schemeClr val="dk2"/>
                </a:solidFill>
                <a:latin typeface="Arial"/>
                <a:ea typeface="Arial"/>
                <a:cs typeface="Arial"/>
                <a:sym typeface="Arial"/>
              </a:rPr>
              <a:t>Descriptions of at least 3 prototype ideas, one for each question </a:t>
            </a:r>
            <a:endParaRPr b="0" i="0" sz="1800" u="none" cap="none" strike="noStrike">
              <a:solidFill>
                <a:schemeClr val="dk2"/>
              </a:solidFill>
              <a:latin typeface="Arial"/>
              <a:ea typeface="Arial"/>
              <a:cs typeface="Arial"/>
              <a:sym typeface="Arial"/>
            </a:endParaRPr>
          </a:p>
          <a:p>
            <a:pPr indent="-342900" lvl="1" marL="914400" marR="0" rtl="0" algn="l">
              <a:lnSpc>
                <a:spcPct val="100000"/>
              </a:lnSpc>
              <a:spcBef>
                <a:spcPts val="0"/>
              </a:spcBef>
              <a:spcAft>
                <a:spcPts val="0"/>
              </a:spcAft>
              <a:buClr>
                <a:schemeClr val="dk2"/>
              </a:buClr>
              <a:buSzPts val="1800"/>
              <a:buFont typeface="Arial"/>
              <a:buChar char="○"/>
            </a:pPr>
            <a:r>
              <a:rPr b="0" i="0" lang="en" sz="1800" u="none" cap="none" strike="noStrike">
                <a:solidFill>
                  <a:schemeClr val="dk2"/>
                </a:solidFill>
                <a:latin typeface="Arial"/>
                <a:ea typeface="Arial"/>
                <a:cs typeface="Arial"/>
                <a:sym typeface="Arial"/>
              </a:rPr>
              <a:t>Sketches of at least 2 prototype ideas per team </a:t>
            </a:r>
            <a:endParaRPr b="0" i="0" sz="1800" u="none" cap="none" strike="noStrike">
              <a:solidFill>
                <a:schemeClr val="dk2"/>
              </a:solidFill>
              <a:latin typeface="Arial"/>
              <a:ea typeface="Arial"/>
              <a:cs typeface="Arial"/>
              <a:sym typeface="Arial"/>
            </a:endParaRPr>
          </a:p>
          <a:p>
            <a:pPr indent="-342900" lvl="1" marL="914400" marR="0" rtl="0" algn="l">
              <a:lnSpc>
                <a:spcPct val="100000"/>
              </a:lnSpc>
              <a:spcBef>
                <a:spcPts val="0"/>
              </a:spcBef>
              <a:spcAft>
                <a:spcPts val="0"/>
              </a:spcAft>
              <a:buClr>
                <a:schemeClr val="dk2"/>
              </a:buClr>
              <a:buSzPts val="1800"/>
              <a:buFont typeface="Arial"/>
              <a:buChar char="○"/>
            </a:pPr>
            <a:r>
              <a:rPr b="0" i="0" lang="en" sz="1800" u="none" cap="none" strike="noStrike">
                <a:solidFill>
                  <a:schemeClr val="dk2"/>
                </a:solidFill>
                <a:latin typeface="Arial"/>
                <a:ea typeface="Arial"/>
                <a:cs typeface="Arial"/>
                <a:sym typeface="Arial"/>
              </a:rPr>
              <a:t>Your responses to the 3 reflection questions in Part II.6</a:t>
            </a:r>
            <a:endParaRPr b="0" i="0" sz="1800" u="none" cap="none" strike="noStrike">
              <a:solidFill>
                <a:schemeClr val="dk2"/>
              </a:solidFill>
              <a:latin typeface="Arial"/>
              <a:ea typeface="Arial"/>
              <a:cs typeface="Arial"/>
              <a:sym typeface="Arial"/>
            </a:endParaRPr>
          </a:p>
          <a:p>
            <a:pPr indent="-342900" lvl="0" marL="457200" marR="0" rtl="0" algn="l">
              <a:lnSpc>
                <a:spcPct val="100000"/>
              </a:lnSpc>
              <a:spcBef>
                <a:spcPts val="0"/>
              </a:spcBef>
              <a:spcAft>
                <a:spcPts val="0"/>
              </a:spcAft>
              <a:buClr>
                <a:schemeClr val="dk2"/>
              </a:buClr>
              <a:buSzPts val="1800"/>
              <a:buFont typeface="Arial"/>
              <a:buChar char="●"/>
            </a:pPr>
            <a:r>
              <a:rPr b="0" i="0" lang="en" sz="1800" u="none" cap="none" strike="noStrike">
                <a:solidFill>
                  <a:schemeClr val="dk2"/>
                </a:solidFill>
                <a:latin typeface="Arial"/>
                <a:ea typeface="Arial"/>
                <a:cs typeface="Arial"/>
                <a:sym typeface="Arial"/>
              </a:rPr>
              <a:t>Part III</a:t>
            </a:r>
            <a:endParaRPr b="0" i="0" sz="1800" u="none" cap="none" strike="noStrike">
              <a:solidFill>
                <a:schemeClr val="dk2"/>
              </a:solidFill>
              <a:latin typeface="Arial"/>
              <a:ea typeface="Arial"/>
              <a:cs typeface="Arial"/>
              <a:sym typeface="Arial"/>
            </a:endParaRPr>
          </a:p>
          <a:p>
            <a:pPr indent="-342900" lvl="1" marL="914400" marR="0" rtl="0" algn="l">
              <a:lnSpc>
                <a:spcPct val="100000"/>
              </a:lnSpc>
              <a:spcBef>
                <a:spcPts val="0"/>
              </a:spcBef>
              <a:spcAft>
                <a:spcPts val="0"/>
              </a:spcAft>
              <a:buClr>
                <a:schemeClr val="dk2"/>
              </a:buClr>
              <a:buSzPts val="1800"/>
              <a:buFont typeface="Arial"/>
              <a:buChar char="○"/>
            </a:pPr>
            <a:r>
              <a:rPr b="0" i="0" lang="en" sz="1800" u="none" cap="none" strike="noStrike">
                <a:solidFill>
                  <a:schemeClr val="dk2"/>
                </a:solidFill>
                <a:latin typeface="Arial"/>
                <a:ea typeface="Arial"/>
                <a:cs typeface="Arial"/>
                <a:sym typeface="Arial"/>
              </a:rPr>
              <a:t>Pictures of each of your team’s two low fidelity physical prototypes </a:t>
            </a:r>
            <a:endParaRPr b="0" i="0" sz="1800" u="none" cap="none" strike="noStrike">
              <a:solidFill>
                <a:schemeClr val="dk2"/>
              </a:solidFill>
              <a:latin typeface="Arial"/>
              <a:ea typeface="Arial"/>
              <a:cs typeface="Arial"/>
              <a:sym typeface="Arial"/>
            </a:endParaRPr>
          </a:p>
          <a:p>
            <a:pPr indent="-342900" lvl="1" marL="914400" marR="0" rtl="0" algn="l">
              <a:lnSpc>
                <a:spcPct val="100000"/>
              </a:lnSpc>
              <a:spcBef>
                <a:spcPts val="0"/>
              </a:spcBef>
              <a:spcAft>
                <a:spcPts val="0"/>
              </a:spcAft>
              <a:buClr>
                <a:schemeClr val="dk2"/>
              </a:buClr>
              <a:buSzPts val="1800"/>
              <a:buFont typeface="Arial"/>
              <a:buChar char="○"/>
            </a:pPr>
            <a:r>
              <a:rPr b="0" i="0" lang="en" sz="1800" u="none" cap="none" strike="noStrike">
                <a:solidFill>
                  <a:schemeClr val="dk2"/>
                </a:solidFill>
                <a:latin typeface="Arial"/>
                <a:ea typeface="Arial"/>
                <a:cs typeface="Arial"/>
                <a:sym typeface="Arial"/>
              </a:rPr>
              <a:t>Your responses to the 2 discussion questions in Part III.2 and III.3 </a:t>
            </a:r>
            <a:endParaRPr b="0" i="0" sz="18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2"/>
              </a:solidFill>
              <a:latin typeface="Arial"/>
              <a:ea typeface="Arial"/>
              <a:cs typeface="Arial"/>
              <a:sym typeface="Arial"/>
            </a:endParaRPr>
          </a:p>
        </p:txBody>
      </p:sp>
      <p:sp>
        <p:nvSpPr>
          <p:cNvPr id="171" name="Google Shape;171;p12"/>
          <p:cNvSpPr txBox="1"/>
          <p:nvPr/>
        </p:nvSpPr>
        <p:spPr>
          <a:xfrm>
            <a:off x="-17675" y="4085900"/>
            <a:ext cx="9144000" cy="1416000"/>
          </a:xfrm>
          <a:prstGeom prst="rect">
            <a:avLst/>
          </a:prstGeom>
          <a:solidFill>
            <a:schemeClr val="accent6"/>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dk2"/>
                </a:solidFill>
                <a:latin typeface="Arial"/>
                <a:ea typeface="Arial"/>
                <a:cs typeface="Arial"/>
                <a:sym typeface="Arial"/>
              </a:rPr>
              <a:t>Note: As a team, you should start to work on a CAD or detailed engineering drawings as you work towards more complete prototypes (D4 &amp; D5) </a:t>
            </a:r>
            <a:endParaRPr b="1"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dk2"/>
                </a:solidFill>
                <a:latin typeface="Arial"/>
                <a:ea typeface="Arial"/>
                <a:cs typeface="Arial"/>
                <a:sym typeface="Arial"/>
              </a:rPr>
              <a:t>Note: The course instructors expect you will continue to work on your prototypes for D4, and will have a complete or function prototype to present.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