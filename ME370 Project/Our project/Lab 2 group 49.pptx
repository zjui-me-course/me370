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4" roundtripDataSignature="AMtx7mjbkruWSYbWnlnheniRGJnoKLbr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0776CB-BC27-4CEC-A347-EF09D168574E}">
  <a:tblStyle styleId="{530776CB-BC27-4CEC-A347-EF09D168574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ME 370</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lnSpc>
                <a:spcPct val="100000"/>
              </a:lnSpc>
              <a:spcBef>
                <a:spcPts val="0"/>
              </a:spcBef>
              <a:spcAft>
                <a:spcPts val="0"/>
              </a:spcAft>
              <a:buSzPct val="100000"/>
              <a:buNone/>
            </a:pPr>
            <a:r>
              <a:rPr lang="en"/>
              <a:t>Team 49</a:t>
            </a:r>
            <a:endParaRPr/>
          </a:p>
          <a:p>
            <a:pPr indent="0" lvl="0" marL="0" rtl="0" algn="ctr">
              <a:lnSpc>
                <a:spcPct val="100000"/>
              </a:lnSpc>
              <a:spcBef>
                <a:spcPts val="0"/>
              </a:spcBef>
              <a:spcAft>
                <a:spcPts val="0"/>
              </a:spcAft>
              <a:buSzPct val="100000"/>
              <a:buNone/>
            </a:pPr>
            <a:r>
              <a:rPr lang="en"/>
              <a:t>Sebastian M, Liangbing Zhao,Shihong Yuan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Prelab Reflection Part 1</a:t>
            </a:r>
            <a:endParaRPr/>
          </a:p>
        </p:txBody>
      </p:sp>
      <p:graphicFrame>
        <p:nvGraphicFramePr>
          <p:cNvPr id="61" name="Google Shape;61;p2"/>
          <p:cNvGraphicFramePr/>
          <p:nvPr/>
        </p:nvGraphicFramePr>
        <p:xfrm>
          <a:off x="533675" y="662400"/>
          <a:ext cx="3000000" cy="3000000"/>
        </p:xfrm>
        <a:graphic>
          <a:graphicData uri="http://schemas.openxmlformats.org/drawingml/2006/table">
            <a:tbl>
              <a:tblPr>
                <a:noFill/>
                <a:tableStyleId>{530776CB-BC27-4CEC-A347-EF09D168574E}</a:tableStyleId>
              </a:tblPr>
              <a:tblGrid>
                <a:gridCol w="2021000"/>
                <a:gridCol w="2021000"/>
                <a:gridCol w="2021000"/>
                <a:gridCol w="2021000"/>
              </a:tblGrid>
              <a:tr h="2090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Teammate 1 Prelab point of view statement</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000">
                          <a:solidFill>
                            <a:srgbClr val="FF0000"/>
                          </a:solidFill>
                        </a:rPr>
                        <a:t>Lab personnel need a way to have dispensable items delivered in order to streamline order delivery and management in order to not lose time sourcing necessary inventory.</a:t>
                      </a:r>
                      <a:endParaRPr sz="1000">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2 Prelab point of view statement</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100">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t/>
                      </a:r>
                      <a:endParaRPr sz="1100">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rPr lang="en" sz="1100">
                          <a:solidFill>
                            <a:srgbClr val="FF0000"/>
                          </a:solidFill>
                        </a:rPr>
                        <a:t>Delivery robots are needed to place students' online purchases safely and orderly in front of their dormitory doors.</a:t>
                      </a:r>
                      <a:endParaRPr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3 Prelab point of view statement</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p>
                      <a:pPr indent="0" lvl="0" marL="0" rtl="0" algn="l">
                        <a:spcBef>
                          <a:spcPts val="0"/>
                        </a:spcBef>
                        <a:spcAft>
                          <a:spcPts val="0"/>
                        </a:spcAft>
                        <a:buClr>
                          <a:schemeClr val="dk1"/>
                        </a:buClr>
                        <a:buSzPts val="1100"/>
                        <a:buFont typeface="Arial"/>
                        <a:buNone/>
                      </a:pPr>
                      <a:r>
                        <a:rPr lang="en" sz="1200">
                          <a:solidFill>
                            <a:srgbClr val="FF0000"/>
                          </a:solidFill>
                        </a:rPr>
                        <a:t>Campus students need their food delivered </a:t>
                      </a:r>
                      <a:r>
                        <a:rPr b="1" lang="en" sz="1200">
                          <a:solidFill>
                            <a:srgbClr val="FF0000"/>
                          </a:solidFill>
                        </a:rPr>
                        <a:t>on time </a:t>
                      </a:r>
                      <a:r>
                        <a:rPr lang="en" sz="1200">
                          <a:solidFill>
                            <a:srgbClr val="FF0000"/>
                          </a:solidFill>
                        </a:rPr>
                        <a:t>to give them a sense of security</a:t>
                      </a:r>
                      <a:endParaRPr sz="1200">
                        <a:solidFill>
                          <a:srgbClr val="FF0000"/>
                        </a:solidFill>
                      </a:endParaRPr>
                    </a:p>
                    <a:p>
                      <a:pPr indent="0" lvl="0" marL="0" rtl="0" algn="l">
                        <a:spcBef>
                          <a:spcPts val="0"/>
                        </a:spcBef>
                        <a:spcAft>
                          <a:spcPts val="0"/>
                        </a:spcAft>
                        <a:buClr>
                          <a:schemeClr val="dk1"/>
                        </a:buClr>
                        <a:buSzPts val="1100"/>
                        <a:buFont typeface="Arial"/>
                        <a:buNone/>
                      </a:pPr>
                      <a:r>
                        <a:rPr lang="en" sz="1200">
                          <a:solidFill>
                            <a:srgbClr val="FF0000"/>
                          </a:solidFill>
                        </a:rPr>
                        <a:t>and alleviate the anxiety of waiting. </a:t>
                      </a:r>
                      <a:endParaRPr sz="1200">
                        <a:solidFill>
                          <a:srgbClr val="FF0000"/>
                        </a:solidFill>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4 Prelab point of view statement</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lang="en" sz="1000">
                          <a:solidFill>
                            <a:srgbClr val="FF0000"/>
                          </a:solidFill>
                        </a:rPr>
                        <a:t>Hospital staff at McKinley need a way to deliver medication quickly to patients across the hospital to free up time spent walking to allow them to focus on other work or just take a much needed rest. </a:t>
                      </a:r>
                      <a:endParaRPr sz="1000" u="none" cap="none" strike="noStrike">
                        <a:solidFill>
                          <a:srgbClr val="FF0000"/>
                        </a:solidFill>
                      </a:endParaRPr>
                    </a:p>
                  </a:txBody>
                  <a:tcPr marT="91425" marB="91425" marR="91425" marL="91425"/>
                </a:tc>
              </a:tr>
              <a:tr h="2090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1 Prelab Requirements</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lang="en" sz="1000">
                          <a:solidFill>
                            <a:srgbClr val="FF0000"/>
                          </a:solidFill>
                        </a:rPr>
                        <a:t>The compartment where the package is stored must not get contaminated and must be easily cleaned between uses. The robot must be easily distinguishable within the lab setting in order to not pose a hazard. It must also be very stable so package is not damaged in transit.</a:t>
                      </a:r>
                      <a:endParaRPr sz="1000" u="none" cap="none" strike="noStrike">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2 Prelab Requirements</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p>
                      <a:pPr indent="0" lvl="0" marL="0" rtl="0" algn="l">
                        <a:spcBef>
                          <a:spcPts val="0"/>
                        </a:spcBef>
                        <a:spcAft>
                          <a:spcPts val="0"/>
                        </a:spcAft>
                        <a:buClr>
                          <a:schemeClr val="dk1"/>
                        </a:buClr>
                        <a:buSzPts val="1100"/>
                        <a:buFont typeface="Arial"/>
                        <a:buNone/>
                      </a:pPr>
                      <a:r>
                        <a:rPr lang="en" sz="1100">
                          <a:solidFill>
                            <a:srgbClr val="FF0000"/>
                          </a:solidFill>
                        </a:rPr>
                        <a:t>1. The delivery robot needs to be fast enough to improve efficiency and perform basic turning functions.</a:t>
                      </a:r>
                      <a:endParaRPr sz="1100">
                        <a:solidFill>
                          <a:srgbClr val="FF0000"/>
                        </a:solidFill>
                      </a:endParaRPr>
                    </a:p>
                    <a:p>
                      <a:pPr indent="0" lvl="0" marL="0" rtl="0" algn="l">
                        <a:spcBef>
                          <a:spcPts val="0"/>
                        </a:spcBef>
                        <a:spcAft>
                          <a:spcPts val="0"/>
                        </a:spcAft>
                        <a:buClr>
                          <a:schemeClr val="dk1"/>
                        </a:buClr>
                        <a:buSzPts val="1100"/>
                        <a:buFont typeface="Arial"/>
                        <a:buNone/>
                      </a:pPr>
                      <a:r>
                        <a:rPr lang="en" sz="1100">
                          <a:solidFill>
                            <a:srgbClr val="FF0000"/>
                          </a:solidFill>
                        </a:rPr>
                        <a:t>2. It needs to be able to be placed in an orderly and stable manner.</a:t>
                      </a:r>
                      <a:endParaRPr sz="1100">
                        <a:solidFill>
                          <a:srgbClr val="FF0000"/>
                        </a:solidFill>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3 Prelab Requirements</a:t>
                      </a:r>
                      <a:endParaRPr sz="1400" u="none" cap="none" strike="noStrike">
                        <a:solidFill>
                          <a:schemeClr val="dk1"/>
                        </a:solidFill>
                      </a:endParaRPr>
                    </a:p>
                    <a:p>
                      <a:pPr indent="0" lvl="0" marL="0" rtl="0" algn="l">
                        <a:spcBef>
                          <a:spcPts val="0"/>
                        </a:spcBef>
                        <a:spcAft>
                          <a:spcPts val="0"/>
                        </a:spcAft>
                        <a:buClr>
                          <a:schemeClr val="dk1"/>
                        </a:buClr>
                        <a:buSzPts val="1100"/>
                        <a:buFont typeface="Arial"/>
                        <a:buNone/>
                      </a:pPr>
                      <a:r>
                        <a:rPr lang="en" sz="1200">
                          <a:solidFill>
                            <a:srgbClr val="FF0000"/>
                          </a:solidFill>
                        </a:rPr>
                        <a:t>1. </a:t>
                      </a:r>
                      <a:r>
                        <a:rPr lang="en" sz="1100">
                          <a:solidFill>
                            <a:srgbClr val="FF0000"/>
                          </a:solidFill>
                        </a:rPr>
                        <a:t>The robot should have a suitable compartment to hold all the food and packaging, ensuring</a:t>
                      </a:r>
                      <a:endParaRPr sz="1100">
                        <a:solidFill>
                          <a:srgbClr val="FF0000"/>
                        </a:solidFill>
                      </a:endParaRPr>
                    </a:p>
                    <a:p>
                      <a:pPr indent="0" lvl="0" marL="0" rtl="0" algn="l">
                        <a:spcBef>
                          <a:spcPts val="0"/>
                        </a:spcBef>
                        <a:spcAft>
                          <a:spcPts val="0"/>
                        </a:spcAft>
                        <a:buClr>
                          <a:schemeClr val="dk1"/>
                        </a:buClr>
                        <a:buSzPts val="1100"/>
                        <a:buFont typeface="Arial"/>
                        <a:buNone/>
                      </a:pPr>
                      <a:r>
                        <a:rPr lang="en" sz="1100">
                          <a:solidFill>
                            <a:srgbClr val="FF0000"/>
                          </a:solidFill>
                        </a:rPr>
                        <a:t>stability.</a:t>
                      </a:r>
                      <a:endParaRPr sz="1100">
                        <a:solidFill>
                          <a:srgbClr val="FF0000"/>
                        </a:solidFill>
                      </a:endParaRPr>
                    </a:p>
                    <a:p>
                      <a:pPr indent="0" lvl="0" marL="0" rtl="0" algn="l">
                        <a:spcBef>
                          <a:spcPts val="0"/>
                        </a:spcBef>
                        <a:spcAft>
                          <a:spcPts val="0"/>
                        </a:spcAft>
                        <a:buClr>
                          <a:schemeClr val="dk1"/>
                        </a:buClr>
                        <a:buSzPts val="1100"/>
                        <a:buFont typeface="Arial"/>
                        <a:buNone/>
                      </a:pPr>
                      <a:r>
                        <a:rPr lang="en" sz="1200">
                          <a:solidFill>
                            <a:srgbClr val="FF0000"/>
                          </a:solidFill>
                        </a:rPr>
                        <a:t>2. </a:t>
                      </a:r>
                      <a:r>
                        <a:rPr lang="en" sz="1100">
                          <a:solidFill>
                            <a:srgbClr val="FF0000"/>
                          </a:solidFill>
                        </a:rPr>
                        <a:t>The robot must not jostle the food out of the bag; it should extract the packages from the</a:t>
                      </a:r>
                      <a:endParaRPr sz="1100">
                        <a:solidFill>
                          <a:srgbClr val="FF0000"/>
                        </a:solidFill>
                      </a:endParaRPr>
                    </a:p>
                    <a:p>
                      <a:pPr indent="0" lvl="0" marL="0" rtl="0" algn="l">
                        <a:spcBef>
                          <a:spcPts val="0"/>
                        </a:spcBef>
                        <a:spcAft>
                          <a:spcPts val="0"/>
                        </a:spcAft>
                        <a:buClr>
                          <a:schemeClr val="dk1"/>
                        </a:buClr>
                        <a:buSzPts val="1100"/>
                        <a:buFont typeface="Arial"/>
                        <a:buNone/>
                      </a:pPr>
                      <a:r>
                        <a:rPr lang="en" sz="1100">
                          <a:solidFill>
                            <a:srgbClr val="FF0000"/>
                          </a:solidFill>
                        </a:rPr>
                        <a:t>bag smoothly and steadily</a:t>
                      </a:r>
                      <a:endParaRPr sz="1100">
                        <a:solidFill>
                          <a:srgbClr val="FF0000"/>
                        </a:solidFill>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Teammate 4 Prelab Requirements</a:t>
                      </a:r>
                      <a:endParaRPr sz="14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 sz="1100">
                          <a:solidFill>
                            <a:srgbClr val="FF0000"/>
                          </a:solidFill>
                        </a:rPr>
                        <a:t>All medications loaded must be secured to ensure only the proper people can access them. A hospital is busy and lots of people are moving around constantly, the design must not pose a tripping hazard for hospital staff. </a:t>
                      </a:r>
                      <a:endParaRPr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Arial"/>
                        <a:buNone/>
                      </a:pPr>
                      <a:r>
                        <a:t/>
                      </a:r>
                      <a:endParaRPr sz="1400" u="none" cap="none" strike="noStrike">
                        <a:solidFill>
                          <a:schemeClr val="dk1"/>
                        </a:solidFill>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Prelab Reflection Part 2</a:t>
            </a:r>
            <a:endParaRPr/>
          </a:p>
        </p:txBody>
      </p:sp>
      <p:graphicFrame>
        <p:nvGraphicFramePr>
          <p:cNvPr id="67" name="Google Shape;67;p3"/>
          <p:cNvGraphicFramePr/>
          <p:nvPr/>
        </p:nvGraphicFramePr>
        <p:xfrm>
          <a:off x="46150" y="473975"/>
          <a:ext cx="3000000" cy="3000000"/>
        </p:xfrm>
        <a:graphic>
          <a:graphicData uri="http://schemas.openxmlformats.org/drawingml/2006/table">
            <a:tbl>
              <a:tblPr>
                <a:noFill/>
                <a:tableStyleId>{530776CB-BC27-4CEC-A347-EF09D168574E}</a:tableStyleId>
              </a:tblPr>
              <a:tblGrid>
                <a:gridCol w="3013550"/>
                <a:gridCol w="3013550"/>
                <a:gridCol w="3013550"/>
              </a:tblGrid>
              <a:tr h="46040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Which requirements do you have in common with your peers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Robot must be stable so cargo/payload is not damaged</a:t>
                      </a:r>
                      <a:endParaRPr>
                        <a:solidFill>
                          <a:srgbClr val="FF0000"/>
                        </a:solidFill>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Robot must be easily visible so people dont trip on it.</a:t>
                      </a:r>
                      <a:endParaRPr>
                        <a:solidFill>
                          <a:srgbClr val="FF0000"/>
                        </a:solidFill>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Easily identifiable</a:t>
                      </a:r>
                      <a:endParaRPr>
                        <a:solidFill>
                          <a:srgbClr val="FF0000"/>
                        </a:solidFill>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Robot must be able to carefully dispense whatever payload it is transporting</a:t>
                      </a:r>
                      <a:endParaRPr>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What requirements are different from your peers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The speed of delivery</a:t>
                      </a:r>
                      <a:endParaRPr>
                        <a:solidFill>
                          <a:srgbClr val="FF0000"/>
                        </a:solidFill>
                      </a:endParaRPr>
                    </a:p>
                    <a:p>
                      <a:pPr indent="-317500" lvl="0" marL="457200" marR="0" rtl="0" algn="l">
                        <a:lnSpc>
                          <a:spcPct val="100000"/>
                        </a:lnSpc>
                        <a:spcBef>
                          <a:spcPts val="0"/>
                        </a:spcBef>
                        <a:spcAft>
                          <a:spcPts val="0"/>
                        </a:spcAft>
                        <a:buClr>
                          <a:srgbClr val="FF0000"/>
                        </a:buClr>
                        <a:buSzPts val="1400"/>
                        <a:buChar char="●"/>
                      </a:pPr>
                      <a:r>
                        <a:rPr lang="en">
                          <a:solidFill>
                            <a:srgbClr val="FF0000"/>
                          </a:solidFill>
                        </a:rPr>
                        <a:t>Medication must be secure and only accessed by authorized people</a:t>
                      </a:r>
                      <a:endParaRPr>
                        <a:solidFill>
                          <a:srgbClr val="FF0000"/>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Are your teams’ requirement verifiable, indivisible, traceable, and solution-neutral?</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a:solidFill>
                            <a:srgbClr val="FF0000"/>
                          </a:solidFill>
                        </a:rPr>
                        <a:t>Yes</a:t>
                      </a:r>
                      <a:endParaRPr>
                        <a:solidFill>
                          <a:srgbClr val="FF0000"/>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Prelab Reflection Part 3</a:t>
            </a:r>
            <a:endParaRPr/>
          </a:p>
        </p:txBody>
      </p:sp>
      <p:sp>
        <p:nvSpPr>
          <p:cNvPr id="73" name="Google Shape;73;p4"/>
          <p:cNvSpPr txBox="1"/>
          <p:nvPr/>
        </p:nvSpPr>
        <p:spPr>
          <a:xfrm>
            <a:off x="687900" y="959025"/>
            <a:ext cx="7768200" cy="352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Our team’s user group will be:</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 sz="1800">
                <a:solidFill>
                  <a:srgbClr val="FF0000"/>
                </a:solidFill>
              </a:rPr>
              <a:t>Package delivery to dorms</a:t>
            </a:r>
            <a:endParaRPr b="0"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Please recall that it can often be easier to design for a more specific user group than a general one.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Frameworks</a:t>
            </a:r>
            <a:endParaRPr/>
          </a:p>
        </p:txBody>
      </p:sp>
      <p:sp>
        <p:nvSpPr>
          <p:cNvPr id="79" name="Google Shape;79;p5"/>
          <p:cNvSpPr txBox="1"/>
          <p:nvPr/>
        </p:nvSpPr>
        <p:spPr>
          <a:xfrm>
            <a:off x="3866550" y="2856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Dispensing robot</a:t>
            </a:r>
            <a:endParaRPr b="0" i="0" sz="1800" u="none" cap="none" strike="noStrike">
              <a:solidFill>
                <a:schemeClr val="dk2"/>
              </a:solidFill>
              <a:latin typeface="Arial"/>
              <a:ea typeface="Arial"/>
              <a:cs typeface="Arial"/>
              <a:sym typeface="Arial"/>
            </a:endParaRPr>
          </a:p>
        </p:txBody>
      </p:sp>
      <p:sp>
        <p:nvSpPr>
          <p:cNvPr id="80" name="Google Shape;80;p5"/>
          <p:cNvSpPr/>
          <p:nvPr/>
        </p:nvSpPr>
        <p:spPr>
          <a:xfrm rot="2398888">
            <a:off x="5244043" y="1151678"/>
            <a:ext cx="863293" cy="209956"/>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
          <p:cNvSpPr txBox="1"/>
          <p:nvPr/>
        </p:nvSpPr>
        <p:spPr>
          <a:xfrm>
            <a:off x="607350" y="1583100"/>
            <a:ext cx="15384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Loading mechanism</a:t>
            </a:r>
            <a:endParaRPr b="0" i="0" sz="1800" u="none" cap="none" strike="noStrike">
              <a:solidFill>
                <a:schemeClr val="dk2"/>
              </a:solidFill>
              <a:latin typeface="Arial"/>
              <a:ea typeface="Arial"/>
              <a:cs typeface="Arial"/>
              <a:sym typeface="Arial"/>
            </a:endParaRPr>
          </a:p>
        </p:txBody>
      </p:sp>
      <p:sp>
        <p:nvSpPr>
          <p:cNvPr id="82" name="Google Shape;82;p5"/>
          <p:cNvSpPr txBox="1"/>
          <p:nvPr/>
        </p:nvSpPr>
        <p:spPr>
          <a:xfrm>
            <a:off x="2945575" y="16653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Unloading mechanism</a:t>
            </a:r>
            <a:endParaRPr b="0" i="0" sz="1800" u="none" cap="none" strike="noStrike">
              <a:solidFill>
                <a:schemeClr val="dk2"/>
              </a:solidFill>
              <a:latin typeface="Arial"/>
              <a:ea typeface="Arial"/>
              <a:cs typeface="Arial"/>
              <a:sym typeface="Arial"/>
            </a:endParaRPr>
          </a:p>
        </p:txBody>
      </p:sp>
      <p:sp>
        <p:nvSpPr>
          <p:cNvPr id="83" name="Google Shape;83;p5"/>
          <p:cNvSpPr txBox="1"/>
          <p:nvPr/>
        </p:nvSpPr>
        <p:spPr>
          <a:xfrm>
            <a:off x="5161613" y="15831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Movement mechanism</a:t>
            </a:r>
            <a:endParaRPr sz="1800">
              <a:solidFill>
                <a:schemeClr val="dk2"/>
              </a:solidFill>
            </a:endParaRPr>
          </a:p>
        </p:txBody>
      </p:sp>
      <p:sp>
        <p:nvSpPr>
          <p:cNvPr id="84" name="Google Shape;84;p5"/>
          <p:cNvSpPr/>
          <p:nvPr/>
        </p:nvSpPr>
        <p:spPr>
          <a:xfrm rot="5400000">
            <a:off x="3769388" y="1241550"/>
            <a:ext cx="494400" cy="16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5"/>
          <p:cNvSpPr/>
          <p:nvPr/>
        </p:nvSpPr>
        <p:spPr>
          <a:xfrm rot="9177100">
            <a:off x="1828984" y="888703"/>
            <a:ext cx="2020046" cy="20984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
          <p:cNvSpPr txBox="1"/>
          <p:nvPr/>
        </p:nvSpPr>
        <p:spPr>
          <a:xfrm>
            <a:off x="3161100" y="2950725"/>
            <a:ext cx="1410900" cy="4944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Hand Crank</a:t>
            </a:r>
            <a:endParaRPr b="0" i="0" sz="1800" u="none" cap="none" strike="noStrike">
              <a:solidFill>
                <a:schemeClr val="dk2"/>
              </a:solidFill>
              <a:latin typeface="Arial"/>
              <a:ea typeface="Arial"/>
              <a:cs typeface="Arial"/>
              <a:sym typeface="Arial"/>
            </a:endParaRPr>
          </a:p>
        </p:txBody>
      </p:sp>
      <p:sp>
        <p:nvSpPr>
          <p:cNvPr id="87" name="Google Shape;87;p5"/>
          <p:cNvSpPr/>
          <p:nvPr/>
        </p:nvSpPr>
        <p:spPr>
          <a:xfrm rot="2157864">
            <a:off x="1655035" y="2573451"/>
            <a:ext cx="1404775" cy="20984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5"/>
          <p:cNvSpPr txBox="1"/>
          <p:nvPr/>
        </p:nvSpPr>
        <p:spPr>
          <a:xfrm>
            <a:off x="6894100" y="15831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Visibility</a:t>
            </a:r>
            <a:endParaRPr sz="1800">
              <a:solidFill>
                <a:schemeClr val="dk2"/>
              </a:solidFill>
            </a:endParaRPr>
          </a:p>
        </p:txBody>
      </p:sp>
      <p:sp>
        <p:nvSpPr>
          <p:cNvPr id="89" name="Google Shape;89;p5"/>
          <p:cNvSpPr/>
          <p:nvPr/>
        </p:nvSpPr>
        <p:spPr>
          <a:xfrm rot="907659">
            <a:off x="6403759" y="1083561"/>
            <a:ext cx="863317" cy="20981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5"/>
          <p:cNvSpPr/>
          <p:nvPr/>
        </p:nvSpPr>
        <p:spPr>
          <a:xfrm rot="5400000">
            <a:off x="3517350" y="2555697"/>
            <a:ext cx="603900" cy="20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rot="9176917">
            <a:off x="4630422" y="2555630"/>
            <a:ext cx="1248710" cy="20984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txBox="1"/>
          <p:nvPr/>
        </p:nvSpPr>
        <p:spPr>
          <a:xfrm>
            <a:off x="7978200" y="2660750"/>
            <a:ext cx="1165800" cy="579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Physical</a:t>
            </a:r>
            <a:endParaRPr sz="1800">
              <a:solidFill>
                <a:schemeClr val="dk2"/>
              </a:solidFill>
            </a:endParaRPr>
          </a:p>
        </p:txBody>
      </p:sp>
      <p:sp>
        <p:nvSpPr>
          <p:cNvPr id="93" name="Google Shape;93;p5"/>
          <p:cNvSpPr txBox="1"/>
          <p:nvPr/>
        </p:nvSpPr>
        <p:spPr>
          <a:xfrm>
            <a:off x="6455863" y="266075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Mechanism/electrical</a:t>
            </a:r>
            <a:endParaRPr sz="1800">
              <a:solidFill>
                <a:schemeClr val="dk2"/>
              </a:solidFill>
            </a:endParaRPr>
          </a:p>
        </p:txBody>
      </p:sp>
      <p:sp>
        <p:nvSpPr>
          <p:cNvPr id="94" name="Google Shape;94;p5"/>
          <p:cNvSpPr txBox="1"/>
          <p:nvPr/>
        </p:nvSpPr>
        <p:spPr>
          <a:xfrm>
            <a:off x="5161625" y="3629825"/>
            <a:ext cx="1410900" cy="4944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Linkages</a:t>
            </a:r>
            <a:endParaRPr b="0" i="0" sz="1800" u="none" cap="none" strike="noStrike">
              <a:solidFill>
                <a:schemeClr val="dk2"/>
              </a:solidFill>
              <a:latin typeface="Arial"/>
              <a:ea typeface="Arial"/>
              <a:cs typeface="Arial"/>
              <a:sym typeface="Arial"/>
            </a:endParaRPr>
          </a:p>
        </p:txBody>
      </p:sp>
      <p:sp>
        <p:nvSpPr>
          <p:cNvPr id="95" name="Google Shape;95;p5"/>
          <p:cNvSpPr/>
          <p:nvPr/>
        </p:nvSpPr>
        <p:spPr>
          <a:xfrm rot="5400000">
            <a:off x="5288375" y="2907903"/>
            <a:ext cx="1157400" cy="209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
          <p:cNvSpPr/>
          <p:nvPr/>
        </p:nvSpPr>
        <p:spPr>
          <a:xfrm rot="907659">
            <a:off x="7879259" y="2385386"/>
            <a:ext cx="863317" cy="20981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
          <p:cNvSpPr/>
          <p:nvPr/>
        </p:nvSpPr>
        <p:spPr>
          <a:xfrm rot="9320697">
            <a:off x="7044713" y="2353801"/>
            <a:ext cx="599778" cy="18539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System Requirements</a:t>
            </a:r>
            <a:endParaRPr/>
          </a:p>
        </p:txBody>
      </p:sp>
      <p:sp>
        <p:nvSpPr>
          <p:cNvPr id="103" name="Google Shape;103;p6"/>
          <p:cNvSpPr txBox="1"/>
          <p:nvPr/>
        </p:nvSpPr>
        <p:spPr>
          <a:xfrm>
            <a:off x="3866550" y="2856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Dispensing robot</a:t>
            </a:r>
            <a:endParaRPr b="0" i="0" sz="1800" u="none" cap="none" strike="noStrike">
              <a:solidFill>
                <a:schemeClr val="dk2"/>
              </a:solidFill>
              <a:latin typeface="Arial"/>
              <a:ea typeface="Arial"/>
              <a:cs typeface="Arial"/>
              <a:sym typeface="Arial"/>
            </a:endParaRPr>
          </a:p>
        </p:txBody>
      </p:sp>
      <p:sp>
        <p:nvSpPr>
          <p:cNvPr id="104" name="Google Shape;104;p6"/>
          <p:cNvSpPr/>
          <p:nvPr/>
        </p:nvSpPr>
        <p:spPr>
          <a:xfrm rot="2398888">
            <a:off x="5244043" y="1151678"/>
            <a:ext cx="863293" cy="209956"/>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
          <p:cNvSpPr txBox="1"/>
          <p:nvPr/>
        </p:nvSpPr>
        <p:spPr>
          <a:xfrm>
            <a:off x="607350" y="1583100"/>
            <a:ext cx="15384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Loading mechanism</a:t>
            </a:r>
            <a:endParaRPr b="0" i="0" sz="1800" u="none" cap="none" strike="noStrike">
              <a:solidFill>
                <a:schemeClr val="dk2"/>
              </a:solidFill>
              <a:latin typeface="Arial"/>
              <a:ea typeface="Arial"/>
              <a:cs typeface="Arial"/>
              <a:sym typeface="Arial"/>
            </a:endParaRPr>
          </a:p>
        </p:txBody>
      </p:sp>
      <p:sp>
        <p:nvSpPr>
          <p:cNvPr id="106" name="Google Shape;106;p6"/>
          <p:cNvSpPr txBox="1"/>
          <p:nvPr/>
        </p:nvSpPr>
        <p:spPr>
          <a:xfrm>
            <a:off x="2945575" y="16653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Unloading mechanism</a:t>
            </a:r>
            <a:endParaRPr b="0" i="0" sz="1800" u="none" cap="none" strike="noStrike">
              <a:solidFill>
                <a:schemeClr val="dk2"/>
              </a:solidFill>
              <a:latin typeface="Arial"/>
              <a:ea typeface="Arial"/>
              <a:cs typeface="Arial"/>
              <a:sym typeface="Arial"/>
            </a:endParaRPr>
          </a:p>
        </p:txBody>
      </p:sp>
      <p:sp>
        <p:nvSpPr>
          <p:cNvPr id="107" name="Google Shape;107;p6"/>
          <p:cNvSpPr txBox="1"/>
          <p:nvPr/>
        </p:nvSpPr>
        <p:spPr>
          <a:xfrm>
            <a:off x="5161613" y="15831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Movement mechanism</a:t>
            </a:r>
            <a:endParaRPr sz="1800">
              <a:solidFill>
                <a:schemeClr val="dk2"/>
              </a:solidFill>
            </a:endParaRPr>
          </a:p>
        </p:txBody>
      </p:sp>
      <p:sp>
        <p:nvSpPr>
          <p:cNvPr id="108" name="Google Shape;108;p6"/>
          <p:cNvSpPr/>
          <p:nvPr/>
        </p:nvSpPr>
        <p:spPr>
          <a:xfrm rot="5400000">
            <a:off x="3769388" y="1241550"/>
            <a:ext cx="494400" cy="161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rot="9177100">
            <a:off x="1828984" y="888703"/>
            <a:ext cx="2020046" cy="20984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6"/>
          <p:cNvSpPr txBox="1"/>
          <p:nvPr/>
        </p:nvSpPr>
        <p:spPr>
          <a:xfrm>
            <a:off x="6894100" y="1583100"/>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Visibility</a:t>
            </a:r>
            <a:endParaRPr sz="1800">
              <a:solidFill>
                <a:schemeClr val="dk2"/>
              </a:solidFill>
            </a:endParaRPr>
          </a:p>
        </p:txBody>
      </p:sp>
      <p:sp>
        <p:nvSpPr>
          <p:cNvPr id="111" name="Google Shape;111;p6"/>
          <p:cNvSpPr/>
          <p:nvPr/>
        </p:nvSpPr>
        <p:spPr>
          <a:xfrm rot="907659">
            <a:off x="6403759" y="1083561"/>
            <a:ext cx="863317" cy="20981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6"/>
          <p:cNvSpPr txBox="1"/>
          <p:nvPr/>
        </p:nvSpPr>
        <p:spPr>
          <a:xfrm>
            <a:off x="1534675" y="2772325"/>
            <a:ext cx="14109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Procedure takes &lt;30s.</a:t>
            </a:r>
            <a:endParaRPr b="0" i="0" sz="1800" u="none" cap="none" strike="noStrike">
              <a:solidFill>
                <a:schemeClr val="dk2"/>
              </a:solidFill>
              <a:latin typeface="Arial"/>
              <a:ea typeface="Arial"/>
              <a:cs typeface="Arial"/>
              <a:sym typeface="Arial"/>
            </a:endParaRPr>
          </a:p>
        </p:txBody>
      </p:sp>
      <p:sp>
        <p:nvSpPr>
          <p:cNvPr id="113" name="Google Shape;113;p6"/>
          <p:cNvSpPr txBox="1"/>
          <p:nvPr/>
        </p:nvSpPr>
        <p:spPr>
          <a:xfrm>
            <a:off x="891625" y="3543625"/>
            <a:ext cx="2697000" cy="6933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800">
                <a:solidFill>
                  <a:schemeClr val="dk2"/>
                </a:solidFill>
              </a:rPr>
              <a:t>Can do 5 objects up to 25 g, differently sized</a:t>
            </a:r>
            <a:endParaRPr b="0" i="0" sz="1800" u="none" cap="none" strike="noStrike">
              <a:solidFill>
                <a:schemeClr val="dk2"/>
              </a:solidFill>
              <a:latin typeface="Arial"/>
              <a:ea typeface="Arial"/>
              <a:cs typeface="Arial"/>
              <a:sym typeface="Arial"/>
            </a:endParaRPr>
          </a:p>
        </p:txBody>
      </p:sp>
      <p:sp>
        <p:nvSpPr>
          <p:cNvPr id="114" name="Google Shape;114;p6"/>
          <p:cNvSpPr/>
          <p:nvPr/>
        </p:nvSpPr>
        <p:spPr>
          <a:xfrm rot="7265697">
            <a:off x="2698788" y="2491216"/>
            <a:ext cx="494329" cy="16108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6"/>
          <p:cNvSpPr/>
          <p:nvPr/>
        </p:nvSpPr>
        <p:spPr>
          <a:xfrm rot="3889154">
            <a:off x="1432496" y="2433735"/>
            <a:ext cx="494271" cy="16117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
          <p:cNvSpPr txBox="1"/>
          <p:nvPr/>
        </p:nvSpPr>
        <p:spPr>
          <a:xfrm>
            <a:off x="178275" y="2719500"/>
            <a:ext cx="1069800" cy="4944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900">
                <a:solidFill>
                  <a:schemeClr val="dk2"/>
                </a:solidFill>
              </a:rPr>
              <a:t>Packages are contained inside robot</a:t>
            </a:r>
            <a:endParaRPr sz="900">
              <a:solidFill>
                <a:schemeClr val="dk2"/>
              </a:solidFill>
            </a:endParaRPr>
          </a:p>
        </p:txBody>
      </p:sp>
      <p:sp>
        <p:nvSpPr>
          <p:cNvPr id="117" name="Google Shape;117;p6"/>
          <p:cNvSpPr txBox="1"/>
          <p:nvPr/>
        </p:nvSpPr>
        <p:spPr>
          <a:xfrm>
            <a:off x="4131275" y="2571750"/>
            <a:ext cx="1410900" cy="7899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000">
                <a:solidFill>
                  <a:schemeClr val="dk2"/>
                </a:solidFill>
              </a:rPr>
              <a:t>Roll, pitch, yaw angles cannot exceed 20deg. At any given time</a:t>
            </a:r>
            <a:endParaRPr b="0" i="0" sz="1000" u="none" cap="none" strike="noStrike">
              <a:solidFill>
                <a:schemeClr val="dk2"/>
              </a:solidFill>
              <a:latin typeface="Arial"/>
              <a:ea typeface="Arial"/>
              <a:cs typeface="Arial"/>
              <a:sym typeface="Arial"/>
            </a:endParaRPr>
          </a:p>
        </p:txBody>
      </p:sp>
      <p:sp>
        <p:nvSpPr>
          <p:cNvPr id="118" name="Google Shape;118;p6"/>
          <p:cNvSpPr/>
          <p:nvPr/>
        </p:nvSpPr>
        <p:spPr>
          <a:xfrm rot="6835207">
            <a:off x="4808716" y="2232573"/>
            <a:ext cx="494250" cy="161166"/>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6"/>
          <p:cNvSpPr/>
          <p:nvPr/>
        </p:nvSpPr>
        <p:spPr>
          <a:xfrm rot="7076983">
            <a:off x="604410" y="2433733"/>
            <a:ext cx="494136" cy="16117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6"/>
          <p:cNvSpPr txBox="1"/>
          <p:nvPr/>
        </p:nvSpPr>
        <p:spPr>
          <a:xfrm>
            <a:off x="7815775" y="2626925"/>
            <a:ext cx="1328100" cy="5172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000">
                <a:solidFill>
                  <a:schemeClr val="dk2"/>
                </a:solidFill>
              </a:rPr>
              <a:t>Conforms to ANSI 107-2020 for hi-vis</a:t>
            </a:r>
            <a:endParaRPr b="0" i="0" sz="1000" u="none" cap="none" strike="noStrike">
              <a:solidFill>
                <a:schemeClr val="dk2"/>
              </a:solidFill>
              <a:latin typeface="Arial"/>
              <a:ea typeface="Arial"/>
              <a:cs typeface="Arial"/>
              <a:sym typeface="Arial"/>
            </a:endParaRPr>
          </a:p>
        </p:txBody>
      </p:sp>
      <p:sp>
        <p:nvSpPr>
          <p:cNvPr id="121" name="Google Shape;121;p6"/>
          <p:cNvSpPr/>
          <p:nvPr/>
        </p:nvSpPr>
        <p:spPr>
          <a:xfrm rot="907659">
            <a:off x="7644784" y="2365311"/>
            <a:ext cx="863317" cy="20981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
          <p:cNvSpPr txBox="1"/>
          <p:nvPr/>
        </p:nvSpPr>
        <p:spPr>
          <a:xfrm>
            <a:off x="5778125" y="2571750"/>
            <a:ext cx="1410900" cy="7899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lang="en" sz="1200">
                <a:solidFill>
                  <a:schemeClr val="dk2"/>
                </a:solidFill>
              </a:rPr>
              <a:t>It must be able to cover 10 ft. in 5 minutes</a:t>
            </a:r>
            <a:endParaRPr b="0" i="0" sz="1200" u="none" cap="none" strike="noStrike">
              <a:solidFill>
                <a:schemeClr val="dk2"/>
              </a:solidFill>
              <a:latin typeface="Arial"/>
              <a:ea typeface="Arial"/>
              <a:cs typeface="Arial"/>
              <a:sym typeface="Arial"/>
            </a:endParaRPr>
          </a:p>
        </p:txBody>
      </p:sp>
      <p:sp>
        <p:nvSpPr>
          <p:cNvPr id="123" name="Google Shape;123;p6"/>
          <p:cNvSpPr/>
          <p:nvPr/>
        </p:nvSpPr>
        <p:spPr>
          <a:xfrm rot="4417256">
            <a:off x="6136052" y="2351745"/>
            <a:ext cx="277669" cy="161004"/>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Project Summary</a:t>
            </a:r>
            <a:endParaRPr/>
          </a:p>
        </p:txBody>
      </p:sp>
      <p:sp>
        <p:nvSpPr>
          <p:cNvPr id="129" name="Google Shape;129;p7"/>
          <p:cNvSpPr txBox="1"/>
          <p:nvPr/>
        </p:nvSpPr>
        <p:spPr>
          <a:xfrm>
            <a:off x="687900" y="959025"/>
            <a:ext cx="7768200" cy="35217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Create a 1 paragraph “Project Summary” that clearly communicates the target user or group you are designing for, the emotions that user or group needs you to create with your design, and a few key requirements for your design. </a:t>
            </a:r>
            <a:endParaRPr b="0" i="0" sz="12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lang="en" sz="1200">
                <a:solidFill>
                  <a:srgbClr val="FF0000"/>
                </a:solidFill>
              </a:rPr>
              <a:t>We think users need our products to achieve orderly distribution of packages, and they need the items to be placed stably on the ground. The key requirements are that the transport robot must have high efficiency, secondly the transport robot must be stable, and finally he should be visible.</a:t>
            </a:r>
            <a:endParaRPr sz="1200">
              <a:solidFill>
                <a:srgbClr val="FF0000"/>
              </a:solidFil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