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zWwJgk74zJwGcg8TjBjYUobwl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c502edca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g39c502edca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c44176b14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39c44176b14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c502edcaf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39c502edcaf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c7d87099c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9c7d87099c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 name="Google Shape;2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3"/>
          <p:cNvSpPr/>
          <p:nvPr>
            <p:ph idx="2" type="pic"/>
          </p:nvPr>
        </p:nvSpPr>
        <p:spPr>
          <a:xfrm>
            <a:off x="5183188" y="987425"/>
            <a:ext cx="6172200" cy="4873625"/>
          </a:xfrm>
          <a:prstGeom prst="rect">
            <a:avLst/>
          </a:prstGeom>
          <a:noFill/>
          <a:ln>
            <a:noFill/>
          </a:ln>
        </p:spPr>
      </p:sp>
      <p:sp>
        <p:nvSpPr>
          <p:cNvPr id="62" name="Google Shape;62;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hyperlink" Target="http://www.youtube.com/watch?v=XFBUUrkGtQM" TargetMode="External"/><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hyperlink" Target="http://drive.google.com/file/d/1aH6RmeRxGoEVeCR7nZDxNseAoUE9XMsU/view" TargetMode="External"/><Relationship Id="rId6" Type="http://schemas.openxmlformats.org/officeDocument/2006/relationships/image" Target="../media/image4.png"/><Relationship Id="rId7" Type="http://schemas.openxmlformats.org/officeDocument/2006/relationships/image" Target="../media/image14.png"/><Relationship Id="rId8"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6"/>
          <p:cNvSpPr/>
          <p:nvPr/>
        </p:nvSpPr>
        <p:spPr>
          <a:xfrm flipH="1" rot="10800000">
            <a:off x="-1" y="8163"/>
            <a:ext cx="12192000" cy="6858000"/>
          </a:xfrm>
          <a:prstGeom prst="rect">
            <a:avLst/>
          </a:prstGeom>
          <a:gradFill>
            <a:gsLst>
              <a:gs pos="0">
                <a:srgbClr val="1B4284"/>
              </a:gs>
              <a:gs pos="100000">
                <a:srgbClr val="13294B"/>
              </a:gs>
            </a:gsLst>
            <a:lin ang="189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newspaper&#10;&#10;Description automatically generated" id="83" name="Google Shape;83;p26"/>
          <p:cNvPicPr preferRelativeResize="0"/>
          <p:nvPr/>
        </p:nvPicPr>
        <p:blipFill rotWithShape="1">
          <a:blip r:embed="rId3">
            <a:alphaModFix amt="30000"/>
          </a:blip>
          <a:srcRect b="0" l="0" r="0" t="0"/>
          <a:stretch/>
        </p:blipFill>
        <p:spPr>
          <a:xfrm>
            <a:off x="0" y="8164"/>
            <a:ext cx="12192000" cy="6858000"/>
          </a:xfrm>
          <a:prstGeom prst="rect">
            <a:avLst/>
          </a:prstGeom>
          <a:noFill/>
          <a:ln>
            <a:noFill/>
          </a:ln>
        </p:spPr>
      </p:pic>
      <p:sp>
        <p:nvSpPr>
          <p:cNvPr id="84" name="Google Shape;84;p26"/>
          <p:cNvSpPr txBox="1"/>
          <p:nvPr/>
        </p:nvSpPr>
        <p:spPr>
          <a:xfrm>
            <a:off x="1134033" y="2211064"/>
            <a:ext cx="9924000" cy="2847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600"/>
              </a:spcBef>
              <a:spcAft>
                <a:spcPts val="0"/>
              </a:spcAft>
              <a:buNone/>
            </a:pPr>
            <a:r>
              <a:rPr b="0" i="0" lang="en-US" sz="4000" u="none" cap="none" strike="noStrike">
                <a:solidFill>
                  <a:schemeClr val="lt1"/>
                </a:solidFill>
                <a:latin typeface="Arial"/>
                <a:ea typeface="Arial"/>
                <a:cs typeface="Arial"/>
                <a:sym typeface="Arial"/>
              </a:rPr>
              <a:t>ME 370</a:t>
            </a:r>
            <a:endParaRPr/>
          </a:p>
          <a:p>
            <a:pPr indent="0" lvl="0" marL="0" marR="0" rtl="0" algn="ctr">
              <a:lnSpc>
                <a:spcPct val="100000"/>
              </a:lnSpc>
              <a:spcBef>
                <a:spcPts val="600"/>
              </a:spcBef>
              <a:spcAft>
                <a:spcPts val="0"/>
              </a:spcAft>
              <a:buNone/>
            </a:pPr>
            <a:r>
              <a:rPr b="1" lang="en-US" sz="4000">
                <a:solidFill>
                  <a:schemeClr val="lt1"/>
                </a:solidFill>
              </a:rPr>
              <a:t>Package Dispensing Legged Robot</a:t>
            </a:r>
            <a:endParaRPr b="0" i="0" sz="4000" u="none" cap="none" strike="noStrike">
              <a:solidFill>
                <a:schemeClr val="lt1"/>
              </a:solidFill>
              <a:latin typeface="Arial"/>
              <a:ea typeface="Arial"/>
              <a:cs typeface="Arial"/>
              <a:sym typeface="Arial"/>
            </a:endParaRPr>
          </a:p>
          <a:p>
            <a:pPr indent="0" lvl="0" marL="0" rtl="0" algn="ctr">
              <a:spcBef>
                <a:spcPts val="0"/>
              </a:spcBef>
              <a:spcAft>
                <a:spcPts val="0"/>
              </a:spcAft>
              <a:buNone/>
            </a:pPr>
            <a:r>
              <a:rPr lang="en-US" sz="2400">
                <a:solidFill>
                  <a:schemeClr val="lt1"/>
                </a:solidFill>
              </a:rPr>
              <a:t>(Team 48: Sebastian Missong, Daniel Koltchev,Shihong Yuan, Liangbing Zhao)</a:t>
            </a:r>
            <a:endParaRPr sz="2400">
              <a:solidFill>
                <a:schemeClr val="lt1"/>
              </a:solidFill>
            </a:endParaRPr>
          </a:p>
          <a:p>
            <a:pPr indent="0" lvl="0" marL="0" marR="0" rtl="0" algn="ctr">
              <a:lnSpc>
                <a:spcPct val="100000"/>
              </a:lnSpc>
              <a:spcBef>
                <a:spcPts val="60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None/>
            </a:pPr>
            <a:r>
              <a:t/>
            </a:r>
            <a:endParaRPr b="0" i="0" sz="1800" u="none" cap="none" strike="noStrike">
              <a:solidFill>
                <a:srgbClr val="000000"/>
              </a:solidFill>
              <a:latin typeface="Arial"/>
              <a:ea typeface="Arial"/>
              <a:cs typeface="Arial"/>
              <a:sym typeface="Arial"/>
            </a:endParaRPr>
          </a:p>
        </p:txBody>
      </p:sp>
      <p:pic>
        <p:nvPicPr>
          <p:cNvPr descr="A picture containing drawing&#10;&#10;Description automatically generated" id="85" name="Google Shape;85;p26"/>
          <p:cNvPicPr preferRelativeResize="0"/>
          <p:nvPr/>
        </p:nvPicPr>
        <p:blipFill rotWithShape="1">
          <a:blip r:embed="rId4">
            <a:alphaModFix/>
          </a:blip>
          <a:srcRect b="0" l="0" r="0" t="0"/>
          <a:stretch/>
        </p:blipFill>
        <p:spPr>
          <a:xfrm>
            <a:off x="4641007" y="852965"/>
            <a:ext cx="2909982" cy="754082"/>
          </a:xfrm>
          <a:prstGeom prst="rect">
            <a:avLst/>
          </a:prstGeom>
          <a:noFill/>
          <a:ln>
            <a:noFill/>
          </a:ln>
        </p:spPr>
      </p:pic>
      <p:sp>
        <p:nvSpPr>
          <p:cNvPr id="86" name="Google Shape;86;p26"/>
          <p:cNvSpPr txBox="1"/>
          <p:nvPr/>
        </p:nvSpPr>
        <p:spPr>
          <a:xfrm>
            <a:off x="3922059" y="5413888"/>
            <a:ext cx="4347900" cy="369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800"/>
              <a:buFont typeface="Arial"/>
              <a:buNone/>
            </a:pPr>
            <a:r>
              <a:rPr lang="en-US" sz="1800">
                <a:solidFill>
                  <a:schemeClr val="lt1"/>
                </a:solidFill>
              </a:rPr>
              <a:t>10/24/2025</a:t>
            </a:r>
            <a:endParaRPr sz="1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8"/>
          <p:cNvSpPr txBox="1"/>
          <p:nvPr>
            <p:ph idx="1" type="body"/>
          </p:nvPr>
        </p:nvSpPr>
        <p:spPr>
          <a:xfrm>
            <a:off x="376809" y="1334279"/>
            <a:ext cx="11177401" cy="482110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b="1" lang="en-US" sz="2600">
                <a:solidFill>
                  <a:srgbClr val="E84B36"/>
                </a:solidFill>
                <a:latin typeface="Arial"/>
                <a:ea typeface="Arial"/>
                <a:cs typeface="Arial"/>
                <a:sym typeface="Arial"/>
              </a:rPr>
              <a:t>Theme </a:t>
            </a:r>
            <a:r>
              <a:rPr b="1" lang="en-US" sz="2600">
                <a:solidFill>
                  <a:srgbClr val="E84B36"/>
                </a:solidFill>
                <a:latin typeface="Arial"/>
                <a:ea typeface="Arial"/>
                <a:cs typeface="Arial"/>
                <a:sym typeface="Arial"/>
              </a:rPr>
              <a:t>Considerations:</a:t>
            </a:r>
            <a:endParaRPr b="1" sz="2600">
              <a:solidFill>
                <a:srgbClr val="E84B36"/>
              </a:solidFill>
              <a:latin typeface="Arial"/>
              <a:ea typeface="Arial"/>
              <a:cs typeface="Arial"/>
              <a:sym typeface="Arial"/>
            </a:endParaRPr>
          </a:p>
          <a:p>
            <a:pPr indent="-342900" lvl="0" marL="457200" rtl="0" algn="l">
              <a:lnSpc>
                <a:spcPct val="100000"/>
              </a:lnSpc>
              <a:spcBef>
                <a:spcPts val="0"/>
              </a:spcBef>
              <a:spcAft>
                <a:spcPts val="0"/>
              </a:spcAft>
              <a:buSzPts val="1800"/>
              <a:buFont typeface="Arial"/>
              <a:buAutoNum type="arabicPeriod"/>
            </a:pPr>
            <a:r>
              <a:rPr b="1" lang="en-US" sz="1800">
                <a:latin typeface="Arial"/>
                <a:ea typeface="Arial"/>
                <a:cs typeface="Arial"/>
                <a:sym typeface="Arial"/>
              </a:rPr>
              <a:t>Visibility</a:t>
            </a:r>
            <a:endParaRPr b="1"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Easy to distinguish in operating environment</a:t>
            </a:r>
            <a:endParaRPr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Remove risk of collision with people</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b="1" lang="en-US" sz="1800">
                <a:latin typeface="Arial"/>
                <a:ea typeface="Arial"/>
                <a:cs typeface="Arial"/>
                <a:sym typeface="Arial"/>
              </a:rPr>
              <a:t>Compatibility</a:t>
            </a:r>
            <a:endParaRPr b="1" sz="1800">
              <a:latin typeface="Arial"/>
              <a:ea typeface="Arial"/>
              <a:cs typeface="Arial"/>
              <a:sym typeface="Arial"/>
            </a:endParaRPr>
          </a:p>
          <a:p>
            <a:pPr indent="0" lvl="0" marL="457200" rtl="0" algn="l">
              <a:lnSpc>
                <a:spcPct val="100000"/>
              </a:lnSpc>
              <a:spcBef>
                <a:spcPts val="0"/>
              </a:spcBef>
              <a:spcAft>
                <a:spcPts val="0"/>
              </a:spcAft>
              <a:buNone/>
            </a:pPr>
            <a:r>
              <a:rPr lang="en-US" sz="1800">
                <a:latin typeface="Arial"/>
                <a:ea typeface="Arial"/>
                <a:cs typeface="Arial"/>
                <a:sym typeface="Arial"/>
              </a:rPr>
              <a:t>a.    Deliver packages of different sizes</a:t>
            </a:r>
            <a:endParaRPr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0" lvl="0" marL="0" rtl="0" algn="l">
              <a:lnSpc>
                <a:spcPct val="100000"/>
              </a:lnSpc>
              <a:spcBef>
                <a:spcPts val="0"/>
              </a:spcBef>
              <a:spcAft>
                <a:spcPts val="0"/>
              </a:spcAft>
              <a:buClr>
                <a:schemeClr val="dk1"/>
              </a:buClr>
              <a:buSzPts val="3000"/>
              <a:buFont typeface="Arial"/>
              <a:buNone/>
            </a:pPr>
            <a:r>
              <a:rPr b="1" lang="en-US" sz="2600">
                <a:solidFill>
                  <a:srgbClr val="E84B36"/>
                </a:solidFill>
                <a:latin typeface="Arial"/>
                <a:ea typeface="Arial"/>
                <a:cs typeface="Arial"/>
                <a:sym typeface="Arial"/>
              </a:rPr>
              <a:t>Technical Considerations:</a:t>
            </a:r>
            <a:endParaRPr b="1" sz="2600">
              <a:solidFill>
                <a:srgbClr val="E84B36"/>
              </a:solidFill>
              <a:latin typeface="Arial"/>
              <a:ea typeface="Arial"/>
              <a:cs typeface="Arial"/>
              <a:sym typeface="Arial"/>
            </a:endParaRPr>
          </a:p>
          <a:p>
            <a:pPr indent="-342900" lvl="0" marL="457200" rtl="0" algn="l">
              <a:lnSpc>
                <a:spcPct val="100000"/>
              </a:lnSpc>
              <a:spcBef>
                <a:spcPts val="0"/>
              </a:spcBef>
              <a:spcAft>
                <a:spcPts val="0"/>
              </a:spcAft>
              <a:buSzPts val="1800"/>
              <a:buFont typeface="Arial"/>
              <a:buAutoNum type="arabicPeriod"/>
            </a:pPr>
            <a:r>
              <a:rPr lang="en-US" sz="1800">
                <a:latin typeface="Arial"/>
                <a:ea typeface="Arial"/>
                <a:cs typeface="Arial"/>
                <a:sym typeface="Arial"/>
              </a:rPr>
              <a:t>Low center of mass for balance and no rollover.</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lang="en-US" sz="1800">
                <a:latin typeface="Arial"/>
                <a:ea typeface="Arial"/>
                <a:cs typeface="Arial"/>
                <a:sym typeface="Arial"/>
              </a:rPr>
              <a:t>Place the package every 2 meters. High accuracy.</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lang="en-US" sz="1800">
                <a:latin typeface="Arial"/>
                <a:ea typeface="Arial"/>
                <a:cs typeface="Arial"/>
                <a:sym typeface="Arial"/>
              </a:rPr>
              <a:t>Pushing down the package quickly not cause any lag. Gear ratio and partial gear</a:t>
            </a:r>
            <a:endParaRPr sz="1800">
              <a:latin typeface="Arial"/>
              <a:ea typeface="Arial"/>
              <a:cs typeface="Arial"/>
              <a:sym typeface="Arial"/>
            </a:endParaRPr>
          </a:p>
        </p:txBody>
      </p:sp>
      <p:sp>
        <p:nvSpPr>
          <p:cNvPr id="92" name="Google Shape;92;p28"/>
          <p:cNvSpPr/>
          <p:nvPr/>
        </p:nvSpPr>
        <p:spPr>
          <a:xfrm flipH="1" rot="10800000">
            <a:off x="0" y="6437013"/>
            <a:ext cx="12192000" cy="420987"/>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93" name="Google Shape;93;p28"/>
          <p:cNvSpPr txBox="1"/>
          <p:nvPr/>
        </p:nvSpPr>
        <p:spPr>
          <a:xfrm>
            <a:off x="376807" y="6486281"/>
            <a:ext cx="3505062" cy="2307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94" name="Google Shape;94;p28"/>
          <p:cNvSpPr txBox="1"/>
          <p:nvPr/>
        </p:nvSpPr>
        <p:spPr>
          <a:xfrm>
            <a:off x="9335597" y="6524381"/>
            <a:ext cx="2473415" cy="23079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95" name="Google Shape;95;p28"/>
          <p:cNvSpPr/>
          <p:nvPr/>
        </p:nvSpPr>
        <p:spPr>
          <a:xfrm flipH="1" rot="10800000">
            <a:off x="0" y="-7695"/>
            <a:ext cx="12192000" cy="868218"/>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96" name="Google Shape;96;p28"/>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97" name="Google Shape;97;p28"/>
          <p:cNvSpPr txBox="1"/>
          <p:nvPr/>
        </p:nvSpPr>
        <p:spPr>
          <a:xfrm>
            <a:off x="376810" y="204051"/>
            <a:ext cx="10910026"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lt1"/>
                </a:solidFill>
              </a:rPr>
              <a:t>Desired Outcomes For </a:t>
            </a:r>
            <a:r>
              <a:rPr lang="en-US" sz="2400">
                <a:solidFill>
                  <a:schemeClr val="lt1"/>
                </a:solidFill>
              </a:rPr>
              <a:t>Dispensing Robot</a:t>
            </a:r>
            <a:endParaRPr b="0" i="0" sz="2400" u="none" cap="none" strike="noStrike">
              <a:solidFill>
                <a:schemeClr val="lt1"/>
              </a:solidFill>
              <a:latin typeface="Arial"/>
              <a:ea typeface="Arial"/>
              <a:cs typeface="Arial"/>
              <a:sym typeface="Arial"/>
            </a:endParaRPr>
          </a:p>
        </p:txBody>
      </p:sp>
      <p:sp>
        <p:nvSpPr>
          <p:cNvPr id="98" name="Google Shape;98;p28"/>
          <p:cNvSpPr txBox="1"/>
          <p:nvPr/>
        </p:nvSpPr>
        <p:spPr>
          <a:xfrm>
            <a:off x="4447106" y="6485888"/>
            <a:ext cx="2661503" cy="307777"/>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lang="en-US">
                <a:solidFill>
                  <a:schemeClr val="dk1"/>
                </a:solidFill>
              </a:rPr>
              <a:t>Daniel Koltchev</a:t>
            </a:r>
            <a:endParaRPr/>
          </a:p>
        </p:txBody>
      </p:sp>
      <p:sp>
        <p:nvSpPr>
          <p:cNvPr id="99" name="Google Shape;99;p28"/>
          <p:cNvSpPr txBox="1"/>
          <p:nvPr>
            <p:ph idx="12" type="sldNum"/>
          </p:nvPr>
        </p:nvSpPr>
        <p:spPr>
          <a:xfrm>
            <a:off x="8591550" y="6442075"/>
            <a:ext cx="666750" cy="355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pic>
        <p:nvPicPr>
          <p:cNvPr id="100" name="Google Shape;100;p28"/>
          <p:cNvPicPr preferRelativeResize="0"/>
          <p:nvPr/>
        </p:nvPicPr>
        <p:blipFill>
          <a:blip r:embed="rId4">
            <a:alphaModFix/>
          </a:blip>
          <a:stretch>
            <a:fillRect/>
          </a:stretch>
        </p:blipFill>
        <p:spPr>
          <a:xfrm>
            <a:off x="9365888" y="1004500"/>
            <a:ext cx="2115850" cy="1632674"/>
          </a:xfrm>
          <a:prstGeom prst="rect">
            <a:avLst/>
          </a:prstGeom>
          <a:noFill/>
          <a:ln>
            <a:noFill/>
          </a:ln>
        </p:spPr>
      </p:pic>
      <p:pic>
        <p:nvPicPr>
          <p:cNvPr id="101" name="Google Shape;101;p28" title="1509a4f3a1998bc2ba050fd02bb36046.png"/>
          <p:cNvPicPr preferRelativeResize="0"/>
          <p:nvPr/>
        </p:nvPicPr>
        <p:blipFill>
          <a:blip r:embed="rId5">
            <a:alphaModFix/>
          </a:blip>
          <a:stretch>
            <a:fillRect/>
          </a:stretch>
        </p:blipFill>
        <p:spPr>
          <a:xfrm>
            <a:off x="9406786" y="2930675"/>
            <a:ext cx="2331026" cy="143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9c502edcaf_0_0"/>
          <p:cNvSpPr txBox="1"/>
          <p:nvPr>
            <p:ph idx="1" type="body"/>
          </p:nvPr>
        </p:nvSpPr>
        <p:spPr>
          <a:xfrm>
            <a:off x="376809" y="1334279"/>
            <a:ext cx="11177400" cy="482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b="1" lang="en-US" sz="2600">
                <a:solidFill>
                  <a:srgbClr val="E84B36"/>
                </a:solidFill>
                <a:latin typeface="Arial"/>
                <a:ea typeface="Arial"/>
                <a:cs typeface="Arial"/>
                <a:sym typeface="Arial"/>
              </a:rPr>
              <a:t>Dispensing</a:t>
            </a:r>
            <a:endParaRPr b="1" sz="2600">
              <a:solidFill>
                <a:srgbClr val="E84B36"/>
              </a:solidFill>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b="1" lang="en-US" sz="1800">
                <a:latin typeface="Arial"/>
                <a:ea typeface="Arial"/>
                <a:cs typeface="Arial"/>
                <a:sym typeface="Arial"/>
              </a:rPr>
              <a:t>Robustness</a:t>
            </a:r>
            <a:endParaRPr b="1"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Crank, pusher, and pushrod link must be able to handle the </a:t>
            </a:r>
            <a:r>
              <a:rPr lang="en-US" sz="1800">
                <a:latin typeface="Arial"/>
                <a:ea typeface="Arial"/>
                <a:cs typeface="Arial"/>
                <a:sym typeface="Arial"/>
              </a:rPr>
              <a:t>weight of the 5 packages and still operate smoothly</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b="1" lang="en-US" sz="1800">
                <a:latin typeface="Arial"/>
                <a:ea typeface="Arial"/>
                <a:cs typeface="Arial"/>
                <a:sym typeface="Arial"/>
              </a:rPr>
              <a:t>Compactness</a:t>
            </a:r>
            <a:endParaRPr b="1"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The majority of the robot volume should be for the packages, not the mechanisms to dispense them</a:t>
            </a:r>
            <a:endParaRPr sz="1800">
              <a:latin typeface="Arial"/>
              <a:ea typeface="Arial"/>
              <a:cs typeface="Arial"/>
              <a:sym typeface="Arial"/>
            </a:endParaRPr>
          </a:p>
          <a:p>
            <a:pPr indent="-342900" lvl="2" marL="1371600" rtl="0" algn="l">
              <a:lnSpc>
                <a:spcPct val="100000"/>
              </a:lnSpc>
              <a:spcBef>
                <a:spcPts val="0"/>
              </a:spcBef>
              <a:spcAft>
                <a:spcPts val="0"/>
              </a:spcAft>
              <a:buSzPts val="1800"/>
              <a:buFont typeface="Arial"/>
              <a:buAutoNum type="romanLcPeriod"/>
            </a:pPr>
            <a:r>
              <a:rPr lang="en-US" sz="1800">
                <a:latin typeface="Arial"/>
                <a:ea typeface="Arial"/>
                <a:cs typeface="Arial"/>
                <a:sym typeface="Arial"/>
              </a:rPr>
              <a:t>Purpose of the robot</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b="1" lang="en-US" sz="1800">
                <a:latin typeface="Arial"/>
                <a:ea typeface="Arial"/>
                <a:cs typeface="Arial"/>
                <a:sym typeface="Arial"/>
              </a:rPr>
              <a:t>Quick Operation</a:t>
            </a:r>
            <a:endParaRPr b="1"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Dispensing packages quickly at drop-off intervals</a:t>
            </a:r>
            <a:endParaRPr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Not slowly pushing the package and it falling off by itself after certain distance</a:t>
            </a:r>
            <a:endParaRPr sz="1800">
              <a:latin typeface="Arial"/>
              <a:ea typeface="Arial"/>
              <a:cs typeface="Arial"/>
              <a:sym typeface="Arial"/>
            </a:endParaRPr>
          </a:p>
        </p:txBody>
      </p:sp>
      <p:sp>
        <p:nvSpPr>
          <p:cNvPr id="107" name="Google Shape;107;g39c502edcaf_0_0"/>
          <p:cNvSpPr/>
          <p:nvPr/>
        </p:nvSpPr>
        <p:spPr>
          <a:xfrm flipH="1" rot="10800000">
            <a:off x="0" y="6437100"/>
            <a:ext cx="12192000" cy="420900"/>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108" name="Google Shape;108;g39c502edcaf_0_0"/>
          <p:cNvSpPr txBox="1"/>
          <p:nvPr/>
        </p:nvSpPr>
        <p:spPr>
          <a:xfrm>
            <a:off x="376807" y="6486281"/>
            <a:ext cx="350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109" name="Google Shape;109;g39c502edcaf_0_0"/>
          <p:cNvSpPr txBox="1"/>
          <p:nvPr/>
        </p:nvSpPr>
        <p:spPr>
          <a:xfrm>
            <a:off x="9335597" y="6524381"/>
            <a:ext cx="2473500" cy="230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110" name="Google Shape;110;g39c502edcaf_0_0"/>
          <p:cNvSpPr/>
          <p:nvPr/>
        </p:nvSpPr>
        <p:spPr>
          <a:xfrm flipH="1" rot="10800000">
            <a:off x="0" y="-7677"/>
            <a:ext cx="12192000" cy="868200"/>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111" name="Google Shape;111;g39c502edcaf_0_0"/>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112" name="Google Shape;112;g39c502edcaf_0_0"/>
          <p:cNvSpPr txBox="1"/>
          <p:nvPr/>
        </p:nvSpPr>
        <p:spPr>
          <a:xfrm>
            <a:off x="376810" y="204051"/>
            <a:ext cx="1091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lt1"/>
                </a:solidFill>
              </a:rPr>
              <a:t>Desired Outcomes For Dispensing Robot</a:t>
            </a:r>
            <a:endParaRPr b="0" i="0" sz="2400" u="none" cap="none" strike="noStrike">
              <a:solidFill>
                <a:schemeClr val="lt1"/>
              </a:solidFill>
              <a:latin typeface="Arial"/>
              <a:ea typeface="Arial"/>
              <a:cs typeface="Arial"/>
              <a:sym typeface="Arial"/>
            </a:endParaRPr>
          </a:p>
        </p:txBody>
      </p:sp>
      <p:sp>
        <p:nvSpPr>
          <p:cNvPr id="113" name="Google Shape;113;g39c502edcaf_0_0"/>
          <p:cNvSpPr txBox="1"/>
          <p:nvPr/>
        </p:nvSpPr>
        <p:spPr>
          <a:xfrm>
            <a:off x="4447106" y="6485888"/>
            <a:ext cx="2661600" cy="307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lang="en-US">
                <a:solidFill>
                  <a:schemeClr val="dk1"/>
                </a:solidFill>
              </a:rPr>
              <a:t>Daniel Koltchev</a:t>
            </a:r>
            <a:endParaRPr/>
          </a:p>
        </p:txBody>
      </p:sp>
      <p:sp>
        <p:nvSpPr>
          <p:cNvPr id="114" name="Google Shape;114;g39c502edcaf_0_0"/>
          <p:cNvSpPr txBox="1"/>
          <p:nvPr>
            <p:ph idx="12" type="sldNum"/>
          </p:nvPr>
        </p:nvSpPr>
        <p:spPr>
          <a:xfrm>
            <a:off x="8591550" y="6442075"/>
            <a:ext cx="666900" cy="355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9"/>
          <p:cNvPicPr preferRelativeResize="0"/>
          <p:nvPr/>
        </p:nvPicPr>
        <p:blipFill>
          <a:blip r:embed="rId3">
            <a:alphaModFix/>
          </a:blip>
          <a:stretch>
            <a:fillRect/>
          </a:stretch>
        </p:blipFill>
        <p:spPr>
          <a:xfrm>
            <a:off x="7587649" y="3675938"/>
            <a:ext cx="3915975" cy="2712476"/>
          </a:xfrm>
          <a:prstGeom prst="rect">
            <a:avLst/>
          </a:prstGeom>
          <a:noFill/>
          <a:ln>
            <a:noFill/>
          </a:ln>
        </p:spPr>
      </p:pic>
      <p:sp>
        <p:nvSpPr>
          <p:cNvPr id="120" name="Google Shape;120;p29"/>
          <p:cNvSpPr txBox="1"/>
          <p:nvPr>
            <p:ph idx="1" type="body"/>
          </p:nvPr>
        </p:nvSpPr>
        <p:spPr>
          <a:xfrm>
            <a:off x="376804" y="1334275"/>
            <a:ext cx="6792900" cy="482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b="1" lang="en-US" sz="2600">
                <a:solidFill>
                  <a:srgbClr val="E84B36"/>
                </a:solidFill>
                <a:latin typeface="Arial"/>
                <a:ea typeface="Arial"/>
                <a:cs typeface="Arial"/>
                <a:sym typeface="Arial"/>
              </a:rPr>
              <a:t>Overview</a:t>
            </a:r>
            <a:endParaRPr b="1" sz="2600">
              <a:solidFill>
                <a:srgbClr val="E84B36"/>
              </a:solidFill>
              <a:latin typeface="Arial"/>
              <a:ea typeface="Arial"/>
              <a:cs typeface="Arial"/>
              <a:sym typeface="Arial"/>
            </a:endParaRPr>
          </a:p>
          <a:p>
            <a:pPr indent="-342900" lvl="0" marL="457200" rtl="0" algn="l">
              <a:lnSpc>
                <a:spcPct val="150000"/>
              </a:lnSpc>
              <a:spcBef>
                <a:spcPts val="0"/>
              </a:spcBef>
              <a:spcAft>
                <a:spcPts val="0"/>
              </a:spcAft>
              <a:buClr>
                <a:schemeClr val="dk1"/>
              </a:buClr>
              <a:buSzPts val="1800"/>
              <a:buFont typeface="Arial"/>
              <a:buChar char="•"/>
            </a:pPr>
            <a:r>
              <a:rPr lang="en-US" sz="1800">
                <a:latin typeface="Arial"/>
                <a:ea typeface="Arial"/>
                <a:cs typeface="Arial"/>
                <a:sym typeface="Arial"/>
              </a:rPr>
              <a:t>Move crank for dispensing mechanism to be horizontal -&gt; create more space for legs motion and drivetrain</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Use partial gear on crank to allow for dispensing every 2 m</a:t>
            </a:r>
            <a:endParaRPr sz="1800">
              <a:latin typeface="Arial"/>
              <a:ea typeface="Arial"/>
              <a:cs typeface="Arial"/>
              <a:sym typeface="Arial"/>
            </a:endParaRPr>
          </a:p>
          <a:p>
            <a:pPr indent="-342900" lvl="1" marL="914400" rtl="0" algn="l">
              <a:lnSpc>
                <a:spcPct val="150000"/>
              </a:lnSpc>
              <a:spcBef>
                <a:spcPts val="0"/>
              </a:spcBef>
              <a:spcAft>
                <a:spcPts val="0"/>
              </a:spcAft>
              <a:buSzPts val="1800"/>
              <a:buFont typeface="Arial"/>
              <a:buChar char="•"/>
            </a:pPr>
            <a:r>
              <a:rPr lang="en-US" sz="1800">
                <a:latin typeface="Arial"/>
                <a:ea typeface="Arial"/>
                <a:cs typeface="Arial"/>
                <a:sym typeface="Arial"/>
              </a:rPr>
              <a:t>Less often then leg movement but movement needs to be quick</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Two passive wheels and two legs</a:t>
            </a:r>
            <a:endParaRPr sz="1800">
              <a:latin typeface="Arial"/>
              <a:ea typeface="Arial"/>
              <a:cs typeface="Arial"/>
              <a:sym typeface="Arial"/>
            </a:endParaRPr>
          </a:p>
          <a:p>
            <a:pPr indent="-342900" lvl="1" marL="914400" rtl="0" algn="l">
              <a:lnSpc>
                <a:spcPct val="150000"/>
              </a:lnSpc>
              <a:spcBef>
                <a:spcPts val="0"/>
              </a:spcBef>
              <a:spcAft>
                <a:spcPts val="0"/>
              </a:spcAft>
              <a:buSzPts val="1800"/>
              <a:buFont typeface="Arial"/>
              <a:buChar char="•"/>
            </a:pPr>
            <a:r>
              <a:rPr lang="en-US" sz="1800">
                <a:latin typeface="Arial"/>
                <a:ea typeface="Arial"/>
                <a:cs typeface="Arial"/>
                <a:sym typeface="Arial"/>
              </a:rPr>
              <a:t>Klann linkage</a:t>
            </a:r>
            <a:endParaRPr sz="1800">
              <a:latin typeface="Arial"/>
              <a:ea typeface="Arial"/>
              <a:cs typeface="Arial"/>
              <a:sym typeface="Arial"/>
            </a:endParaRPr>
          </a:p>
          <a:p>
            <a:pPr indent="-342900" lvl="1" marL="914400" rtl="0" algn="l">
              <a:lnSpc>
                <a:spcPct val="150000"/>
              </a:lnSpc>
              <a:spcBef>
                <a:spcPts val="0"/>
              </a:spcBef>
              <a:spcAft>
                <a:spcPts val="0"/>
              </a:spcAft>
              <a:buSzPts val="1800"/>
              <a:buFont typeface="Arial"/>
              <a:buChar char="•"/>
            </a:pPr>
            <a:r>
              <a:rPr lang="en-US" sz="1800">
                <a:latin typeface="Arial"/>
                <a:ea typeface="Arial"/>
                <a:cs typeface="Arial"/>
                <a:sym typeface="Arial"/>
              </a:rPr>
              <a:t>Legs out of phase so always 3 points of contact</a:t>
            </a:r>
            <a:endParaRPr sz="1800">
              <a:latin typeface="Arial"/>
              <a:ea typeface="Arial"/>
              <a:cs typeface="Arial"/>
              <a:sym typeface="Arial"/>
            </a:endParaRPr>
          </a:p>
          <a:p>
            <a:pPr indent="0" lvl="0" marL="0" rtl="0" algn="l">
              <a:lnSpc>
                <a:spcPct val="100000"/>
              </a:lnSpc>
              <a:spcBef>
                <a:spcPts val="0"/>
              </a:spcBef>
              <a:spcAft>
                <a:spcPts val="0"/>
              </a:spcAft>
              <a:buSzPts val="3000"/>
              <a:buNone/>
            </a:pPr>
            <a:r>
              <a:t/>
            </a:r>
            <a:endParaRPr/>
          </a:p>
        </p:txBody>
      </p:sp>
      <p:sp>
        <p:nvSpPr>
          <p:cNvPr id="121" name="Google Shape;121;p29"/>
          <p:cNvSpPr/>
          <p:nvPr/>
        </p:nvSpPr>
        <p:spPr>
          <a:xfrm flipH="1" rot="10800000">
            <a:off x="0" y="6443455"/>
            <a:ext cx="12192000" cy="420987"/>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122" name="Google Shape;122;p29"/>
          <p:cNvSpPr txBox="1"/>
          <p:nvPr/>
        </p:nvSpPr>
        <p:spPr>
          <a:xfrm>
            <a:off x="376807" y="6524381"/>
            <a:ext cx="7991337" cy="2307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123" name="Google Shape;123;p29"/>
          <p:cNvSpPr txBox="1"/>
          <p:nvPr/>
        </p:nvSpPr>
        <p:spPr>
          <a:xfrm>
            <a:off x="9335597" y="6524381"/>
            <a:ext cx="2473415" cy="23079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124" name="Google Shape;124;p29"/>
          <p:cNvSpPr/>
          <p:nvPr/>
        </p:nvSpPr>
        <p:spPr>
          <a:xfrm flipH="1" rot="10800000">
            <a:off x="0" y="-7695"/>
            <a:ext cx="12192000" cy="868218"/>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125" name="Google Shape;125;p29"/>
          <p:cNvPicPr preferRelativeResize="0"/>
          <p:nvPr/>
        </p:nvPicPr>
        <p:blipFill rotWithShape="1">
          <a:blip r:embed="rId4">
            <a:alphaModFix/>
          </a:blip>
          <a:srcRect b="0" l="0" r="0" t="0"/>
          <a:stretch/>
        </p:blipFill>
        <p:spPr>
          <a:xfrm>
            <a:off x="11554210" y="228014"/>
            <a:ext cx="277906" cy="401420"/>
          </a:xfrm>
          <a:prstGeom prst="rect">
            <a:avLst/>
          </a:prstGeom>
          <a:noFill/>
          <a:ln>
            <a:noFill/>
          </a:ln>
        </p:spPr>
      </p:pic>
      <p:sp>
        <p:nvSpPr>
          <p:cNvPr id="126" name="Google Shape;126;p29"/>
          <p:cNvSpPr txBox="1"/>
          <p:nvPr/>
        </p:nvSpPr>
        <p:spPr>
          <a:xfrm>
            <a:off x="376810" y="204051"/>
            <a:ext cx="10910026"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lt1"/>
                </a:solidFill>
              </a:rPr>
              <a:t>Idea 1</a:t>
            </a:r>
            <a:endParaRPr b="0" i="0" sz="2400" u="none" cap="none" strike="noStrike">
              <a:solidFill>
                <a:schemeClr val="lt1"/>
              </a:solidFill>
              <a:latin typeface="Arial"/>
              <a:ea typeface="Arial"/>
              <a:cs typeface="Arial"/>
              <a:sym typeface="Arial"/>
            </a:endParaRPr>
          </a:p>
        </p:txBody>
      </p:sp>
      <p:sp>
        <p:nvSpPr>
          <p:cNvPr id="127" name="Google Shape;127;p29"/>
          <p:cNvSpPr txBox="1"/>
          <p:nvPr/>
        </p:nvSpPr>
        <p:spPr>
          <a:xfrm>
            <a:off x="4447106" y="6485888"/>
            <a:ext cx="26615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t>Sebastian</a:t>
            </a:r>
            <a:endParaRPr/>
          </a:p>
        </p:txBody>
      </p:sp>
      <p:sp>
        <p:nvSpPr>
          <p:cNvPr id="128" name="Google Shape;128;p29"/>
          <p:cNvSpPr txBox="1"/>
          <p:nvPr>
            <p:ph idx="12" type="sldNum"/>
          </p:nvPr>
        </p:nvSpPr>
        <p:spPr>
          <a:xfrm>
            <a:off x="8591550" y="6442075"/>
            <a:ext cx="666750" cy="355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sp>
        <p:nvSpPr>
          <p:cNvPr id="129" name="Google Shape;129;p29"/>
          <p:cNvSpPr txBox="1"/>
          <p:nvPr/>
        </p:nvSpPr>
        <p:spPr>
          <a:xfrm>
            <a:off x="8066475" y="3399975"/>
            <a:ext cx="29583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Isometric View of Complete Walker</a:t>
            </a:r>
            <a:endParaRPr sz="1200">
              <a:solidFill>
                <a:schemeClr val="dk1"/>
              </a:solidFill>
            </a:endParaRPr>
          </a:p>
        </p:txBody>
      </p:sp>
      <p:sp>
        <p:nvSpPr>
          <p:cNvPr id="130" name="Google Shape;130;p29"/>
          <p:cNvSpPr txBox="1"/>
          <p:nvPr/>
        </p:nvSpPr>
        <p:spPr>
          <a:xfrm>
            <a:off x="7898788" y="6080625"/>
            <a:ext cx="35415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Isometric View of Walker with One Wall Removed</a:t>
            </a:r>
            <a:endParaRPr sz="1200">
              <a:solidFill>
                <a:schemeClr val="dk1"/>
              </a:solidFill>
            </a:endParaRPr>
          </a:p>
        </p:txBody>
      </p:sp>
      <p:pic>
        <p:nvPicPr>
          <p:cNvPr id="131" name="Google Shape;131;p29"/>
          <p:cNvPicPr preferRelativeResize="0"/>
          <p:nvPr/>
        </p:nvPicPr>
        <p:blipFill>
          <a:blip r:embed="rId5">
            <a:alphaModFix/>
          </a:blip>
          <a:stretch>
            <a:fillRect/>
          </a:stretch>
        </p:blipFill>
        <p:spPr>
          <a:xfrm>
            <a:off x="7517500" y="676587"/>
            <a:ext cx="3769326" cy="2712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9c44176b14_0_4"/>
          <p:cNvSpPr txBox="1"/>
          <p:nvPr>
            <p:ph idx="1" type="body"/>
          </p:nvPr>
        </p:nvSpPr>
        <p:spPr>
          <a:xfrm>
            <a:off x="376804" y="1334275"/>
            <a:ext cx="6792900" cy="482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b="1" lang="en-US" sz="2600">
                <a:solidFill>
                  <a:srgbClr val="E84B36"/>
                </a:solidFill>
                <a:latin typeface="Arial"/>
                <a:ea typeface="Arial"/>
                <a:cs typeface="Arial"/>
                <a:sym typeface="Arial"/>
              </a:rPr>
              <a:t>Drivetrain</a:t>
            </a:r>
            <a:endParaRPr b="1" sz="2600">
              <a:solidFill>
                <a:srgbClr val="E84B36"/>
              </a:solidFill>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Gears connecting motor to leg driveshaft for legs</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Bevel gear reduction off of leg driveshaft to partial gear </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Partial gear connects to much smaller gear on crank</a:t>
            </a:r>
            <a:endParaRPr sz="1800">
              <a:latin typeface="Arial"/>
              <a:ea typeface="Arial"/>
              <a:cs typeface="Arial"/>
              <a:sym typeface="Arial"/>
            </a:endParaRPr>
          </a:p>
          <a:p>
            <a:pPr indent="-342900" lvl="1" marL="914400" rtl="0" algn="l">
              <a:lnSpc>
                <a:spcPct val="150000"/>
              </a:lnSpc>
              <a:spcBef>
                <a:spcPts val="0"/>
              </a:spcBef>
              <a:spcAft>
                <a:spcPts val="0"/>
              </a:spcAft>
              <a:buSzPts val="1800"/>
              <a:buFont typeface="Arial"/>
              <a:buChar char="•"/>
            </a:pPr>
            <a:r>
              <a:rPr lang="en-US" sz="1800">
                <a:latin typeface="Arial"/>
                <a:ea typeface="Arial"/>
                <a:cs typeface="Arial"/>
                <a:sym typeface="Arial"/>
              </a:rPr>
              <a:t>Crank gear must be small enough so all of partial gear motion corresponds to 1 full crank rotation</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Shaft collars used to constrain driveshafts</a:t>
            </a:r>
            <a:endParaRPr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0" lvl="0" marL="0" rtl="0" algn="l">
              <a:lnSpc>
                <a:spcPct val="100000"/>
              </a:lnSpc>
              <a:spcBef>
                <a:spcPts val="0"/>
              </a:spcBef>
              <a:spcAft>
                <a:spcPts val="0"/>
              </a:spcAft>
              <a:buSzPts val="3000"/>
              <a:buNone/>
            </a:pPr>
            <a:r>
              <a:t/>
            </a:r>
            <a:endParaRPr/>
          </a:p>
        </p:txBody>
      </p:sp>
      <p:sp>
        <p:nvSpPr>
          <p:cNvPr id="137" name="Google Shape;137;g39c44176b14_0_4"/>
          <p:cNvSpPr/>
          <p:nvPr/>
        </p:nvSpPr>
        <p:spPr>
          <a:xfrm flipH="1" rot="10800000">
            <a:off x="0" y="6443542"/>
            <a:ext cx="12192000" cy="420900"/>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138" name="Google Shape;138;g39c44176b14_0_4"/>
          <p:cNvSpPr txBox="1"/>
          <p:nvPr/>
        </p:nvSpPr>
        <p:spPr>
          <a:xfrm>
            <a:off x="376807" y="6524381"/>
            <a:ext cx="7991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139" name="Google Shape;139;g39c44176b14_0_4"/>
          <p:cNvSpPr txBox="1"/>
          <p:nvPr/>
        </p:nvSpPr>
        <p:spPr>
          <a:xfrm>
            <a:off x="9335597" y="6524381"/>
            <a:ext cx="2473500" cy="230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140" name="Google Shape;140;g39c44176b14_0_4"/>
          <p:cNvSpPr/>
          <p:nvPr/>
        </p:nvSpPr>
        <p:spPr>
          <a:xfrm flipH="1" rot="10800000">
            <a:off x="0" y="-7677"/>
            <a:ext cx="12192000" cy="868200"/>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141" name="Google Shape;141;g39c44176b14_0_4"/>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142" name="Google Shape;142;g39c44176b14_0_4"/>
          <p:cNvSpPr txBox="1"/>
          <p:nvPr/>
        </p:nvSpPr>
        <p:spPr>
          <a:xfrm>
            <a:off x="376810" y="204051"/>
            <a:ext cx="1091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lt1"/>
                </a:solidFill>
              </a:rPr>
              <a:t>Idea 1</a:t>
            </a:r>
            <a:endParaRPr b="0" i="0" sz="2400" u="none" cap="none" strike="noStrike">
              <a:solidFill>
                <a:schemeClr val="lt1"/>
              </a:solidFill>
              <a:latin typeface="Arial"/>
              <a:ea typeface="Arial"/>
              <a:cs typeface="Arial"/>
              <a:sym typeface="Arial"/>
            </a:endParaRPr>
          </a:p>
        </p:txBody>
      </p:sp>
      <p:sp>
        <p:nvSpPr>
          <p:cNvPr id="143" name="Google Shape;143;g39c44176b14_0_4"/>
          <p:cNvSpPr txBox="1"/>
          <p:nvPr/>
        </p:nvSpPr>
        <p:spPr>
          <a:xfrm>
            <a:off x="4447106" y="6485888"/>
            <a:ext cx="266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t>Sebastian</a:t>
            </a:r>
            <a:endParaRPr/>
          </a:p>
        </p:txBody>
      </p:sp>
      <p:sp>
        <p:nvSpPr>
          <p:cNvPr id="144" name="Google Shape;144;g39c44176b14_0_4"/>
          <p:cNvSpPr txBox="1"/>
          <p:nvPr>
            <p:ph idx="12" type="sldNum"/>
          </p:nvPr>
        </p:nvSpPr>
        <p:spPr>
          <a:xfrm>
            <a:off x="8591550" y="6442075"/>
            <a:ext cx="666900" cy="355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sp>
        <p:nvSpPr>
          <p:cNvPr id="145" name="Google Shape;145;g39c44176b14_0_4"/>
          <p:cNvSpPr txBox="1"/>
          <p:nvPr/>
        </p:nvSpPr>
        <p:spPr>
          <a:xfrm>
            <a:off x="8885550" y="3400013"/>
            <a:ext cx="9528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Front View </a:t>
            </a:r>
            <a:endParaRPr sz="1200">
              <a:solidFill>
                <a:schemeClr val="dk1"/>
              </a:solidFill>
            </a:endParaRPr>
          </a:p>
        </p:txBody>
      </p:sp>
      <p:pic>
        <p:nvPicPr>
          <p:cNvPr id="146" name="Google Shape;146;g39c44176b14_0_4"/>
          <p:cNvPicPr preferRelativeResize="0"/>
          <p:nvPr/>
        </p:nvPicPr>
        <p:blipFill>
          <a:blip r:embed="rId4">
            <a:alphaModFix/>
          </a:blip>
          <a:stretch>
            <a:fillRect/>
          </a:stretch>
        </p:blipFill>
        <p:spPr>
          <a:xfrm>
            <a:off x="8031149" y="204057"/>
            <a:ext cx="2661599" cy="3224839"/>
          </a:xfrm>
          <a:prstGeom prst="rect">
            <a:avLst/>
          </a:prstGeom>
          <a:noFill/>
          <a:ln>
            <a:noFill/>
          </a:ln>
        </p:spPr>
      </p:pic>
      <p:pic>
        <p:nvPicPr>
          <p:cNvPr id="147" name="Google Shape;147;g39c44176b14_0_4"/>
          <p:cNvPicPr preferRelativeResize="0"/>
          <p:nvPr/>
        </p:nvPicPr>
        <p:blipFill rotWithShape="1">
          <a:blip r:embed="rId5">
            <a:alphaModFix/>
          </a:blip>
          <a:srcRect b="7218" l="43123" r="0" t="0"/>
          <a:stretch/>
        </p:blipFill>
        <p:spPr>
          <a:xfrm>
            <a:off x="5769550" y="3428900"/>
            <a:ext cx="2661601" cy="2680601"/>
          </a:xfrm>
          <a:prstGeom prst="rect">
            <a:avLst/>
          </a:prstGeom>
          <a:noFill/>
          <a:ln>
            <a:noFill/>
          </a:ln>
        </p:spPr>
      </p:pic>
      <p:sp>
        <p:nvSpPr>
          <p:cNvPr id="148" name="Google Shape;148;g39c44176b14_0_4"/>
          <p:cNvSpPr txBox="1"/>
          <p:nvPr/>
        </p:nvSpPr>
        <p:spPr>
          <a:xfrm>
            <a:off x="6241091" y="5906625"/>
            <a:ext cx="8676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Side View </a:t>
            </a:r>
            <a:endParaRPr sz="1200">
              <a:solidFill>
                <a:schemeClr val="dk1"/>
              </a:solidFill>
            </a:endParaRPr>
          </a:p>
        </p:txBody>
      </p:sp>
      <p:pic>
        <p:nvPicPr>
          <p:cNvPr id="149" name="Google Shape;149;g39c44176b14_0_4"/>
          <p:cNvPicPr preferRelativeResize="0"/>
          <p:nvPr/>
        </p:nvPicPr>
        <p:blipFill>
          <a:blip r:embed="rId6">
            <a:alphaModFix/>
          </a:blip>
          <a:stretch>
            <a:fillRect/>
          </a:stretch>
        </p:blipFill>
        <p:spPr>
          <a:xfrm>
            <a:off x="8973951" y="3720750"/>
            <a:ext cx="2835146" cy="2429463"/>
          </a:xfrm>
          <a:prstGeom prst="rect">
            <a:avLst/>
          </a:prstGeom>
          <a:noFill/>
          <a:ln>
            <a:noFill/>
          </a:ln>
        </p:spPr>
      </p:pic>
      <p:sp>
        <p:nvSpPr>
          <p:cNvPr id="150" name="Google Shape;150;g39c44176b14_0_4"/>
          <p:cNvSpPr txBox="1"/>
          <p:nvPr/>
        </p:nvSpPr>
        <p:spPr>
          <a:xfrm>
            <a:off x="9318725" y="6109500"/>
            <a:ext cx="21456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Detailed View of Partial Gear</a:t>
            </a:r>
            <a:endParaRPr sz="1200">
              <a:solidFill>
                <a:schemeClr val="dk1"/>
              </a:solidFill>
            </a:endParaRPr>
          </a:p>
        </p:txBody>
      </p:sp>
      <p:pic>
        <p:nvPicPr>
          <p:cNvPr id="151" name="Google Shape;151;g39c44176b14_0_4"/>
          <p:cNvPicPr preferRelativeResize="0"/>
          <p:nvPr/>
        </p:nvPicPr>
        <p:blipFill>
          <a:blip r:embed="rId7">
            <a:alphaModFix/>
          </a:blip>
          <a:stretch>
            <a:fillRect/>
          </a:stretch>
        </p:blipFill>
        <p:spPr>
          <a:xfrm>
            <a:off x="2565149" y="4137825"/>
            <a:ext cx="2661600" cy="1878175"/>
          </a:xfrm>
          <a:prstGeom prst="rect">
            <a:avLst/>
          </a:prstGeom>
          <a:noFill/>
          <a:ln>
            <a:noFill/>
          </a:ln>
        </p:spPr>
      </p:pic>
      <p:sp>
        <p:nvSpPr>
          <p:cNvPr id="152" name="Google Shape;152;g39c44176b14_0_4"/>
          <p:cNvSpPr txBox="1"/>
          <p:nvPr/>
        </p:nvSpPr>
        <p:spPr>
          <a:xfrm>
            <a:off x="3492675" y="58758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rPr>
              <a:t>Path</a:t>
            </a:r>
            <a:r>
              <a:rPr lang="en-US" sz="1200">
                <a:solidFill>
                  <a:schemeClr val="dk1"/>
                </a:solidFill>
              </a:rPr>
              <a:t> </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9c502edcaf_0_12"/>
          <p:cNvSpPr txBox="1"/>
          <p:nvPr>
            <p:ph idx="1" type="body"/>
          </p:nvPr>
        </p:nvSpPr>
        <p:spPr>
          <a:xfrm>
            <a:off x="315409" y="1281954"/>
            <a:ext cx="11177400" cy="482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b="1" lang="en-US" sz="2600">
                <a:solidFill>
                  <a:srgbClr val="E84B36"/>
                </a:solidFill>
                <a:latin typeface="Arial"/>
                <a:ea typeface="Arial"/>
                <a:cs typeface="Arial"/>
                <a:sym typeface="Arial"/>
              </a:rPr>
              <a:t>Walking Mechanics</a:t>
            </a:r>
            <a:endParaRPr b="1" sz="2600">
              <a:solidFill>
                <a:srgbClr val="E84B36"/>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sz="1800">
              <a:solidFill>
                <a:schemeClr val="dk1"/>
              </a:solidFill>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b="1" lang="en-US" sz="1800">
                <a:latin typeface="Arial"/>
                <a:ea typeface="Arial"/>
                <a:cs typeface="Arial"/>
                <a:sym typeface="Arial"/>
              </a:rPr>
              <a:t>Stability</a:t>
            </a:r>
            <a:endParaRPr b="1" sz="1800">
              <a:latin typeface="Arial"/>
              <a:ea typeface="Arial"/>
              <a:cs typeface="Arial"/>
              <a:sym typeface="Arial"/>
            </a:endParaRPr>
          </a:p>
          <a:p>
            <a:pPr indent="-342900" lvl="1" marL="914400" rtl="0" algn="l">
              <a:lnSpc>
                <a:spcPct val="100000"/>
              </a:lnSpc>
              <a:spcBef>
                <a:spcPts val="0"/>
              </a:spcBef>
              <a:spcAft>
                <a:spcPts val="0"/>
              </a:spcAft>
              <a:buSzPts val="1800"/>
              <a:buFont typeface="Arial"/>
              <a:buAutoNum type="alphaLcPeriod"/>
            </a:pPr>
            <a:r>
              <a:rPr lang="en-US" sz="1800">
                <a:latin typeface="Arial"/>
                <a:ea typeface="Arial"/>
                <a:cs typeface="Arial"/>
                <a:sym typeface="Arial"/>
              </a:rPr>
              <a:t>Ensure that packages stay stable</a:t>
            </a:r>
            <a:endParaRPr sz="1800">
              <a:latin typeface="Arial"/>
              <a:ea typeface="Arial"/>
              <a:cs typeface="Arial"/>
              <a:sym typeface="Arial"/>
            </a:endParaRPr>
          </a:p>
          <a:p>
            <a:pPr indent="-342900" lvl="2" marL="1371600" rtl="0" algn="l">
              <a:lnSpc>
                <a:spcPct val="100000"/>
              </a:lnSpc>
              <a:spcBef>
                <a:spcPts val="0"/>
              </a:spcBef>
              <a:spcAft>
                <a:spcPts val="0"/>
              </a:spcAft>
              <a:buSzPts val="1800"/>
              <a:buFont typeface="Arial"/>
              <a:buAutoNum type="romanLcPeriod"/>
            </a:pPr>
            <a:r>
              <a:rPr lang="en-US" sz="1800">
                <a:latin typeface="Arial"/>
                <a:ea typeface="Arial"/>
                <a:cs typeface="Arial"/>
                <a:sym typeface="Arial"/>
              </a:rPr>
              <a:t>Instability can disturb operation of dispensing mechanism</a:t>
            </a:r>
            <a:endParaRPr sz="1800">
              <a:latin typeface="Arial"/>
              <a:ea typeface="Arial"/>
              <a:cs typeface="Arial"/>
              <a:sym typeface="Arial"/>
            </a:endParaRPr>
          </a:p>
          <a:p>
            <a:pPr indent="-342900" lvl="0" marL="457200" rtl="0" algn="l">
              <a:lnSpc>
                <a:spcPct val="100000"/>
              </a:lnSpc>
              <a:spcBef>
                <a:spcPts val="0"/>
              </a:spcBef>
              <a:spcAft>
                <a:spcPts val="0"/>
              </a:spcAft>
              <a:buSzPts val="1800"/>
              <a:buAutoNum type="arabicPeriod"/>
            </a:pPr>
            <a:r>
              <a:rPr b="1" lang="en-US" sz="1800">
                <a:latin typeface="Arial"/>
                <a:ea typeface="Arial"/>
                <a:cs typeface="Arial"/>
                <a:sym typeface="Arial"/>
              </a:rPr>
              <a:t>Smooth Motion</a:t>
            </a:r>
            <a:endParaRPr b="1" sz="1800">
              <a:latin typeface="Arial"/>
              <a:ea typeface="Arial"/>
              <a:cs typeface="Arial"/>
              <a:sym typeface="Arial"/>
            </a:endParaRPr>
          </a:p>
          <a:p>
            <a:pPr indent="-342900" lvl="1" marL="914400" rtl="0" algn="l">
              <a:lnSpc>
                <a:spcPct val="100000"/>
              </a:lnSpc>
              <a:spcBef>
                <a:spcPts val="0"/>
              </a:spcBef>
              <a:spcAft>
                <a:spcPts val="0"/>
              </a:spcAft>
              <a:buSzPts val="1800"/>
              <a:buAutoNum type="alphaLcPeriod"/>
            </a:pPr>
            <a:r>
              <a:rPr lang="en-US" sz="1800">
                <a:latin typeface="Arial"/>
                <a:ea typeface="Arial"/>
                <a:cs typeface="Arial"/>
                <a:sym typeface="Arial"/>
              </a:rPr>
              <a:t>Klann linkage</a:t>
            </a:r>
            <a:endParaRPr sz="1800">
              <a:latin typeface="Arial"/>
              <a:ea typeface="Arial"/>
              <a:cs typeface="Arial"/>
              <a:sym typeface="Arial"/>
            </a:endParaRPr>
          </a:p>
          <a:p>
            <a:pPr indent="0" lvl="0" marL="0" rtl="0" algn="l">
              <a:lnSpc>
                <a:spcPct val="100000"/>
              </a:lnSpc>
              <a:spcBef>
                <a:spcPts val="0"/>
              </a:spcBef>
              <a:spcAft>
                <a:spcPts val="0"/>
              </a:spcAft>
              <a:buNone/>
            </a:pPr>
            <a:r>
              <a:t/>
            </a:r>
            <a:endParaRPr b="1" sz="1800">
              <a:latin typeface="Arial"/>
              <a:ea typeface="Arial"/>
              <a:cs typeface="Arial"/>
              <a:sym typeface="Arial"/>
            </a:endParaRPr>
          </a:p>
          <a:p>
            <a:pPr indent="0" lvl="0" marL="0" rtl="0" algn="l">
              <a:lnSpc>
                <a:spcPct val="100000"/>
              </a:lnSpc>
              <a:spcBef>
                <a:spcPts val="0"/>
              </a:spcBef>
              <a:spcAft>
                <a:spcPts val="0"/>
              </a:spcAft>
              <a:buNone/>
            </a:pPr>
            <a:r>
              <a:t/>
            </a:r>
            <a:endParaRPr b="1"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p:txBody>
      </p:sp>
      <p:sp>
        <p:nvSpPr>
          <p:cNvPr id="158" name="Google Shape;158;g39c502edcaf_0_12"/>
          <p:cNvSpPr/>
          <p:nvPr/>
        </p:nvSpPr>
        <p:spPr>
          <a:xfrm flipH="1" rot="10800000">
            <a:off x="0" y="6437100"/>
            <a:ext cx="12192000" cy="420900"/>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159" name="Google Shape;159;g39c502edcaf_0_12"/>
          <p:cNvSpPr txBox="1"/>
          <p:nvPr/>
        </p:nvSpPr>
        <p:spPr>
          <a:xfrm>
            <a:off x="376807" y="6486281"/>
            <a:ext cx="350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160" name="Google Shape;160;g39c502edcaf_0_12"/>
          <p:cNvSpPr txBox="1"/>
          <p:nvPr/>
        </p:nvSpPr>
        <p:spPr>
          <a:xfrm>
            <a:off x="9335597" y="6524381"/>
            <a:ext cx="2473500" cy="230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161" name="Google Shape;161;g39c502edcaf_0_12"/>
          <p:cNvSpPr/>
          <p:nvPr/>
        </p:nvSpPr>
        <p:spPr>
          <a:xfrm flipH="1" rot="10800000">
            <a:off x="0" y="-7677"/>
            <a:ext cx="12192000" cy="868200"/>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162" name="Google Shape;162;g39c502edcaf_0_12"/>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163" name="Google Shape;163;g39c502edcaf_0_12"/>
          <p:cNvSpPr txBox="1"/>
          <p:nvPr/>
        </p:nvSpPr>
        <p:spPr>
          <a:xfrm>
            <a:off x="376810" y="204051"/>
            <a:ext cx="1091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lt1"/>
                </a:solidFill>
              </a:rPr>
              <a:t>Idea 1 </a:t>
            </a:r>
            <a:endParaRPr b="0" i="0" sz="2400" u="none" cap="none" strike="noStrike">
              <a:solidFill>
                <a:schemeClr val="lt1"/>
              </a:solidFill>
              <a:latin typeface="Arial"/>
              <a:ea typeface="Arial"/>
              <a:cs typeface="Arial"/>
              <a:sym typeface="Arial"/>
            </a:endParaRPr>
          </a:p>
        </p:txBody>
      </p:sp>
      <p:sp>
        <p:nvSpPr>
          <p:cNvPr id="164" name="Google Shape;164;g39c502edcaf_0_12"/>
          <p:cNvSpPr txBox="1"/>
          <p:nvPr/>
        </p:nvSpPr>
        <p:spPr>
          <a:xfrm>
            <a:off x="4447106" y="6485888"/>
            <a:ext cx="2661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a:t>Daniel Koltchev</a:t>
            </a:r>
            <a:endParaRPr/>
          </a:p>
        </p:txBody>
      </p:sp>
      <p:sp>
        <p:nvSpPr>
          <p:cNvPr id="165" name="Google Shape;165;g39c502edcaf_0_12"/>
          <p:cNvSpPr txBox="1"/>
          <p:nvPr>
            <p:ph idx="12" type="sldNum"/>
          </p:nvPr>
        </p:nvSpPr>
        <p:spPr>
          <a:xfrm>
            <a:off x="8591550" y="6442075"/>
            <a:ext cx="666900" cy="355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pic>
        <p:nvPicPr>
          <p:cNvPr descr="This is our bachelor assignment. Our objective was to design and construct a walking mechanism. We chose to use the Klann mechanism for the design of the legs. The robot is made out of steel and aluminium. The gears and the legs were lasercut by a specialized company, all other parts were made by hand. &#10; &#10;Special thanks to ing. Timothy Galle and Ir. Yeczain Pérez for helping us with the production of the robot.&#10;&#10;Music: betamax defender composed by C.P. Bryan  provided by freesoundtrackmusic.com" id="166" name="Google Shape;166;g39c502edcaf_0_12" title="Walking Robot Project - Klann Mechanism">
            <a:hlinkClick r:id="rId4"/>
          </p:cNvPr>
          <p:cNvPicPr preferRelativeResize="0"/>
          <p:nvPr/>
        </p:nvPicPr>
        <p:blipFill>
          <a:blip r:embed="rId5">
            <a:alphaModFix/>
          </a:blip>
          <a:stretch>
            <a:fillRect/>
          </a:stretch>
        </p:blipFill>
        <p:spPr>
          <a:xfrm>
            <a:off x="5262663" y="2997800"/>
            <a:ext cx="5880225" cy="3307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idx="1" type="body"/>
          </p:nvPr>
        </p:nvSpPr>
        <p:spPr>
          <a:xfrm>
            <a:off x="376800" y="1125200"/>
            <a:ext cx="7018800" cy="482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b="1" lang="en-US" sz="2600">
                <a:solidFill>
                  <a:srgbClr val="E84B36"/>
                </a:solidFill>
                <a:latin typeface="Arial"/>
                <a:ea typeface="Arial"/>
                <a:cs typeface="Arial"/>
                <a:sym typeface="Arial"/>
              </a:rPr>
              <a:t>Overview</a:t>
            </a:r>
            <a:endParaRPr b="1" sz="2600">
              <a:solidFill>
                <a:srgbClr val="E84B36"/>
              </a:solidFill>
              <a:latin typeface="Arial"/>
              <a:ea typeface="Arial"/>
              <a:cs typeface="Arial"/>
              <a:sym typeface="Arial"/>
            </a:endParaRPr>
          </a:p>
          <a:p>
            <a:pPr indent="0" lvl="0" marL="0" rtl="0" algn="l">
              <a:lnSpc>
                <a:spcPct val="100000"/>
              </a:lnSpc>
              <a:spcBef>
                <a:spcPts val="0"/>
              </a:spcBef>
              <a:spcAft>
                <a:spcPts val="0"/>
              </a:spcAft>
              <a:buNone/>
            </a:pPr>
            <a:r>
              <a:t/>
            </a:r>
            <a:endParaRPr b="1" sz="1800"/>
          </a:p>
          <a:p>
            <a:pPr indent="-361950" lvl="0" marL="457200" rtl="0" algn="l">
              <a:lnSpc>
                <a:spcPct val="100000"/>
              </a:lnSpc>
              <a:spcBef>
                <a:spcPts val="0"/>
              </a:spcBef>
              <a:spcAft>
                <a:spcPts val="0"/>
              </a:spcAft>
              <a:buSzPts val="2100"/>
              <a:buChar char="•"/>
            </a:pPr>
            <a:r>
              <a:rPr b="1" lang="en-US" sz="2100"/>
              <a:t>Drivetrain Mechanism (why not 1:39 but 5:35 )</a:t>
            </a:r>
            <a:endParaRPr b="1" sz="2100"/>
          </a:p>
          <a:p>
            <a:pPr indent="-323850" lvl="1" marL="914400" rtl="0" algn="l">
              <a:lnSpc>
                <a:spcPct val="100000"/>
              </a:lnSpc>
              <a:spcBef>
                <a:spcPts val="0"/>
              </a:spcBef>
              <a:spcAft>
                <a:spcPts val="0"/>
              </a:spcAft>
              <a:buSzPts val="1500"/>
              <a:buFont typeface="Calibri"/>
              <a:buChar char="•"/>
            </a:pPr>
            <a:r>
              <a:rPr b="1" lang="en-US" sz="1500"/>
              <a:t>Partial geer transmission </a:t>
            </a:r>
            <a:endParaRPr b="1" sz="1500"/>
          </a:p>
          <a:p>
            <a:pPr indent="-323850" lvl="1" marL="914400" rtl="0" algn="l">
              <a:lnSpc>
                <a:spcPct val="100000"/>
              </a:lnSpc>
              <a:spcBef>
                <a:spcPts val="0"/>
              </a:spcBef>
              <a:spcAft>
                <a:spcPts val="0"/>
              </a:spcAft>
              <a:buSzPts val="1500"/>
              <a:buChar char="•"/>
            </a:pPr>
            <a:r>
              <a:rPr b="1" lang="en-US" sz="1500"/>
              <a:t>Total Cycle:</a:t>
            </a:r>
            <a:r>
              <a:rPr lang="en-US" sz="1500"/>
              <a:t> 40 rotations of the leg gear.</a:t>
            </a:r>
            <a:endParaRPr sz="1500"/>
          </a:p>
          <a:p>
            <a:pPr indent="-323850" lvl="1" marL="914400" rtl="0" algn="l">
              <a:lnSpc>
                <a:spcPct val="100000"/>
              </a:lnSpc>
              <a:spcBef>
                <a:spcPts val="0"/>
              </a:spcBef>
              <a:spcAft>
                <a:spcPts val="0"/>
              </a:spcAft>
              <a:buSzPts val="1500"/>
              <a:buChar char="•"/>
            </a:pPr>
            <a:r>
              <a:rPr b="1" lang="en-US" sz="1500"/>
              <a:t>Phase 1 (5 rotations):</a:t>
            </a:r>
            <a:r>
              <a:rPr lang="en-US" sz="1500"/>
              <a:t> Dispenser is engaged, completing one full action.</a:t>
            </a:r>
            <a:endParaRPr sz="1500"/>
          </a:p>
          <a:p>
            <a:pPr indent="-323850" lvl="1" marL="914400" rtl="0" algn="l">
              <a:lnSpc>
                <a:spcPct val="100000"/>
              </a:lnSpc>
              <a:spcBef>
                <a:spcPts val="0"/>
              </a:spcBef>
              <a:spcAft>
                <a:spcPts val="0"/>
              </a:spcAft>
              <a:buSzPts val="1500"/>
              <a:buChar char="•"/>
            </a:pPr>
            <a:r>
              <a:rPr b="1" lang="en-US" sz="1500"/>
              <a:t>Phase 2 (35 rotations):</a:t>
            </a:r>
            <a:r>
              <a:rPr lang="en-US" sz="1500"/>
              <a:t> Dispenser idles</a:t>
            </a:r>
            <a:r>
              <a:rPr lang="en-US" sz="1500"/>
              <a:t>.</a:t>
            </a:r>
            <a:endParaRPr sz="1500"/>
          </a:p>
          <a:p>
            <a:pPr indent="-361950" lvl="0" marL="457200" rtl="0" algn="l">
              <a:lnSpc>
                <a:spcPct val="100000"/>
              </a:lnSpc>
              <a:spcBef>
                <a:spcPts val="0"/>
              </a:spcBef>
              <a:spcAft>
                <a:spcPts val="0"/>
              </a:spcAft>
              <a:buSzPts val="2100"/>
              <a:buChar char="•"/>
            </a:pPr>
            <a:r>
              <a:rPr b="1" lang="en-US" sz="2100"/>
              <a:t>Leg </a:t>
            </a:r>
            <a:r>
              <a:rPr b="1" lang="en-US" sz="2100"/>
              <a:t>Mechanism (Balance)</a:t>
            </a:r>
            <a:endParaRPr b="1" sz="2100"/>
          </a:p>
          <a:p>
            <a:pPr indent="-323850" lvl="1" marL="914400" rtl="0" algn="l">
              <a:lnSpc>
                <a:spcPct val="100000"/>
              </a:lnSpc>
              <a:spcBef>
                <a:spcPts val="0"/>
              </a:spcBef>
              <a:spcAft>
                <a:spcPts val="0"/>
              </a:spcAft>
              <a:buSzPts val="1500"/>
              <a:buChar char="•"/>
            </a:pPr>
            <a:r>
              <a:rPr lang="en-US" sz="1500">
                <a:solidFill>
                  <a:srgbClr val="202122"/>
                </a:solidFill>
                <a:highlight>
                  <a:srgbClr val="FFFFFF"/>
                </a:highlight>
              </a:rPr>
              <a:t>Chebyshev's plantigrade machine</a:t>
            </a:r>
            <a:endParaRPr sz="1500"/>
          </a:p>
          <a:p>
            <a:pPr indent="-361950" lvl="0" marL="457200" rtl="0" algn="l">
              <a:lnSpc>
                <a:spcPct val="100000"/>
              </a:lnSpc>
              <a:spcBef>
                <a:spcPts val="0"/>
              </a:spcBef>
              <a:spcAft>
                <a:spcPts val="0"/>
              </a:spcAft>
              <a:buSzPts val="2100"/>
              <a:buChar char="•"/>
            </a:pPr>
            <a:r>
              <a:rPr b="1" lang="en-US" sz="2100"/>
              <a:t>Placement (Top View)</a:t>
            </a:r>
            <a:endParaRPr b="1" sz="2100"/>
          </a:p>
          <a:p>
            <a:pPr indent="-323850" lvl="1" marL="914400" marR="0" rtl="0" algn="l">
              <a:lnSpc>
                <a:spcPct val="100000"/>
              </a:lnSpc>
              <a:spcBef>
                <a:spcPts val="0"/>
              </a:spcBef>
              <a:spcAft>
                <a:spcPts val="0"/>
              </a:spcAft>
              <a:buSzPts val="1500"/>
              <a:buChar char="•"/>
            </a:pPr>
            <a:r>
              <a:rPr b="1" lang="en-US" sz="1500">
                <a:latin typeface="Arial"/>
                <a:ea typeface="Arial"/>
                <a:cs typeface="Arial"/>
                <a:sym typeface="Arial"/>
              </a:rPr>
              <a:t>Top Half: </a:t>
            </a:r>
            <a:r>
              <a:rPr lang="en-US" sz="1500">
                <a:latin typeface="Arial"/>
                <a:ea typeface="Arial"/>
                <a:cs typeface="Arial"/>
                <a:sym typeface="Arial"/>
              </a:rPr>
              <a:t>Drivetrain &amp; Motor</a:t>
            </a:r>
            <a:endParaRPr sz="1500">
              <a:latin typeface="Arial"/>
              <a:ea typeface="Arial"/>
              <a:cs typeface="Arial"/>
              <a:sym typeface="Arial"/>
            </a:endParaRPr>
          </a:p>
          <a:p>
            <a:pPr indent="-323850" lvl="1" marL="914400" marR="0" rtl="0" algn="l">
              <a:lnSpc>
                <a:spcPct val="100000"/>
              </a:lnSpc>
              <a:spcBef>
                <a:spcPts val="0"/>
              </a:spcBef>
              <a:spcAft>
                <a:spcPts val="0"/>
              </a:spcAft>
              <a:buSzPts val="1500"/>
              <a:buChar char="•"/>
            </a:pPr>
            <a:r>
              <a:rPr b="1" lang="en-US" sz="1500">
                <a:latin typeface="Arial"/>
                <a:ea typeface="Arial"/>
                <a:cs typeface="Arial"/>
                <a:sym typeface="Arial"/>
              </a:rPr>
              <a:t>Bottom Left: </a:t>
            </a:r>
            <a:r>
              <a:rPr lang="en-US" sz="1500">
                <a:latin typeface="Arial"/>
                <a:ea typeface="Arial"/>
                <a:cs typeface="Arial"/>
                <a:sym typeface="Arial"/>
              </a:rPr>
              <a:t>Dispensing Mechanism</a:t>
            </a:r>
            <a:endParaRPr sz="1500">
              <a:latin typeface="Arial"/>
              <a:ea typeface="Arial"/>
              <a:cs typeface="Arial"/>
              <a:sym typeface="Arial"/>
            </a:endParaRPr>
          </a:p>
          <a:p>
            <a:pPr indent="-323850" lvl="1" marL="914400" marR="0" rtl="0" algn="l">
              <a:lnSpc>
                <a:spcPct val="100000"/>
              </a:lnSpc>
              <a:spcBef>
                <a:spcPts val="0"/>
              </a:spcBef>
              <a:spcAft>
                <a:spcPts val="0"/>
              </a:spcAft>
              <a:buSzPts val="1500"/>
              <a:buChar char="•"/>
            </a:pPr>
            <a:r>
              <a:rPr b="1" lang="en-US" sz="1500">
                <a:latin typeface="Arial"/>
                <a:ea typeface="Arial"/>
                <a:cs typeface="Arial"/>
                <a:sym typeface="Arial"/>
              </a:rPr>
              <a:t>Bottom Right: </a:t>
            </a:r>
            <a:r>
              <a:rPr lang="en-US" sz="1500">
                <a:latin typeface="Arial"/>
                <a:ea typeface="Arial"/>
                <a:cs typeface="Arial"/>
                <a:sym typeface="Arial"/>
              </a:rPr>
              <a:t>Battery Box</a:t>
            </a:r>
            <a:endParaRPr sz="1500">
              <a:latin typeface="Arial"/>
              <a:ea typeface="Arial"/>
              <a:cs typeface="Arial"/>
              <a:sym typeface="Arial"/>
            </a:endParaRPr>
          </a:p>
        </p:txBody>
      </p:sp>
      <p:sp>
        <p:nvSpPr>
          <p:cNvPr id="172" name="Google Shape;172;p30"/>
          <p:cNvSpPr/>
          <p:nvPr/>
        </p:nvSpPr>
        <p:spPr>
          <a:xfrm flipH="1" rot="10800000">
            <a:off x="0" y="6443455"/>
            <a:ext cx="12192000" cy="420987"/>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173" name="Google Shape;173;p30"/>
          <p:cNvSpPr txBox="1"/>
          <p:nvPr/>
        </p:nvSpPr>
        <p:spPr>
          <a:xfrm>
            <a:off x="376807" y="6524381"/>
            <a:ext cx="7991337" cy="2307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174" name="Google Shape;174;p30"/>
          <p:cNvSpPr txBox="1"/>
          <p:nvPr/>
        </p:nvSpPr>
        <p:spPr>
          <a:xfrm>
            <a:off x="9335597" y="6524381"/>
            <a:ext cx="2473415" cy="23079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175" name="Google Shape;175;p30"/>
          <p:cNvSpPr/>
          <p:nvPr/>
        </p:nvSpPr>
        <p:spPr>
          <a:xfrm flipH="1" rot="10800000">
            <a:off x="0" y="-7695"/>
            <a:ext cx="12192000" cy="868218"/>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176" name="Google Shape;176;p30"/>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177" name="Google Shape;177;p30"/>
          <p:cNvSpPr txBox="1"/>
          <p:nvPr/>
        </p:nvSpPr>
        <p:spPr>
          <a:xfrm>
            <a:off x="376810" y="204051"/>
            <a:ext cx="10910026"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Idea 2</a:t>
            </a:r>
            <a:endParaRPr b="0" i="0" sz="2400" u="none" cap="none" strike="noStrike">
              <a:solidFill>
                <a:schemeClr val="lt1"/>
              </a:solidFill>
              <a:latin typeface="Arial"/>
              <a:ea typeface="Arial"/>
              <a:cs typeface="Arial"/>
              <a:sym typeface="Arial"/>
            </a:endParaRPr>
          </a:p>
        </p:txBody>
      </p:sp>
      <p:sp>
        <p:nvSpPr>
          <p:cNvPr id="178" name="Google Shape;178;p30"/>
          <p:cNvSpPr txBox="1"/>
          <p:nvPr/>
        </p:nvSpPr>
        <p:spPr>
          <a:xfrm>
            <a:off x="4447106" y="6485888"/>
            <a:ext cx="266150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a:t>Shihong Yuan</a:t>
            </a:r>
            <a:endParaRPr/>
          </a:p>
        </p:txBody>
      </p:sp>
      <p:sp>
        <p:nvSpPr>
          <p:cNvPr id="179" name="Google Shape;179;p30"/>
          <p:cNvSpPr txBox="1"/>
          <p:nvPr>
            <p:ph idx="12" type="sldNum"/>
          </p:nvPr>
        </p:nvSpPr>
        <p:spPr>
          <a:xfrm>
            <a:off x="8591550" y="6442075"/>
            <a:ext cx="666750" cy="355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sp>
        <p:nvSpPr>
          <p:cNvPr id="180" name="Google Shape;180;p30"/>
          <p:cNvSpPr txBox="1"/>
          <p:nvPr/>
        </p:nvSpPr>
        <p:spPr>
          <a:xfrm>
            <a:off x="8058975" y="3222250"/>
            <a:ext cx="2804400" cy="23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Isometric View of Complete Walker</a:t>
            </a:r>
            <a:endParaRPr sz="1300">
              <a:solidFill>
                <a:schemeClr val="dk1"/>
              </a:solidFill>
              <a:latin typeface="Calibri"/>
              <a:ea typeface="Calibri"/>
              <a:cs typeface="Calibri"/>
              <a:sym typeface="Calibri"/>
            </a:endParaRPr>
          </a:p>
        </p:txBody>
      </p:sp>
      <p:sp>
        <p:nvSpPr>
          <p:cNvPr id="181" name="Google Shape;181;p30"/>
          <p:cNvSpPr txBox="1"/>
          <p:nvPr/>
        </p:nvSpPr>
        <p:spPr>
          <a:xfrm>
            <a:off x="7635525" y="6009550"/>
            <a:ext cx="3651300" cy="4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side view-detailed view of the drivetrain</a:t>
            </a:r>
            <a:endParaRPr sz="1500">
              <a:solidFill>
                <a:schemeClr val="dk1"/>
              </a:solidFill>
              <a:latin typeface="Calibri"/>
              <a:ea typeface="Calibri"/>
              <a:cs typeface="Calibri"/>
              <a:sym typeface="Calibri"/>
            </a:endParaRPr>
          </a:p>
        </p:txBody>
      </p:sp>
      <p:pic>
        <p:nvPicPr>
          <p:cNvPr id="182" name="Google Shape;182;p30" title="2f466807a75b5bab855a1ea76b939cc2.png"/>
          <p:cNvPicPr preferRelativeResize="0"/>
          <p:nvPr/>
        </p:nvPicPr>
        <p:blipFill>
          <a:blip r:embed="rId4">
            <a:alphaModFix/>
          </a:blip>
          <a:stretch>
            <a:fillRect/>
          </a:stretch>
        </p:blipFill>
        <p:spPr>
          <a:xfrm>
            <a:off x="4319175" y="4420825"/>
            <a:ext cx="3233250" cy="1447725"/>
          </a:xfrm>
          <a:prstGeom prst="rect">
            <a:avLst/>
          </a:prstGeom>
          <a:noFill/>
          <a:ln>
            <a:noFill/>
          </a:ln>
        </p:spPr>
      </p:pic>
      <p:sp>
        <p:nvSpPr>
          <p:cNvPr id="183" name="Google Shape;183;p30"/>
          <p:cNvSpPr txBox="1"/>
          <p:nvPr/>
        </p:nvSpPr>
        <p:spPr>
          <a:xfrm>
            <a:off x="4401750" y="6002100"/>
            <a:ext cx="30681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Calibri"/>
                <a:ea typeface="Calibri"/>
                <a:cs typeface="Calibri"/>
                <a:sym typeface="Calibri"/>
              </a:rPr>
              <a:t>top view</a:t>
            </a:r>
            <a:endParaRPr>
              <a:solidFill>
                <a:schemeClr val="dk1"/>
              </a:solidFill>
              <a:latin typeface="Calibri"/>
              <a:ea typeface="Calibri"/>
              <a:cs typeface="Calibri"/>
              <a:sym typeface="Calibri"/>
            </a:endParaRPr>
          </a:p>
        </p:txBody>
      </p:sp>
      <p:pic>
        <p:nvPicPr>
          <p:cNvPr id="184" name="Google Shape;184;p30"/>
          <p:cNvPicPr preferRelativeResize="0"/>
          <p:nvPr/>
        </p:nvPicPr>
        <p:blipFill>
          <a:blip r:embed="rId5">
            <a:alphaModFix/>
          </a:blip>
          <a:stretch>
            <a:fillRect/>
          </a:stretch>
        </p:blipFill>
        <p:spPr>
          <a:xfrm>
            <a:off x="7675775" y="3872137"/>
            <a:ext cx="3651302" cy="2159509"/>
          </a:xfrm>
          <a:prstGeom prst="rect">
            <a:avLst/>
          </a:prstGeom>
          <a:noFill/>
          <a:ln>
            <a:noFill/>
          </a:ln>
        </p:spPr>
      </p:pic>
      <p:pic>
        <p:nvPicPr>
          <p:cNvPr id="185" name="Google Shape;185;p30"/>
          <p:cNvPicPr preferRelativeResize="0"/>
          <p:nvPr/>
        </p:nvPicPr>
        <p:blipFill>
          <a:blip r:embed="rId6">
            <a:alphaModFix/>
          </a:blip>
          <a:stretch>
            <a:fillRect/>
          </a:stretch>
        </p:blipFill>
        <p:spPr>
          <a:xfrm>
            <a:off x="7760113" y="1125198"/>
            <a:ext cx="3154365" cy="20656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9c7d87099c_0_22"/>
          <p:cNvSpPr txBox="1"/>
          <p:nvPr>
            <p:ph idx="1" type="body"/>
          </p:nvPr>
        </p:nvSpPr>
        <p:spPr>
          <a:xfrm>
            <a:off x="376800" y="1125200"/>
            <a:ext cx="8214900" cy="482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Arial"/>
              <a:buNone/>
            </a:pPr>
            <a:r>
              <a:rPr b="1" lang="en-US" sz="2400">
                <a:solidFill>
                  <a:srgbClr val="E84B36"/>
                </a:solidFill>
                <a:latin typeface="Arial"/>
                <a:ea typeface="Arial"/>
                <a:cs typeface="Arial"/>
                <a:sym typeface="Arial"/>
              </a:rPr>
              <a:t>Leg mechanism (</a:t>
            </a:r>
            <a:r>
              <a:rPr b="1" lang="en-US" sz="2400">
                <a:solidFill>
                  <a:srgbClr val="E84B36"/>
                </a:solidFill>
                <a:latin typeface="Arial"/>
                <a:ea typeface="Arial"/>
                <a:cs typeface="Arial"/>
                <a:sym typeface="Arial"/>
              </a:rPr>
              <a:t>Chebyshev's plantigrade machine</a:t>
            </a:r>
            <a:r>
              <a:rPr b="1" lang="en-US" sz="2400">
                <a:solidFill>
                  <a:srgbClr val="E84B36"/>
                </a:solidFill>
                <a:latin typeface="Arial"/>
                <a:ea typeface="Arial"/>
                <a:cs typeface="Arial"/>
                <a:sym typeface="Arial"/>
              </a:rPr>
              <a:t>) </a:t>
            </a:r>
            <a:endParaRPr b="1" sz="2400">
              <a:solidFill>
                <a:srgbClr val="E84B36"/>
              </a:solidFill>
              <a:latin typeface="Arial"/>
              <a:ea typeface="Arial"/>
              <a:cs typeface="Arial"/>
              <a:sym typeface="Arial"/>
            </a:endParaRPr>
          </a:p>
          <a:p>
            <a:pPr indent="0" lvl="0" marL="0" rtl="0" algn="l">
              <a:lnSpc>
                <a:spcPct val="100000"/>
              </a:lnSpc>
              <a:spcBef>
                <a:spcPts val="0"/>
              </a:spcBef>
              <a:spcAft>
                <a:spcPts val="0"/>
              </a:spcAft>
              <a:buClr>
                <a:schemeClr val="dk1"/>
              </a:buClr>
              <a:buSzPts val="3000"/>
              <a:buFont typeface="Arial"/>
              <a:buNone/>
            </a:pPr>
            <a:r>
              <a:t/>
            </a:r>
            <a:endParaRPr b="1" sz="2400">
              <a:solidFill>
                <a:srgbClr val="E84B36"/>
              </a:solidFill>
              <a:latin typeface="Arial"/>
              <a:ea typeface="Arial"/>
              <a:cs typeface="Arial"/>
              <a:sym typeface="Arial"/>
            </a:endParaRPr>
          </a:p>
          <a:p>
            <a:pPr indent="-342900" lvl="0" marL="457200" rtl="0" algn="l">
              <a:lnSpc>
                <a:spcPct val="100000"/>
              </a:lnSpc>
              <a:spcBef>
                <a:spcPts val="0"/>
              </a:spcBef>
              <a:spcAft>
                <a:spcPts val="0"/>
              </a:spcAft>
              <a:buSzPts val="1800"/>
              <a:buFont typeface="Calibri"/>
              <a:buChar char="•"/>
            </a:pPr>
            <a:r>
              <a:rPr b="1" lang="en-US" sz="1800"/>
              <a:t>Grouping:</a:t>
            </a:r>
            <a:r>
              <a:rPr lang="en-US" sz="1800"/>
              <a:t> Legs are coordinated in diagonal pairs (e.g., Left-Front/Right-Rear).</a:t>
            </a:r>
            <a:endParaRPr sz="1800"/>
          </a:p>
          <a:p>
            <a:pPr indent="-342900" lvl="0" marL="457200" rtl="0" algn="l">
              <a:lnSpc>
                <a:spcPct val="100000"/>
              </a:lnSpc>
              <a:spcBef>
                <a:spcPts val="0"/>
              </a:spcBef>
              <a:spcAft>
                <a:spcPts val="0"/>
              </a:spcAft>
              <a:buSzPts val="1800"/>
              <a:buChar char="•"/>
            </a:pPr>
            <a:r>
              <a:rPr b="1" lang="en-US" sz="1800"/>
              <a:t>Coordination:</a:t>
            </a:r>
            <a:r>
              <a:rPr lang="en-US" sz="1800"/>
              <a:t> Pairs are driven 180° out-of-phase.</a:t>
            </a:r>
            <a:endParaRPr sz="1800"/>
          </a:p>
          <a:p>
            <a:pPr indent="-342900" lvl="0" marL="457200" rtl="0" algn="l">
              <a:lnSpc>
                <a:spcPct val="100000"/>
              </a:lnSpc>
              <a:spcBef>
                <a:spcPts val="0"/>
              </a:spcBef>
              <a:spcAft>
                <a:spcPts val="0"/>
              </a:spcAft>
              <a:buSzPts val="1800"/>
              <a:buChar char="•"/>
            </a:pPr>
            <a:r>
              <a:rPr b="1" lang="en-US" sz="1800"/>
              <a:t>Gait :</a:t>
            </a:r>
            <a:r>
              <a:rPr lang="en-US" sz="1800"/>
              <a:t> While one diagonal pair is in the </a:t>
            </a:r>
            <a:r>
              <a:rPr b="1" lang="en-US" sz="1800"/>
              <a:t>Stance Phase</a:t>
            </a:r>
            <a:r>
              <a:rPr lang="en-US" sz="1800"/>
              <a:t> (propelling on ground), the other is in the </a:t>
            </a:r>
            <a:r>
              <a:rPr b="1" lang="en-US" sz="1800"/>
              <a:t>Swing Phase</a:t>
            </a:r>
            <a:r>
              <a:rPr lang="en-US" sz="1800"/>
              <a:t> (lifted and advancing).</a:t>
            </a:r>
            <a:endParaRPr sz="1800"/>
          </a:p>
          <a:p>
            <a:pPr indent="-342900" lvl="0" marL="457200" rtl="0" algn="l">
              <a:lnSpc>
                <a:spcPct val="100000"/>
              </a:lnSpc>
              <a:spcBef>
                <a:spcPts val="0"/>
              </a:spcBef>
              <a:spcAft>
                <a:spcPts val="0"/>
              </a:spcAft>
              <a:buSzPts val="1800"/>
              <a:buChar char="•"/>
            </a:pPr>
            <a:r>
              <a:rPr b="1" lang="en-US" sz="1800"/>
              <a:t>Stability:</a:t>
            </a:r>
            <a:r>
              <a:rPr lang="en-US" sz="1800"/>
              <a:t> The walker always maintains two diagonal support points, keeping the center of mass stable.</a:t>
            </a:r>
            <a:endParaRPr sz="1800">
              <a:solidFill>
                <a:schemeClr val="dk1"/>
              </a:solidFill>
            </a:endParaRPr>
          </a:p>
          <a:p>
            <a:pPr indent="0" lvl="0" marL="0" rtl="0" algn="l">
              <a:lnSpc>
                <a:spcPct val="100000"/>
              </a:lnSpc>
              <a:spcBef>
                <a:spcPts val="0"/>
              </a:spcBef>
              <a:spcAft>
                <a:spcPts val="0"/>
              </a:spcAft>
              <a:buSzPts val="2000"/>
              <a:buNone/>
            </a:pPr>
            <a:r>
              <a:t/>
            </a:r>
            <a:endParaRPr/>
          </a:p>
        </p:txBody>
      </p:sp>
      <p:sp>
        <p:nvSpPr>
          <p:cNvPr id="191" name="Google Shape;191;g39c7d87099c_0_22"/>
          <p:cNvSpPr/>
          <p:nvPr/>
        </p:nvSpPr>
        <p:spPr>
          <a:xfrm flipH="1" rot="10800000">
            <a:off x="0" y="6443542"/>
            <a:ext cx="12192000" cy="420900"/>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192" name="Google Shape;192;g39c7d87099c_0_22"/>
          <p:cNvSpPr txBox="1"/>
          <p:nvPr/>
        </p:nvSpPr>
        <p:spPr>
          <a:xfrm>
            <a:off x="376807" y="6524381"/>
            <a:ext cx="7991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193" name="Google Shape;193;g39c7d87099c_0_22"/>
          <p:cNvSpPr txBox="1"/>
          <p:nvPr/>
        </p:nvSpPr>
        <p:spPr>
          <a:xfrm>
            <a:off x="9335597" y="6524381"/>
            <a:ext cx="2473500" cy="230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194" name="Google Shape;194;g39c7d87099c_0_22"/>
          <p:cNvSpPr/>
          <p:nvPr/>
        </p:nvSpPr>
        <p:spPr>
          <a:xfrm flipH="1" rot="10800000">
            <a:off x="0" y="-7677"/>
            <a:ext cx="12192000" cy="868200"/>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195" name="Google Shape;195;g39c7d87099c_0_22"/>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196" name="Google Shape;196;g39c7d87099c_0_22"/>
          <p:cNvSpPr txBox="1"/>
          <p:nvPr/>
        </p:nvSpPr>
        <p:spPr>
          <a:xfrm>
            <a:off x="376810" y="204051"/>
            <a:ext cx="1091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Idea 2</a:t>
            </a:r>
            <a:endParaRPr b="0" i="0" sz="2400" u="none" cap="none" strike="noStrike">
              <a:solidFill>
                <a:schemeClr val="lt1"/>
              </a:solidFill>
              <a:latin typeface="Arial"/>
              <a:ea typeface="Arial"/>
              <a:cs typeface="Arial"/>
              <a:sym typeface="Arial"/>
            </a:endParaRPr>
          </a:p>
        </p:txBody>
      </p:sp>
      <p:sp>
        <p:nvSpPr>
          <p:cNvPr id="197" name="Google Shape;197;g39c7d87099c_0_22"/>
          <p:cNvSpPr txBox="1"/>
          <p:nvPr/>
        </p:nvSpPr>
        <p:spPr>
          <a:xfrm>
            <a:off x="4447106" y="6485888"/>
            <a:ext cx="2661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a:t>Shihong Yuan</a:t>
            </a:r>
            <a:endParaRPr/>
          </a:p>
        </p:txBody>
      </p:sp>
      <p:sp>
        <p:nvSpPr>
          <p:cNvPr id="198" name="Google Shape;198;g39c7d87099c_0_22"/>
          <p:cNvSpPr txBox="1"/>
          <p:nvPr>
            <p:ph idx="12" type="sldNum"/>
          </p:nvPr>
        </p:nvSpPr>
        <p:spPr>
          <a:xfrm>
            <a:off x="8591550" y="6442075"/>
            <a:ext cx="666900" cy="355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sp>
        <p:nvSpPr>
          <p:cNvPr id="199" name="Google Shape;199;g39c7d87099c_0_22"/>
          <p:cNvSpPr txBox="1"/>
          <p:nvPr/>
        </p:nvSpPr>
        <p:spPr>
          <a:xfrm>
            <a:off x="8840775" y="3420400"/>
            <a:ext cx="2841600" cy="23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Side view of the leg mechanism</a:t>
            </a:r>
            <a:endParaRPr sz="300">
              <a:solidFill>
                <a:schemeClr val="dk1"/>
              </a:solidFill>
              <a:latin typeface="Calibri"/>
              <a:ea typeface="Calibri"/>
              <a:cs typeface="Calibri"/>
              <a:sym typeface="Calibri"/>
            </a:endParaRPr>
          </a:p>
        </p:txBody>
      </p:sp>
      <p:pic>
        <p:nvPicPr>
          <p:cNvPr id="200" name="Google Shape;200;g39c7d87099c_0_22" title="e823e6d405e6fbe285f10e28e371ee9b.png"/>
          <p:cNvPicPr preferRelativeResize="0"/>
          <p:nvPr/>
        </p:nvPicPr>
        <p:blipFill>
          <a:blip r:embed="rId4">
            <a:alphaModFix/>
          </a:blip>
          <a:stretch>
            <a:fillRect/>
          </a:stretch>
        </p:blipFill>
        <p:spPr>
          <a:xfrm>
            <a:off x="8840777" y="3913957"/>
            <a:ext cx="2297474" cy="2074556"/>
          </a:xfrm>
          <a:prstGeom prst="rect">
            <a:avLst/>
          </a:prstGeom>
          <a:noFill/>
          <a:ln>
            <a:noFill/>
          </a:ln>
        </p:spPr>
      </p:pic>
      <p:sp>
        <p:nvSpPr>
          <p:cNvPr id="201" name="Google Shape;201;g39c7d87099c_0_22"/>
          <p:cNvSpPr txBox="1"/>
          <p:nvPr/>
        </p:nvSpPr>
        <p:spPr>
          <a:xfrm>
            <a:off x="8656175" y="6031900"/>
            <a:ext cx="2841600" cy="2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Calibri"/>
                <a:ea typeface="Calibri"/>
                <a:cs typeface="Calibri"/>
                <a:sym typeface="Calibri"/>
              </a:rPr>
              <a:t>A detailed view of the legs</a:t>
            </a:r>
            <a:endParaRPr sz="1200">
              <a:solidFill>
                <a:schemeClr val="dk1"/>
              </a:solidFill>
              <a:latin typeface="Calibri"/>
              <a:ea typeface="Calibri"/>
              <a:cs typeface="Calibri"/>
              <a:sym typeface="Calibri"/>
            </a:endParaRPr>
          </a:p>
        </p:txBody>
      </p:sp>
      <p:pic>
        <p:nvPicPr>
          <p:cNvPr id="202" name="Google Shape;202;g39c7d87099c_0_22" title="c5607f5776d4ac6913ff382e29cb542e.mp4">
            <a:hlinkClick r:id="rId5"/>
          </p:cNvPr>
          <p:cNvPicPr preferRelativeResize="0"/>
          <p:nvPr/>
        </p:nvPicPr>
        <p:blipFill>
          <a:blip r:embed="rId6">
            <a:alphaModFix/>
          </a:blip>
          <a:stretch>
            <a:fillRect/>
          </a:stretch>
        </p:blipFill>
        <p:spPr>
          <a:xfrm>
            <a:off x="525200" y="4045025"/>
            <a:ext cx="4316125" cy="2171375"/>
          </a:xfrm>
          <a:prstGeom prst="rect">
            <a:avLst/>
          </a:prstGeom>
          <a:noFill/>
          <a:ln>
            <a:noFill/>
          </a:ln>
        </p:spPr>
      </p:pic>
      <p:pic>
        <p:nvPicPr>
          <p:cNvPr id="203" name="Google Shape;203;g39c7d87099c_0_22"/>
          <p:cNvPicPr preferRelativeResize="0"/>
          <p:nvPr/>
        </p:nvPicPr>
        <p:blipFill>
          <a:blip r:embed="rId7">
            <a:alphaModFix/>
          </a:blip>
          <a:stretch>
            <a:fillRect/>
          </a:stretch>
        </p:blipFill>
        <p:spPr>
          <a:xfrm>
            <a:off x="8613825" y="1315798"/>
            <a:ext cx="3295501" cy="2062295"/>
          </a:xfrm>
          <a:prstGeom prst="rect">
            <a:avLst/>
          </a:prstGeom>
          <a:noFill/>
          <a:ln>
            <a:noFill/>
          </a:ln>
        </p:spPr>
      </p:pic>
      <p:pic>
        <p:nvPicPr>
          <p:cNvPr id="204" name="Google Shape;204;g39c7d87099c_0_22"/>
          <p:cNvPicPr preferRelativeResize="0"/>
          <p:nvPr/>
        </p:nvPicPr>
        <p:blipFill>
          <a:blip r:embed="rId8">
            <a:alphaModFix/>
          </a:blip>
          <a:stretch>
            <a:fillRect/>
          </a:stretch>
        </p:blipFill>
        <p:spPr>
          <a:xfrm>
            <a:off x="5512000" y="4196421"/>
            <a:ext cx="2473500" cy="1868568"/>
          </a:xfrm>
          <a:prstGeom prst="rect">
            <a:avLst/>
          </a:prstGeom>
          <a:noFill/>
          <a:ln>
            <a:noFill/>
          </a:ln>
        </p:spPr>
      </p:pic>
      <p:sp>
        <p:nvSpPr>
          <p:cNvPr id="205" name="Google Shape;205;g39c7d87099c_0_22"/>
          <p:cNvSpPr txBox="1"/>
          <p:nvPr/>
        </p:nvSpPr>
        <p:spPr>
          <a:xfrm>
            <a:off x="6426000" y="6009488"/>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rPr>
              <a:t>Path </a:t>
            </a:r>
            <a:endParaRPr sz="1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idx="1" type="body"/>
          </p:nvPr>
        </p:nvSpPr>
        <p:spPr>
          <a:xfrm>
            <a:off x="928950" y="1371263"/>
            <a:ext cx="4070400" cy="437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b="1" lang="en-US" sz="1800">
                <a:latin typeface="Arial"/>
                <a:ea typeface="Arial"/>
                <a:cs typeface="Arial"/>
                <a:sym typeface="Arial"/>
              </a:rPr>
              <a:t>Idea 1:</a:t>
            </a:r>
            <a:endParaRPr b="1"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US" sz="1800">
                <a:latin typeface="Arial"/>
                <a:ea typeface="Arial"/>
                <a:cs typeface="Arial"/>
                <a:sym typeface="Arial"/>
              </a:rPr>
              <a:t>Two passive wheels and two legs always in contact with ground, stable.</a:t>
            </a:r>
            <a:endParaRPr sz="1800">
              <a:latin typeface="Arial"/>
              <a:ea typeface="Arial"/>
              <a:cs typeface="Arial"/>
              <a:sym typeface="Arial"/>
            </a:endParaRPr>
          </a:p>
          <a:p>
            <a:pPr indent="0" lvl="0" marL="457200" rtl="0" algn="l">
              <a:lnSpc>
                <a:spcPct val="100000"/>
              </a:lnSpc>
              <a:spcBef>
                <a:spcPts val="0"/>
              </a:spcBef>
              <a:spcAft>
                <a:spcPts val="0"/>
              </a:spcAft>
              <a:buNone/>
            </a:pPr>
            <a:r>
              <a:t/>
            </a: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US" sz="1800">
                <a:latin typeface="Arial"/>
                <a:ea typeface="Arial"/>
                <a:cs typeface="Arial"/>
                <a:sym typeface="Arial"/>
              </a:rPr>
              <a:t>Requires bevel gears, a more complex drivetrain structure.</a:t>
            </a:r>
            <a:endParaRPr sz="1800">
              <a:latin typeface="Arial"/>
              <a:ea typeface="Arial"/>
              <a:cs typeface="Arial"/>
              <a:sym typeface="Arial"/>
            </a:endParaRPr>
          </a:p>
          <a:p>
            <a:pPr indent="0" lvl="0" marL="457200" rtl="0" algn="l">
              <a:lnSpc>
                <a:spcPct val="100000"/>
              </a:lnSpc>
              <a:spcBef>
                <a:spcPts val="0"/>
              </a:spcBef>
              <a:spcAft>
                <a:spcPts val="0"/>
              </a:spcAft>
              <a:buNone/>
            </a:pPr>
            <a:r>
              <a:t/>
            </a: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US" sz="1800">
                <a:latin typeface="Arial"/>
                <a:ea typeface="Arial"/>
                <a:cs typeface="Arial"/>
                <a:sym typeface="Arial"/>
              </a:rPr>
              <a:t>Occupies a large internal space, limited space for packages.</a:t>
            </a:r>
            <a:endParaRPr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0" lvl="0" marL="0" rtl="0" algn="l">
              <a:lnSpc>
                <a:spcPct val="100000"/>
              </a:lnSpc>
              <a:spcBef>
                <a:spcPts val="0"/>
              </a:spcBef>
              <a:spcAft>
                <a:spcPts val="0"/>
              </a:spcAft>
              <a:buSzPts val="2000"/>
              <a:buNone/>
            </a:pPr>
            <a:r>
              <a:t/>
            </a:r>
            <a:endParaRPr sz="1800">
              <a:latin typeface="Arial"/>
              <a:ea typeface="Arial"/>
              <a:cs typeface="Arial"/>
              <a:sym typeface="Arial"/>
            </a:endParaRPr>
          </a:p>
          <a:p>
            <a:pPr indent="0" lvl="0" marL="0" rtl="0" algn="l">
              <a:lnSpc>
                <a:spcPct val="100000"/>
              </a:lnSpc>
              <a:spcBef>
                <a:spcPts val="0"/>
              </a:spcBef>
              <a:spcAft>
                <a:spcPts val="0"/>
              </a:spcAft>
              <a:buSzPts val="2000"/>
              <a:buNone/>
            </a:pPr>
            <a:r>
              <a:t/>
            </a:r>
            <a:endParaRPr sz="1800">
              <a:latin typeface="Arial"/>
              <a:ea typeface="Arial"/>
              <a:cs typeface="Arial"/>
              <a:sym typeface="Arial"/>
            </a:endParaRPr>
          </a:p>
          <a:p>
            <a:pPr indent="0" lvl="0" marL="0" rtl="0" algn="l">
              <a:lnSpc>
                <a:spcPct val="100000"/>
              </a:lnSpc>
              <a:spcBef>
                <a:spcPts val="0"/>
              </a:spcBef>
              <a:spcAft>
                <a:spcPts val="0"/>
              </a:spcAft>
              <a:buSzPts val="2000"/>
              <a:buNone/>
            </a:pPr>
            <a:r>
              <a:t/>
            </a:r>
            <a:endParaRPr sz="1800">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t/>
            </a:r>
            <a:endParaRPr b="1" sz="1800">
              <a:latin typeface="Arial"/>
              <a:ea typeface="Arial"/>
              <a:cs typeface="Arial"/>
              <a:sym typeface="Arial"/>
            </a:endParaRPr>
          </a:p>
          <a:p>
            <a:pPr indent="0" lvl="0" marL="0" rtl="0" algn="l">
              <a:lnSpc>
                <a:spcPct val="100000"/>
              </a:lnSpc>
              <a:spcBef>
                <a:spcPts val="0"/>
              </a:spcBef>
              <a:spcAft>
                <a:spcPts val="0"/>
              </a:spcAft>
              <a:buSzPts val="2000"/>
              <a:buNone/>
            </a:pPr>
            <a:r>
              <a:t/>
            </a:r>
            <a:endParaRPr sz="1800">
              <a:solidFill>
                <a:schemeClr val="dk1"/>
              </a:solidFill>
              <a:latin typeface="Arial"/>
              <a:ea typeface="Arial"/>
              <a:cs typeface="Arial"/>
              <a:sym typeface="Arial"/>
            </a:endParaRPr>
          </a:p>
        </p:txBody>
      </p:sp>
      <p:sp>
        <p:nvSpPr>
          <p:cNvPr id="211" name="Google Shape;211;p31"/>
          <p:cNvSpPr/>
          <p:nvPr/>
        </p:nvSpPr>
        <p:spPr>
          <a:xfrm flipH="1" rot="10800000">
            <a:off x="0" y="6437013"/>
            <a:ext cx="12192000" cy="420987"/>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212" name="Google Shape;212;p31"/>
          <p:cNvSpPr txBox="1"/>
          <p:nvPr/>
        </p:nvSpPr>
        <p:spPr>
          <a:xfrm>
            <a:off x="376807" y="6524381"/>
            <a:ext cx="7991337" cy="2307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213" name="Google Shape;213;p31"/>
          <p:cNvSpPr txBox="1"/>
          <p:nvPr/>
        </p:nvSpPr>
        <p:spPr>
          <a:xfrm>
            <a:off x="9335597" y="6524381"/>
            <a:ext cx="2473415" cy="23079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214" name="Google Shape;214;p31"/>
          <p:cNvSpPr/>
          <p:nvPr/>
        </p:nvSpPr>
        <p:spPr>
          <a:xfrm flipH="1" rot="10800000">
            <a:off x="0" y="-7695"/>
            <a:ext cx="12192000" cy="868218"/>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215" name="Google Shape;215;p31"/>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216" name="Google Shape;216;p31"/>
          <p:cNvSpPr txBox="1"/>
          <p:nvPr/>
        </p:nvSpPr>
        <p:spPr>
          <a:xfrm>
            <a:off x="376810" y="204051"/>
            <a:ext cx="10910026"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Compare and contrast </a:t>
            </a:r>
            <a:r>
              <a:rPr lang="en-US" sz="2400">
                <a:solidFill>
                  <a:schemeClr val="lt1"/>
                </a:solidFill>
              </a:rPr>
              <a:t>of </a:t>
            </a:r>
            <a:r>
              <a:rPr b="0" i="0" lang="en-US" sz="2400" u="none" cap="none" strike="noStrike">
                <a:solidFill>
                  <a:schemeClr val="lt1"/>
                </a:solidFill>
                <a:latin typeface="Arial"/>
                <a:ea typeface="Arial"/>
                <a:cs typeface="Arial"/>
                <a:sym typeface="Arial"/>
              </a:rPr>
              <a:t>ideas </a:t>
            </a:r>
            <a:endParaRPr b="0" i="0" sz="2400" u="none" cap="none" strike="noStrike">
              <a:solidFill>
                <a:schemeClr val="lt1"/>
              </a:solidFill>
              <a:latin typeface="Arial"/>
              <a:ea typeface="Arial"/>
              <a:cs typeface="Arial"/>
              <a:sym typeface="Arial"/>
            </a:endParaRPr>
          </a:p>
        </p:txBody>
      </p:sp>
      <p:sp>
        <p:nvSpPr>
          <p:cNvPr id="217" name="Google Shape;217;p31"/>
          <p:cNvSpPr txBox="1"/>
          <p:nvPr/>
        </p:nvSpPr>
        <p:spPr>
          <a:xfrm>
            <a:off x="4447106" y="6485888"/>
            <a:ext cx="26615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t>Liangbing Zhao</a:t>
            </a:r>
            <a:endParaRPr/>
          </a:p>
        </p:txBody>
      </p:sp>
      <p:sp>
        <p:nvSpPr>
          <p:cNvPr id="218" name="Google Shape;218;p31"/>
          <p:cNvSpPr txBox="1"/>
          <p:nvPr>
            <p:ph idx="12" type="sldNum"/>
          </p:nvPr>
        </p:nvSpPr>
        <p:spPr>
          <a:xfrm>
            <a:off x="8591550" y="6442075"/>
            <a:ext cx="666750" cy="355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sp>
        <p:nvSpPr>
          <p:cNvPr id="219" name="Google Shape;219;p31"/>
          <p:cNvSpPr txBox="1"/>
          <p:nvPr/>
        </p:nvSpPr>
        <p:spPr>
          <a:xfrm>
            <a:off x="5958100" y="1373300"/>
            <a:ext cx="4164300" cy="46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Idea 2 :</a:t>
            </a:r>
            <a:endParaRPr b="1"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US" sz="1800">
                <a:solidFill>
                  <a:schemeClr val="dk1"/>
                </a:solidFill>
              </a:rPr>
              <a:t>Two feet on the ground when walking, unstable.</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Only install drivetrain structure on one side, simpler in structure. More space for packages.</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Too large gear may exceeds the specified height.</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31"/>
          <p:cNvSpPr txBox="1"/>
          <p:nvPr/>
        </p:nvSpPr>
        <p:spPr>
          <a:xfrm>
            <a:off x="928950" y="4418025"/>
            <a:ext cx="8503200" cy="201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We will choose to use the Idea1 leg structure design because it is more stable,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considers using fewer transmission structures like Idea 2,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avoids exceeding the specified size, and leaves enough space for placing packages.</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p:nvPr/>
        </p:nvSpPr>
        <p:spPr>
          <a:xfrm flipH="1" rot="10800000">
            <a:off x="0" y="6437013"/>
            <a:ext cx="12192000" cy="420987"/>
          </a:xfrm>
          <a:prstGeom prst="rect">
            <a:avLst/>
          </a:prstGeom>
          <a:gradFill>
            <a:gsLst>
              <a:gs pos="0">
                <a:srgbClr val="7F7F7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sp>
        <p:nvSpPr>
          <p:cNvPr id="226" name="Google Shape;226;p32"/>
          <p:cNvSpPr txBox="1"/>
          <p:nvPr/>
        </p:nvSpPr>
        <p:spPr>
          <a:xfrm>
            <a:off x="376807" y="6524381"/>
            <a:ext cx="7991337" cy="2307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Mechanical Science and Engineering</a:t>
            </a:r>
            <a:endParaRPr/>
          </a:p>
        </p:txBody>
      </p:sp>
      <p:sp>
        <p:nvSpPr>
          <p:cNvPr id="227" name="Google Shape;227;p32"/>
          <p:cNvSpPr txBox="1"/>
          <p:nvPr/>
        </p:nvSpPr>
        <p:spPr>
          <a:xfrm>
            <a:off x="9335597" y="6524381"/>
            <a:ext cx="2473415" cy="23079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900" u="none" cap="none" strike="noStrike">
                <a:solidFill>
                  <a:schemeClr val="lt1"/>
                </a:solidFill>
                <a:latin typeface="Arial"/>
                <a:ea typeface="Arial"/>
                <a:cs typeface="Arial"/>
                <a:sym typeface="Arial"/>
              </a:rPr>
              <a:t>GRAINGER ENGINEERING</a:t>
            </a:r>
            <a:endParaRPr/>
          </a:p>
        </p:txBody>
      </p:sp>
      <p:sp>
        <p:nvSpPr>
          <p:cNvPr id="228" name="Google Shape;228;p32"/>
          <p:cNvSpPr/>
          <p:nvPr/>
        </p:nvSpPr>
        <p:spPr>
          <a:xfrm flipH="1" rot="10800000">
            <a:off x="0" y="-7695"/>
            <a:ext cx="12192000" cy="868218"/>
          </a:xfrm>
          <a:prstGeom prst="rect">
            <a:avLst/>
          </a:prstGeom>
          <a:gradFill>
            <a:gsLst>
              <a:gs pos="0">
                <a:srgbClr val="1B4284"/>
              </a:gs>
              <a:gs pos="100000">
                <a:srgbClr val="13294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logo&#10;&#10;Description automatically generated" id="229" name="Google Shape;229;p32"/>
          <p:cNvPicPr preferRelativeResize="0"/>
          <p:nvPr/>
        </p:nvPicPr>
        <p:blipFill rotWithShape="1">
          <a:blip r:embed="rId3">
            <a:alphaModFix/>
          </a:blip>
          <a:srcRect b="0" l="0" r="0" t="0"/>
          <a:stretch/>
        </p:blipFill>
        <p:spPr>
          <a:xfrm>
            <a:off x="11554210" y="228014"/>
            <a:ext cx="277906" cy="401420"/>
          </a:xfrm>
          <a:prstGeom prst="rect">
            <a:avLst/>
          </a:prstGeom>
          <a:noFill/>
          <a:ln>
            <a:noFill/>
          </a:ln>
        </p:spPr>
      </p:pic>
      <p:sp>
        <p:nvSpPr>
          <p:cNvPr id="230" name="Google Shape;230;p32"/>
          <p:cNvSpPr txBox="1"/>
          <p:nvPr/>
        </p:nvSpPr>
        <p:spPr>
          <a:xfrm>
            <a:off x="376810" y="204051"/>
            <a:ext cx="10910026"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Future plans</a:t>
            </a:r>
            <a:endParaRPr b="0" i="0" sz="2400" u="none" cap="none" strike="noStrike">
              <a:solidFill>
                <a:schemeClr val="lt1"/>
              </a:solidFill>
              <a:latin typeface="Arial"/>
              <a:ea typeface="Arial"/>
              <a:cs typeface="Arial"/>
              <a:sym typeface="Arial"/>
            </a:endParaRPr>
          </a:p>
        </p:txBody>
      </p:sp>
      <p:sp>
        <p:nvSpPr>
          <p:cNvPr id="231" name="Google Shape;231;p32"/>
          <p:cNvSpPr txBox="1"/>
          <p:nvPr/>
        </p:nvSpPr>
        <p:spPr>
          <a:xfrm>
            <a:off x="4447106" y="6485888"/>
            <a:ext cx="26616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n-US">
                <a:solidFill>
                  <a:schemeClr val="dk1"/>
                </a:solidFill>
              </a:rPr>
              <a:t>Liangbing Zhao</a:t>
            </a:r>
            <a:endParaRPr>
              <a:solidFill>
                <a:schemeClr val="dk1"/>
              </a:solidFill>
            </a:endParaRPr>
          </a:p>
          <a:p>
            <a:pPr indent="0" lvl="0" marL="0" marR="0" rtl="0" algn="l">
              <a:lnSpc>
                <a:spcPct val="100000"/>
              </a:lnSpc>
              <a:spcBef>
                <a:spcPts val="0"/>
              </a:spcBef>
              <a:spcAft>
                <a:spcPts val="0"/>
              </a:spcAft>
              <a:buNone/>
            </a:pPr>
            <a:r>
              <a:t/>
            </a:r>
            <a:endParaRPr/>
          </a:p>
        </p:txBody>
      </p:sp>
      <p:sp>
        <p:nvSpPr>
          <p:cNvPr id="232" name="Google Shape;232;p32"/>
          <p:cNvSpPr txBox="1"/>
          <p:nvPr>
            <p:ph idx="12" type="sldNum"/>
          </p:nvPr>
        </p:nvSpPr>
        <p:spPr>
          <a:xfrm>
            <a:off x="8591550" y="6442075"/>
            <a:ext cx="666750" cy="355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sz="1400">
                <a:solidFill>
                  <a:schemeClr val="lt1"/>
                </a:solidFill>
              </a:rPr>
              <a:t>‹#›</a:t>
            </a:fld>
            <a:endParaRPr sz="1400">
              <a:solidFill>
                <a:schemeClr val="lt1"/>
              </a:solidFill>
            </a:endParaRPr>
          </a:p>
        </p:txBody>
      </p:sp>
      <p:cxnSp>
        <p:nvCxnSpPr>
          <p:cNvPr id="233" name="Google Shape;233;p32"/>
          <p:cNvCxnSpPr/>
          <p:nvPr/>
        </p:nvCxnSpPr>
        <p:spPr>
          <a:xfrm>
            <a:off x="376809" y="1874905"/>
            <a:ext cx="11177400" cy="0"/>
          </a:xfrm>
          <a:prstGeom prst="straightConnector1">
            <a:avLst/>
          </a:prstGeom>
          <a:noFill/>
          <a:ln cap="flat" cmpd="sng" w="76200">
            <a:solidFill>
              <a:schemeClr val="dk1"/>
            </a:solidFill>
            <a:prstDash val="solid"/>
            <a:round/>
            <a:headEnd len="med" w="med" type="none"/>
            <a:tailEnd len="med" w="med" type="none"/>
          </a:ln>
        </p:spPr>
      </p:cxnSp>
      <p:sp>
        <p:nvSpPr>
          <p:cNvPr id="234" name="Google Shape;234;p32"/>
          <p:cNvSpPr/>
          <p:nvPr/>
        </p:nvSpPr>
        <p:spPr>
          <a:xfrm>
            <a:off x="1022675" y="1151975"/>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New Dispenser</a:t>
            </a:r>
            <a:endParaRPr>
              <a:latin typeface="Calibri"/>
              <a:ea typeface="Calibri"/>
              <a:cs typeface="Calibri"/>
              <a:sym typeface="Calibri"/>
            </a:endParaRPr>
          </a:p>
        </p:txBody>
      </p:sp>
      <p:sp>
        <p:nvSpPr>
          <p:cNvPr id="235" name="Google Shape;235;p32"/>
          <p:cNvSpPr/>
          <p:nvPr/>
        </p:nvSpPr>
        <p:spPr>
          <a:xfrm>
            <a:off x="2306375" y="2176925"/>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Walking Parts</a:t>
            </a:r>
            <a:endParaRPr>
              <a:latin typeface="Calibri"/>
              <a:ea typeface="Calibri"/>
              <a:cs typeface="Calibri"/>
              <a:sym typeface="Calibri"/>
            </a:endParaRPr>
          </a:p>
        </p:txBody>
      </p:sp>
      <p:sp>
        <p:nvSpPr>
          <p:cNvPr id="236" name="Google Shape;236;p32"/>
          <p:cNvSpPr/>
          <p:nvPr/>
        </p:nvSpPr>
        <p:spPr>
          <a:xfrm>
            <a:off x="3590075" y="1097900"/>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Test Dispenser</a:t>
            </a:r>
            <a:endParaRPr>
              <a:latin typeface="Calibri"/>
              <a:ea typeface="Calibri"/>
              <a:cs typeface="Calibri"/>
              <a:sym typeface="Calibri"/>
            </a:endParaRPr>
          </a:p>
        </p:txBody>
      </p:sp>
      <p:sp>
        <p:nvSpPr>
          <p:cNvPr id="237" name="Google Shape;237;p32"/>
          <p:cNvSpPr/>
          <p:nvPr/>
        </p:nvSpPr>
        <p:spPr>
          <a:xfrm>
            <a:off x="4873775" y="2206550"/>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Test Walking</a:t>
            </a:r>
            <a:endParaRPr>
              <a:latin typeface="Calibri"/>
              <a:ea typeface="Calibri"/>
              <a:cs typeface="Calibri"/>
              <a:sym typeface="Calibri"/>
            </a:endParaRPr>
          </a:p>
        </p:txBody>
      </p:sp>
      <p:sp>
        <p:nvSpPr>
          <p:cNvPr id="238" name="Google Shape;238;p32"/>
          <p:cNvSpPr/>
          <p:nvPr/>
        </p:nvSpPr>
        <p:spPr>
          <a:xfrm>
            <a:off x="6157475" y="1122338"/>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Test Both</a:t>
            </a:r>
            <a:endParaRPr>
              <a:latin typeface="Calibri"/>
              <a:ea typeface="Calibri"/>
              <a:cs typeface="Calibri"/>
              <a:sym typeface="Calibri"/>
            </a:endParaRPr>
          </a:p>
        </p:txBody>
      </p:sp>
      <p:sp>
        <p:nvSpPr>
          <p:cNvPr id="239" name="Google Shape;239;p32"/>
          <p:cNvSpPr/>
          <p:nvPr/>
        </p:nvSpPr>
        <p:spPr>
          <a:xfrm>
            <a:off x="7441175" y="2176925"/>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Revise Both</a:t>
            </a:r>
            <a:endParaRPr>
              <a:latin typeface="Calibri"/>
              <a:ea typeface="Calibri"/>
              <a:cs typeface="Calibri"/>
              <a:sym typeface="Calibri"/>
            </a:endParaRPr>
          </a:p>
        </p:txBody>
      </p:sp>
      <p:sp>
        <p:nvSpPr>
          <p:cNvPr id="240" name="Google Shape;240;p32"/>
          <p:cNvSpPr/>
          <p:nvPr/>
        </p:nvSpPr>
        <p:spPr>
          <a:xfrm>
            <a:off x="1576775" y="1572875"/>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1" name="Google Shape;241;p32"/>
          <p:cNvSpPr/>
          <p:nvPr/>
        </p:nvSpPr>
        <p:spPr>
          <a:xfrm>
            <a:off x="4144175" y="1542950"/>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2" name="Google Shape;242;p32"/>
          <p:cNvSpPr/>
          <p:nvPr/>
        </p:nvSpPr>
        <p:spPr>
          <a:xfrm>
            <a:off x="6711575" y="1555175"/>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3" name="Google Shape;243;p32"/>
          <p:cNvSpPr/>
          <p:nvPr/>
        </p:nvSpPr>
        <p:spPr>
          <a:xfrm rot="10800000">
            <a:off x="2860475" y="1862975"/>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4" name="Google Shape;244;p32"/>
          <p:cNvSpPr/>
          <p:nvPr/>
        </p:nvSpPr>
        <p:spPr>
          <a:xfrm rot="10800000">
            <a:off x="5427875" y="1862975"/>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32"/>
          <p:cNvSpPr/>
          <p:nvPr/>
        </p:nvSpPr>
        <p:spPr>
          <a:xfrm rot="10800000">
            <a:off x="7995275" y="1862975"/>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6" name="Google Shape;246;p32"/>
          <p:cNvSpPr/>
          <p:nvPr/>
        </p:nvSpPr>
        <p:spPr>
          <a:xfrm>
            <a:off x="8724875" y="1097900"/>
            <a:ext cx="12837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P2D2</a:t>
            </a:r>
            <a:endParaRPr>
              <a:latin typeface="Calibri"/>
              <a:ea typeface="Calibri"/>
              <a:cs typeface="Calibri"/>
              <a:sym typeface="Calibri"/>
            </a:endParaRPr>
          </a:p>
        </p:txBody>
      </p:sp>
      <p:sp>
        <p:nvSpPr>
          <p:cNvPr id="247" name="Google Shape;247;p32"/>
          <p:cNvSpPr/>
          <p:nvPr/>
        </p:nvSpPr>
        <p:spPr>
          <a:xfrm>
            <a:off x="9278975" y="1542950"/>
            <a:ext cx="175500" cy="3078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8" name="Google Shape;248;p32"/>
          <p:cNvSpPr/>
          <p:nvPr/>
        </p:nvSpPr>
        <p:spPr>
          <a:xfrm flipH="1" rot="-2700000">
            <a:off x="11271584" y="1711982"/>
            <a:ext cx="327532" cy="325835"/>
          </a:xfrm>
          <a:prstGeom prst="rtTriangl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49" name="Google Shape;249;p32" title="7e81c38b1ee1bf6271187be3992a330a.png"/>
          <p:cNvPicPr preferRelativeResize="0"/>
          <p:nvPr/>
        </p:nvPicPr>
        <p:blipFill>
          <a:blip r:embed="rId4">
            <a:alphaModFix/>
          </a:blip>
          <a:stretch>
            <a:fillRect/>
          </a:stretch>
        </p:blipFill>
        <p:spPr>
          <a:xfrm>
            <a:off x="523875" y="2885300"/>
            <a:ext cx="11144250" cy="2886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p:nvPr/>
        </p:nvSpPr>
        <p:spPr>
          <a:xfrm flipH="1" rot="10800000">
            <a:off x="-1" y="8163"/>
            <a:ext cx="12192000" cy="6858000"/>
          </a:xfrm>
          <a:prstGeom prst="rect">
            <a:avLst/>
          </a:prstGeom>
          <a:gradFill>
            <a:gsLst>
              <a:gs pos="0">
                <a:srgbClr val="1B4284"/>
              </a:gs>
              <a:gs pos="100000">
                <a:srgbClr val="13294B"/>
              </a:gs>
            </a:gsLst>
            <a:lin ang="189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13294B"/>
              </a:solidFill>
              <a:latin typeface="Calibri"/>
              <a:ea typeface="Calibri"/>
              <a:cs typeface="Calibri"/>
              <a:sym typeface="Calibri"/>
            </a:endParaRPr>
          </a:p>
        </p:txBody>
      </p:sp>
      <p:pic>
        <p:nvPicPr>
          <p:cNvPr descr="A close up of a newspaper&#10;&#10;Description automatically generated" id="255" name="Google Shape;255;p34"/>
          <p:cNvPicPr preferRelativeResize="0"/>
          <p:nvPr/>
        </p:nvPicPr>
        <p:blipFill rotWithShape="1">
          <a:blip r:embed="rId3">
            <a:alphaModFix amt="30000"/>
          </a:blip>
          <a:srcRect b="0" l="0" r="0" t="0"/>
          <a:stretch/>
        </p:blipFill>
        <p:spPr>
          <a:xfrm>
            <a:off x="-1" y="8164"/>
            <a:ext cx="12192000" cy="6858000"/>
          </a:xfrm>
          <a:prstGeom prst="rect">
            <a:avLst/>
          </a:prstGeom>
          <a:noFill/>
          <a:ln>
            <a:noFill/>
          </a:ln>
        </p:spPr>
      </p:pic>
      <p:pic>
        <p:nvPicPr>
          <p:cNvPr descr="Graphical user interface, text&#10;&#10;Description automatically generated" id="256" name="Google Shape;256;p34"/>
          <p:cNvPicPr preferRelativeResize="0"/>
          <p:nvPr/>
        </p:nvPicPr>
        <p:blipFill rotWithShape="1">
          <a:blip r:embed="rId4">
            <a:alphaModFix/>
          </a:blip>
          <a:srcRect b="0" l="0" r="0" t="0"/>
          <a:stretch/>
        </p:blipFill>
        <p:spPr>
          <a:xfrm>
            <a:off x="2530021" y="2252985"/>
            <a:ext cx="7131957" cy="23520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2025-09-09T17:56:16Z</dcterms:created>
  <dc:creator>Wandke, Kevin E</dc:creator>
</cp:coreProperties>
</file>