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2"/>
  </p:notesMasterIdLst>
  <p:sldIdLst>
    <p:sldId id="283" r:id="rId2"/>
    <p:sldId id="292" r:id="rId3"/>
    <p:sldId id="277" r:id="rId4"/>
    <p:sldId id="290" r:id="rId5"/>
    <p:sldId id="294" r:id="rId6"/>
    <p:sldId id="300" r:id="rId7"/>
    <p:sldId id="298" r:id="rId8"/>
    <p:sldId id="297" r:id="rId9"/>
    <p:sldId id="291" r:id="rId10"/>
    <p:sldId id="285"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hSaRiTD9uDhGJ3nUfwohnl+c0Rs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4B36"/>
    <a:srgbClr val="15264B"/>
    <a:srgbClr val="1B4284"/>
    <a:srgbClr val="FA5738"/>
    <a:srgbClr val="FF552E"/>
    <a:srgbClr val="13294B"/>
    <a:srgbClr val="0E2248"/>
    <a:srgbClr val="0E2E5A"/>
    <a:srgbClr val="0B1A53"/>
    <a:srgbClr val="0309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707"/>
  </p:normalViewPr>
  <p:slideViewPr>
    <p:cSldViewPr snapToGrid="0" snapToObjects="1">
      <p:cViewPr varScale="1">
        <p:scale>
          <a:sx n="101" d="100"/>
          <a:sy n="101" d="100"/>
        </p:scale>
        <p:origin x="85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9"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7" Type="http://schemas.openxmlformats.org/officeDocument/2006/relationships/viewProps" Target="viewProps.xml"/><Relationship Id="rId5" Type="http://schemas.openxmlformats.org/officeDocument/2006/relationships/slide" Target="slides/slide4.xml"/><Relationship Id="rId36"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35"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352DEBDE-E38A-51EC-F2DC-C2C1A573A68D}"/>
            </a:ext>
          </a:extLst>
        </p:cNvPr>
        <p:cNvGrpSpPr/>
        <p:nvPr/>
      </p:nvGrpSpPr>
      <p:grpSpPr>
        <a:xfrm>
          <a:off x="0" y="0"/>
          <a:ext cx="0" cy="0"/>
          <a:chOff x="0" y="0"/>
          <a:chExt cx="0" cy="0"/>
        </a:xfrm>
      </p:grpSpPr>
      <p:sp>
        <p:nvSpPr>
          <p:cNvPr id="142" name="Google Shape;142;p7:notes">
            <a:extLst>
              <a:ext uri="{FF2B5EF4-FFF2-40B4-BE49-F238E27FC236}">
                <a16:creationId xmlns:a16="http://schemas.microsoft.com/office/drawing/2014/main" id="{C5455EBE-3A0F-E776-F4E0-F7024E118E8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a:extLst>
              <a:ext uri="{FF2B5EF4-FFF2-40B4-BE49-F238E27FC236}">
                <a16:creationId xmlns:a16="http://schemas.microsoft.com/office/drawing/2014/main" id="{B0976610-E3BB-1B38-AF7F-27B7896BA0B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7750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8369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D7CA1E2A-569A-B360-E92F-FC84784BD45B}"/>
            </a:ext>
          </a:extLst>
        </p:cNvPr>
        <p:cNvGrpSpPr/>
        <p:nvPr/>
      </p:nvGrpSpPr>
      <p:grpSpPr>
        <a:xfrm>
          <a:off x="0" y="0"/>
          <a:ext cx="0" cy="0"/>
          <a:chOff x="0" y="0"/>
          <a:chExt cx="0" cy="0"/>
        </a:xfrm>
      </p:grpSpPr>
      <p:sp>
        <p:nvSpPr>
          <p:cNvPr id="142" name="Google Shape;142;p7:notes">
            <a:extLst>
              <a:ext uri="{FF2B5EF4-FFF2-40B4-BE49-F238E27FC236}">
                <a16:creationId xmlns:a16="http://schemas.microsoft.com/office/drawing/2014/main" id="{D6DE77CC-DF74-6762-8DD4-A9B9E590D1D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a:extLst>
              <a:ext uri="{FF2B5EF4-FFF2-40B4-BE49-F238E27FC236}">
                <a16:creationId xmlns:a16="http://schemas.microsoft.com/office/drawing/2014/main" id="{07C57365-643F-7A2D-76AB-A82169558FD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4858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AB5CEB29-5DED-C4A5-DC56-2E2056A41DAF}"/>
            </a:ext>
          </a:extLst>
        </p:cNvPr>
        <p:cNvGrpSpPr/>
        <p:nvPr/>
      </p:nvGrpSpPr>
      <p:grpSpPr>
        <a:xfrm>
          <a:off x="0" y="0"/>
          <a:ext cx="0" cy="0"/>
          <a:chOff x="0" y="0"/>
          <a:chExt cx="0" cy="0"/>
        </a:xfrm>
      </p:grpSpPr>
      <p:sp>
        <p:nvSpPr>
          <p:cNvPr id="142" name="Google Shape;142;p7:notes">
            <a:extLst>
              <a:ext uri="{FF2B5EF4-FFF2-40B4-BE49-F238E27FC236}">
                <a16:creationId xmlns:a16="http://schemas.microsoft.com/office/drawing/2014/main" id="{6787C7FF-C360-6737-A486-B05C0A587C5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a:extLst>
              <a:ext uri="{FF2B5EF4-FFF2-40B4-BE49-F238E27FC236}">
                <a16:creationId xmlns:a16="http://schemas.microsoft.com/office/drawing/2014/main" id="{17E25E4D-6C11-05E7-7CAA-FEDB9CC2346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1197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DC9C9EBC-D8DA-8EBE-4F66-3D7885FAFFBD}"/>
            </a:ext>
          </a:extLst>
        </p:cNvPr>
        <p:cNvGrpSpPr/>
        <p:nvPr/>
      </p:nvGrpSpPr>
      <p:grpSpPr>
        <a:xfrm>
          <a:off x="0" y="0"/>
          <a:ext cx="0" cy="0"/>
          <a:chOff x="0" y="0"/>
          <a:chExt cx="0" cy="0"/>
        </a:xfrm>
      </p:grpSpPr>
      <p:sp>
        <p:nvSpPr>
          <p:cNvPr id="142" name="Google Shape;142;p7:notes">
            <a:extLst>
              <a:ext uri="{FF2B5EF4-FFF2-40B4-BE49-F238E27FC236}">
                <a16:creationId xmlns:a16="http://schemas.microsoft.com/office/drawing/2014/main" id="{F72B211D-BC09-6773-EF88-626CDC366D3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a:extLst>
              <a:ext uri="{FF2B5EF4-FFF2-40B4-BE49-F238E27FC236}">
                <a16:creationId xmlns:a16="http://schemas.microsoft.com/office/drawing/2014/main" id="{03A6CF7E-39E5-ADAE-7953-3E9585060CF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00107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E8AF2873-AAC3-AA92-BB14-A26E0752C7E8}"/>
            </a:ext>
          </a:extLst>
        </p:cNvPr>
        <p:cNvGrpSpPr/>
        <p:nvPr/>
      </p:nvGrpSpPr>
      <p:grpSpPr>
        <a:xfrm>
          <a:off x="0" y="0"/>
          <a:ext cx="0" cy="0"/>
          <a:chOff x="0" y="0"/>
          <a:chExt cx="0" cy="0"/>
        </a:xfrm>
      </p:grpSpPr>
      <p:sp>
        <p:nvSpPr>
          <p:cNvPr id="142" name="Google Shape;142;p7:notes">
            <a:extLst>
              <a:ext uri="{FF2B5EF4-FFF2-40B4-BE49-F238E27FC236}">
                <a16:creationId xmlns:a16="http://schemas.microsoft.com/office/drawing/2014/main" id="{A2D28565-A688-E674-7DDE-848300AE9F4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a:extLst>
              <a:ext uri="{FF2B5EF4-FFF2-40B4-BE49-F238E27FC236}">
                <a16:creationId xmlns:a16="http://schemas.microsoft.com/office/drawing/2014/main" id="{F459DF23-6BB5-77FE-D5AB-B434FC9513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63048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3F4F131F-FF47-ED24-3A6F-2D82ED64E5E6}"/>
            </a:ext>
          </a:extLst>
        </p:cNvPr>
        <p:cNvGrpSpPr/>
        <p:nvPr/>
      </p:nvGrpSpPr>
      <p:grpSpPr>
        <a:xfrm>
          <a:off x="0" y="0"/>
          <a:ext cx="0" cy="0"/>
          <a:chOff x="0" y="0"/>
          <a:chExt cx="0" cy="0"/>
        </a:xfrm>
      </p:grpSpPr>
      <p:sp>
        <p:nvSpPr>
          <p:cNvPr id="142" name="Google Shape;142;p7:notes">
            <a:extLst>
              <a:ext uri="{FF2B5EF4-FFF2-40B4-BE49-F238E27FC236}">
                <a16:creationId xmlns:a16="http://schemas.microsoft.com/office/drawing/2014/main" id="{FC2E080F-1DA8-1798-CBC6-E91363A1653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a:extLst>
              <a:ext uri="{FF2B5EF4-FFF2-40B4-BE49-F238E27FC236}">
                <a16:creationId xmlns:a16="http://schemas.microsoft.com/office/drawing/2014/main" id="{F94624DC-8604-C8DC-2076-CD9895D5BE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3354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E8AF2873-AAC3-AA92-BB14-A26E0752C7E8}"/>
            </a:ext>
          </a:extLst>
        </p:cNvPr>
        <p:cNvGrpSpPr/>
        <p:nvPr/>
      </p:nvGrpSpPr>
      <p:grpSpPr>
        <a:xfrm>
          <a:off x="0" y="0"/>
          <a:ext cx="0" cy="0"/>
          <a:chOff x="0" y="0"/>
          <a:chExt cx="0" cy="0"/>
        </a:xfrm>
      </p:grpSpPr>
      <p:sp>
        <p:nvSpPr>
          <p:cNvPr id="142" name="Google Shape;142;p7:notes">
            <a:extLst>
              <a:ext uri="{FF2B5EF4-FFF2-40B4-BE49-F238E27FC236}">
                <a16:creationId xmlns:a16="http://schemas.microsoft.com/office/drawing/2014/main" id="{A2D28565-A688-E674-7DDE-848300AE9F4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3" name="Google Shape;143;p7:notes">
            <a:extLst>
              <a:ext uri="{FF2B5EF4-FFF2-40B4-BE49-F238E27FC236}">
                <a16:creationId xmlns:a16="http://schemas.microsoft.com/office/drawing/2014/main" id="{F459DF23-6BB5-77FE-D5AB-B434FC9513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6304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dirty="0"/>
          </a:p>
        </p:txBody>
      </p:sp>
      <p:sp>
        <p:nvSpPr>
          <p:cNvPr id="23" name="Google Shape;23;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24" name="Google Shape;2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9" name="Google Shape;29;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pPr lvl="0"/>
            <a:r>
              <a:rPr lang="en-US"/>
              <a:t>Click to edit Master text styles</a:t>
            </a:r>
          </a:p>
        </p:txBody>
      </p:sp>
      <p:sp>
        <p:nvSpPr>
          <p:cNvPr id="30" name="Google Shape;30;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5" name="Google Shape;35;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36" name="Google Shape;36;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37" name="Google Shape;3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2" name="Google Shape;42;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43" name="Google Shape;43;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44" name="Google Shape;44;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45" name="Google Shape;45;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46" name="Google Shape;4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1" name="Google Shape;5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0" name="Google Shape;60;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pPr lvl="0"/>
            <a:r>
              <a:rPr lang="en-US"/>
              <a:t>Click to edit Master text styles</a:t>
            </a:r>
          </a:p>
        </p:txBody>
      </p:sp>
      <p:sp>
        <p:nvSpPr>
          <p:cNvPr id="61" name="Google Shape;61;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62" name="Google Shape;6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7" name="Google Shape;67;p23"/>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r>
              <a:rPr lang="en-US"/>
              <a:t>Click icon to add picture</a:t>
            </a:r>
            <a:endParaRPr/>
          </a:p>
        </p:txBody>
      </p:sp>
      <p:sp>
        <p:nvSpPr>
          <p:cNvPr id="68" name="Google Shape;68;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69" name="Google Shape;69;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4" name="Google Shape;74;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5" name="Google Shape;7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80" name="Google Shape;80;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1" name="Google Shape;8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145;p7">
            <a:extLst>
              <a:ext uri="{FF2B5EF4-FFF2-40B4-BE49-F238E27FC236}">
                <a16:creationId xmlns:a16="http://schemas.microsoft.com/office/drawing/2014/main" id="{C1FA7C40-A5CF-024C-8FE8-5396C6906587}"/>
              </a:ext>
            </a:extLst>
          </p:cNvPr>
          <p:cNvSpPr/>
          <p:nvPr/>
        </p:nvSpPr>
        <p:spPr>
          <a:xfrm rot="10800000" flipH="1">
            <a:off x="-1" y="8163"/>
            <a:ext cx="12192000" cy="6858000"/>
          </a:xfrm>
          <a:prstGeom prst="rect">
            <a:avLst/>
          </a:prstGeom>
          <a:gradFill flip="none" rotWithShape="1">
            <a:gsLst>
              <a:gs pos="0">
                <a:srgbClr val="1B4284"/>
              </a:gs>
              <a:gs pos="100000">
                <a:srgbClr val="13294B"/>
              </a:gs>
            </a:gsLst>
            <a:lin ang="1890000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3" name="Picture 2" descr="A close up of a newspaper&#10;&#10;Description automatically generated">
            <a:extLst>
              <a:ext uri="{FF2B5EF4-FFF2-40B4-BE49-F238E27FC236}">
                <a16:creationId xmlns:a16="http://schemas.microsoft.com/office/drawing/2014/main" id="{249122D5-F0B6-6948-B395-9DF02DCB4E94}"/>
              </a:ext>
            </a:extLst>
          </p:cNvPr>
          <p:cNvPicPr>
            <a:picLocks noChangeAspect="1"/>
          </p:cNvPicPr>
          <p:nvPr/>
        </p:nvPicPr>
        <p:blipFill>
          <a:blip r:embed="rId2">
            <a:alphaModFix amt="30000"/>
          </a:blip>
          <a:stretch>
            <a:fillRect/>
          </a:stretch>
        </p:blipFill>
        <p:spPr>
          <a:xfrm>
            <a:off x="0" y="8164"/>
            <a:ext cx="12192000" cy="6858000"/>
          </a:xfrm>
          <a:prstGeom prst="rect">
            <a:avLst/>
          </a:prstGeom>
        </p:spPr>
      </p:pic>
      <p:sp>
        <p:nvSpPr>
          <p:cNvPr id="4" name="Google Shape;97;p1">
            <a:extLst>
              <a:ext uri="{FF2B5EF4-FFF2-40B4-BE49-F238E27FC236}">
                <a16:creationId xmlns:a16="http://schemas.microsoft.com/office/drawing/2014/main" id="{6EE6B1E5-9B9E-FD48-9F48-627803FDB7F5}"/>
              </a:ext>
            </a:extLst>
          </p:cNvPr>
          <p:cNvSpPr txBox="1"/>
          <p:nvPr/>
        </p:nvSpPr>
        <p:spPr>
          <a:xfrm>
            <a:off x="1134033" y="2211064"/>
            <a:ext cx="9923929" cy="2908448"/>
          </a:xfrm>
          <a:prstGeom prst="rect">
            <a:avLst/>
          </a:prstGeom>
          <a:noFill/>
          <a:ln>
            <a:noFill/>
          </a:ln>
        </p:spPr>
        <p:txBody>
          <a:bodyPr spcFirstLastPara="1" wrap="square" lIns="91425" tIns="45700" rIns="91425" bIns="45700" anchor="t" anchorCtr="0">
            <a:spAutoFit/>
          </a:bodyPr>
          <a:lstStyle/>
          <a:p>
            <a:pPr algn="ctr">
              <a:spcBef>
                <a:spcPts val="600"/>
              </a:spcBef>
            </a:pPr>
            <a:r>
              <a:rPr lang="en-US" sz="4000" spc="200" dirty="0">
                <a:solidFill>
                  <a:schemeClr val="bg1"/>
                </a:solidFill>
                <a:ea typeface="Helvetica Neue Light"/>
                <a:cs typeface="Helvetica Neue Light"/>
                <a:sym typeface="Helvetica Neue Light"/>
              </a:rPr>
              <a:t>ME 370</a:t>
            </a:r>
          </a:p>
          <a:p>
            <a:pPr algn="ctr">
              <a:spcBef>
                <a:spcPts val="600"/>
              </a:spcBef>
            </a:pPr>
            <a:r>
              <a:rPr lang="en-US" sz="4000" b="1" i="0" u="none" strike="noStrike" cap="none" dirty="0">
                <a:solidFill>
                  <a:schemeClr val="lt1"/>
                </a:solidFill>
                <a:latin typeface="+mn-lt"/>
                <a:ea typeface="Helvetica Neue"/>
                <a:cs typeface="Helvetica Neue"/>
                <a:sym typeface="Helvetica Neue"/>
              </a:rPr>
              <a:t>P2</a:t>
            </a:r>
            <a:r>
              <a:rPr lang="en-US" sz="4000" b="1" dirty="0">
                <a:solidFill>
                  <a:schemeClr val="lt1"/>
                </a:solidFill>
                <a:latin typeface="+mn-lt"/>
                <a:ea typeface="Helvetica Neue"/>
                <a:cs typeface="Helvetica Neue"/>
                <a:sym typeface="Helvetica Neue"/>
              </a:rPr>
              <a:t>D2</a:t>
            </a:r>
            <a:r>
              <a:rPr lang="en-US" sz="4000" b="1" i="0" u="none" strike="noStrike" cap="none" dirty="0">
                <a:solidFill>
                  <a:schemeClr val="lt1"/>
                </a:solidFill>
                <a:latin typeface="+mn-lt"/>
                <a:ea typeface="Helvetica Neue"/>
                <a:cs typeface="Helvetica Neue"/>
                <a:sym typeface="Helvetica Neue"/>
              </a:rPr>
              <a:t> (</a:t>
            </a:r>
            <a:r>
              <a:rPr lang="en-US" sz="4000" b="1" dirty="0">
                <a:solidFill>
                  <a:schemeClr val="lt1"/>
                </a:solidFill>
                <a:latin typeface="+mn-lt"/>
                <a:ea typeface="Helvetica Neue"/>
                <a:cs typeface="Helvetica Neue"/>
                <a:sym typeface="Helvetica Neue"/>
              </a:rPr>
              <a:t>Descriptive Project</a:t>
            </a:r>
            <a:r>
              <a:rPr lang="en-US" sz="4000" b="1" i="0" u="none" strike="noStrike" cap="none" dirty="0">
                <a:solidFill>
                  <a:schemeClr val="lt1"/>
                </a:solidFill>
                <a:latin typeface="+mn-lt"/>
                <a:ea typeface="Helvetica Neue"/>
                <a:cs typeface="Helvetica Neue"/>
                <a:sym typeface="Helvetica Neue"/>
              </a:rPr>
              <a:t> Title)</a:t>
            </a:r>
            <a:endParaRPr sz="4000" dirty="0">
              <a:solidFill>
                <a:schemeClr val="lt1"/>
              </a:solidFill>
              <a:latin typeface="+mn-lt"/>
            </a:endParaRPr>
          </a:p>
          <a:p>
            <a:pPr lvl="0" algn="ctr"/>
            <a:r>
              <a:rPr lang="en-US" sz="2400" spc="200" dirty="0">
                <a:solidFill>
                  <a:schemeClr val="bg1"/>
                </a:solidFill>
                <a:ea typeface="Helvetica Neue Light"/>
                <a:cs typeface="Helvetica Neue Light"/>
                <a:sym typeface="Helvetica Neue Light"/>
              </a:rPr>
              <a:t>(Team #: Team member names – introduce yourselves)</a:t>
            </a:r>
          </a:p>
          <a:p>
            <a:pPr lvl="0" algn="ctr">
              <a:spcBef>
                <a:spcPts val="600"/>
              </a:spcBef>
            </a:pPr>
            <a:endParaRPr lang="en-US" sz="1800" dirty="0">
              <a:solidFill>
                <a:schemeClr val="lt1"/>
              </a:solidFill>
              <a:latin typeface="+mn-lt"/>
              <a:ea typeface="Helvetica Neue"/>
              <a:cs typeface="Helvetica Neue"/>
              <a:sym typeface="Helvetica Neue"/>
            </a:endParaRPr>
          </a:p>
          <a:p>
            <a:pPr lvl="0" algn="ctr">
              <a:spcBef>
                <a:spcPts val="600"/>
              </a:spcBef>
            </a:pPr>
            <a:r>
              <a:rPr lang="en-US" sz="1800" dirty="0">
                <a:solidFill>
                  <a:schemeClr val="lt1"/>
                </a:solidFill>
                <a:latin typeface="+mn-lt"/>
                <a:ea typeface="Helvetica Neue"/>
                <a:cs typeface="Helvetica Neue"/>
                <a:sym typeface="Helvetica Neue"/>
              </a:rPr>
              <a:t>(For a consistent visual look to the slides please use the font Arial for all the text.)</a:t>
            </a:r>
          </a:p>
          <a:p>
            <a:pPr lvl="0" algn="ctr">
              <a:spcBef>
                <a:spcPts val="600"/>
              </a:spcBef>
            </a:pPr>
            <a:r>
              <a:rPr lang="en-US" sz="1800" dirty="0">
                <a:solidFill>
                  <a:schemeClr val="lt1"/>
                </a:solidFill>
                <a:latin typeface="+mn-lt"/>
                <a:ea typeface="Helvetica Neue"/>
                <a:cs typeface="Helvetica Neue"/>
                <a:sym typeface="Helvetica Neue"/>
              </a:rPr>
              <a:t>(Additionally, use orange and blue consistently with your headings and subheadings.)</a:t>
            </a:r>
            <a:endParaRPr sz="1800" dirty="0">
              <a:latin typeface="+mn-lt"/>
            </a:endParaRPr>
          </a:p>
        </p:txBody>
      </p:sp>
      <p:pic>
        <p:nvPicPr>
          <p:cNvPr id="5" name="Picture 4" descr="A picture containing drawing&#10;&#10;Description automatically generated">
            <a:extLst>
              <a:ext uri="{FF2B5EF4-FFF2-40B4-BE49-F238E27FC236}">
                <a16:creationId xmlns:a16="http://schemas.microsoft.com/office/drawing/2014/main" id="{8FBAA0E1-3AE3-CC42-A2EA-C66D0BE988E2}"/>
              </a:ext>
            </a:extLst>
          </p:cNvPr>
          <p:cNvPicPr>
            <a:picLocks noChangeAspect="1"/>
          </p:cNvPicPr>
          <p:nvPr/>
        </p:nvPicPr>
        <p:blipFill>
          <a:blip r:embed="rId3"/>
          <a:stretch>
            <a:fillRect/>
          </a:stretch>
        </p:blipFill>
        <p:spPr>
          <a:xfrm>
            <a:off x="4641007" y="852965"/>
            <a:ext cx="2909982" cy="754082"/>
          </a:xfrm>
          <a:prstGeom prst="rect">
            <a:avLst/>
          </a:prstGeom>
        </p:spPr>
      </p:pic>
      <p:sp>
        <p:nvSpPr>
          <p:cNvPr id="6" name="Google Shape;98;p1">
            <a:extLst>
              <a:ext uri="{FF2B5EF4-FFF2-40B4-BE49-F238E27FC236}">
                <a16:creationId xmlns:a16="http://schemas.microsoft.com/office/drawing/2014/main" id="{5C6D8374-322F-A84C-B20A-504C6528FDDA}"/>
              </a:ext>
            </a:extLst>
          </p:cNvPr>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spc="300" dirty="0">
                <a:solidFill>
                  <a:schemeClr val="bg1"/>
                </a:solidFill>
                <a:latin typeface="+mn-lt"/>
                <a:ea typeface="Helvetica Neue Light"/>
                <a:sym typeface="Helvetica Neue Light"/>
              </a:rPr>
              <a:t>DATE</a:t>
            </a:r>
            <a:endParaRPr sz="1800" spc="300" dirty="0">
              <a:solidFill>
                <a:schemeClr val="bg1"/>
              </a:solidFill>
              <a:latin typeface="+mn-lt"/>
            </a:endParaRPr>
          </a:p>
        </p:txBody>
      </p:sp>
    </p:spTree>
    <p:extLst>
      <p:ext uri="{BB962C8B-B14F-4D97-AF65-F5344CB8AC3E}">
        <p14:creationId xmlns:p14="http://schemas.microsoft.com/office/powerpoint/2010/main" val="2981613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37C12E87-D5B5-5AFC-4F95-7843DFF83B2F}"/>
            </a:ext>
          </a:extLst>
        </p:cNvPr>
        <p:cNvGrpSpPr/>
        <p:nvPr/>
      </p:nvGrpSpPr>
      <p:grpSpPr>
        <a:xfrm>
          <a:off x="0" y="0"/>
          <a:ext cx="0" cy="0"/>
          <a:chOff x="0" y="0"/>
          <a:chExt cx="0" cy="0"/>
        </a:xfrm>
      </p:grpSpPr>
      <p:sp>
        <p:nvSpPr>
          <p:cNvPr id="147" name="Google Shape;147;p7">
            <a:extLst>
              <a:ext uri="{FF2B5EF4-FFF2-40B4-BE49-F238E27FC236}">
                <a16:creationId xmlns:a16="http://schemas.microsoft.com/office/drawing/2014/main" id="{4D9E433B-9FB5-06A3-392B-80FB49CCC07C}"/>
              </a:ext>
            </a:extLst>
          </p:cNvPr>
          <p:cNvSpPr txBox="1">
            <a:spLocks noGrp="1"/>
          </p:cNvSpPr>
          <p:nvPr>
            <p:ph type="body" idx="1"/>
          </p:nvPr>
        </p:nvSpPr>
        <p:spPr>
          <a:xfrm>
            <a:off x="430335" y="528116"/>
            <a:ext cx="11177401" cy="5453583"/>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2000"/>
              <a:buNone/>
            </a:pPr>
            <a:r>
              <a:rPr lang="en-US" sz="1800" b="1" dirty="0">
                <a:latin typeface="Arial" panose="020B0604020202020204" pitchFamily="34" charset="0"/>
                <a:cs typeface="Arial" panose="020B0604020202020204" pitchFamily="34" charset="0"/>
              </a:rPr>
              <a:t>Quick note:</a:t>
            </a:r>
          </a:p>
          <a:p>
            <a:pPr marL="0" indent="0">
              <a:lnSpc>
                <a:spcPct val="100000"/>
              </a:lnSpc>
              <a:spcBef>
                <a:spcPts val="0"/>
              </a:spcBef>
              <a:buSzPts val="2000"/>
              <a:buNone/>
            </a:pPr>
            <a:endParaRPr lang="en-US" sz="1800" b="1" dirty="0">
              <a:solidFill>
                <a:schemeClr val="tx1"/>
              </a:solidFill>
              <a:latin typeface="Arial" panose="020B0604020202020204" pitchFamily="34" charset="0"/>
              <a:cs typeface="Arial" panose="020B0604020202020204" pitchFamily="34" charset="0"/>
            </a:endParaRPr>
          </a:p>
          <a:p>
            <a:pPr marL="0" indent="0">
              <a:lnSpc>
                <a:spcPct val="100000"/>
              </a:lnSpc>
              <a:spcBef>
                <a:spcPts val="0"/>
              </a:spcBef>
              <a:buSzPts val="2000"/>
              <a:buNone/>
            </a:pPr>
            <a:r>
              <a:rPr lang="en-US" sz="1800" dirty="0">
                <a:solidFill>
                  <a:schemeClr val="tx1"/>
                </a:solidFill>
                <a:latin typeface="Arial" panose="020B0604020202020204" pitchFamily="34" charset="0"/>
                <a:cs typeface="Arial" panose="020B0604020202020204" pitchFamily="34" charset="0"/>
              </a:rPr>
              <a:t>Use this template as a guide. Please do not follow it exactly. Use whatever order and format is the clearest and makes sense given your group, design, and user context. Review the project description and grading rubric to ensure that all categories are addressed.</a:t>
            </a:r>
          </a:p>
          <a:p>
            <a:pPr marL="0" indent="0">
              <a:lnSpc>
                <a:spcPct val="100000"/>
              </a:lnSpc>
              <a:spcBef>
                <a:spcPts val="0"/>
              </a:spcBef>
              <a:buSzPts val="2000"/>
              <a:buNone/>
            </a:pPr>
            <a:endParaRPr lang="en-US" sz="1800" dirty="0">
              <a:solidFill>
                <a:schemeClr val="tx1"/>
              </a:solidFill>
              <a:latin typeface="Arial" panose="020B0604020202020204" pitchFamily="34" charset="0"/>
              <a:cs typeface="Arial" panose="020B0604020202020204" pitchFamily="34" charset="0"/>
            </a:endParaRPr>
          </a:p>
          <a:p>
            <a:pPr marL="0" indent="0">
              <a:lnSpc>
                <a:spcPct val="100000"/>
              </a:lnSpc>
              <a:spcBef>
                <a:spcPts val="0"/>
              </a:spcBef>
              <a:buSzPts val="2000"/>
              <a:buNone/>
            </a:pPr>
            <a:r>
              <a:rPr lang="en-US" sz="1800" b="1" dirty="0">
                <a:solidFill>
                  <a:schemeClr val="tx1"/>
                </a:solidFill>
                <a:latin typeface="Arial" panose="020B0604020202020204" pitchFamily="34" charset="0"/>
                <a:cs typeface="Arial" panose="020B0604020202020204" pitchFamily="34" charset="0"/>
              </a:rPr>
              <a:t>Additional guidelines</a:t>
            </a:r>
          </a:p>
          <a:p>
            <a:pPr marL="0" indent="0">
              <a:lnSpc>
                <a:spcPct val="100000"/>
              </a:lnSpc>
              <a:spcBef>
                <a:spcPts val="0"/>
              </a:spcBef>
              <a:buSzPts val="2000"/>
              <a:buNone/>
            </a:pPr>
            <a:endParaRPr lang="en-US" sz="1800" dirty="0">
              <a:solidFill>
                <a:schemeClr val="tx1"/>
              </a:solidFill>
              <a:latin typeface="Arial" panose="020B0604020202020204" pitchFamily="34" charset="0"/>
              <a:cs typeface="Arial" panose="020B0604020202020204" pitchFamily="34" charset="0"/>
            </a:endParaRPr>
          </a:p>
          <a:p>
            <a:pPr marL="285750" indent="-285750">
              <a:lnSpc>
                <a:spcPct val="100000"/>
              </a:lnSpc>
              <a:spcBef>
                <a:spcPts val="0"/>
              </a:spcBef>
              <a:buSzPts val="2000"/>
            </a:pPr>
            <a:r>
              <a:rPr lang="en-US" sz="1800" dirty="0">
                <a:solidFill>
                  <a:schemeClr val="tx1"/>
                </a:solidFill>
                <a:latin typeface="Arial" panose="020B0604020202020204" pitchFamily="34" charset="0"/>
                <a:cs typeface="Arial" panose="020B0604020202020204" pitchFamily="34" charset="0"/>
              </a:rPr>
              <a:t>Presentations should be kept to a </a:t>
            </a:r>
            <a:r>
              <a:rPr lang="en-US" sz="1800" b="1" dirty="0">
                <a:solidFill>
                  <a:schemeClr val="tx1"/>
                </a:solidFill>
                <a:latin typeface="Arial" panose="020B0604020202020204" pitchFamily="34" charset="0"/>
                <a:cs typeface="Arial" panose="020B0604020202020204" pitchFamily="34" charset="0"/>
              </a:rPr>
              <a:t>maximum of 8 minutes</a:t>
            </a:r>
            <a:r>
              <a:rPr lang="en-US" sz="1800" dirty="0">
                <a:solidFill>
                  <a:schemeClr val="tx1"/>
                </a:solidFill>
                <a:latin typeface="Arial" panose="020B0604020202020204" pitchFamily="34" charset="0"/>
                <a:cs typeface="Arial" panose="020B0604020202020204" pitchFamily="34" charset="0"/>
              </a:rPr>
              <a:t>, and all team members should present</a:t>
            </a:r>
          </a:p>
          <a:p>
            <a:pPr marL="285750" indent="-285750">
              <a:lnSpc>
                <a:spcPct val="100000"/>
              </a:lnSpc>
              <a:spcBef>
                <a:spcPts val="0"/>
              </a:spcBef>
              <a:buSzPts val="2000"/>
            </a:pPr>
            <a:r>
              <a:rPr lang="en-US" sz="1800" b="1" dirty="0">
                <a:solidFill>
                  <a:schemeClr val="tx1"/>
                </a:solidFill>
                <a:latin typeface="Arial" panose="020B0604020202020204" pitchFamily="34" charset="0"/>
                <a:cs typeface="Arial" panose="020B0604020202020204" pitchFamily="34" charset="0"/>
              </a:rPr>
              <a:t>Rehearse and practice </a:t>
            </a:r>
            <a:r>
              <a:rPr lang="en-US" sz="1800" dirty="0">
                <a:solidFill>
                  <a:schemeClr val="tx1"/>
                </a:solidFill>
                <a:latin typeface="Arial" panose="020B0604020202020204" pitchFamily="34" charset="0"/>
                <a:cs typeface="Arial" panose="020B0604020202020204" pitchFamily="34" charset="0"/>
              </a:rPr>
              <a:t>presentation as a team several times ahead of time. Employ good slide design and presentation skills to earn full points. </a:t>
            </a:r>
          </a:p>
          <a:p>
            <a:pPr marL="285750" indent="-285750">
              <a:lnSpc>
                <a:spcPct val="100000"/>
              </a:lnSpc>
              <a:spcBef>
                <a:spcPts val="0"/>
              </a:spcBef>
              <a:buSzPts val="2000"/>
            </a:pPr>
            <a:r>
              <a:rPr lang="en-US" sz="1800" dirty="0">
                <a:solidFill>
                  <a:schemeClr val="tx1"/>
                </a:solidFill>
                <a:latin typeface="Arial" panose="020B0604020202020204" pitchFamily="34" charset="0"/>
                <a:cs typeface="Arial" panose="020B0604020202020204" pitchFamily="34" charset="0"/>
              </a:rPr>
              <a:t>Pointer: no more than 1 slide per minute of presentation (less slides if there are many ideas to discuss per slide)</a:t>
            </a:r>
          </a:p>
          <a:p>
            <a:pPr marL="285750" indent="-285750">
              <a:lnSpc>
                <a:spcPct val="100000"/>
              </a:lnSpc>
              <a:spcBef>
                <a:spcPts val="0"/>
              </a:spcBef>
              <a:buSzPts val="2000"/>
            </a:pPr>
            <a:r>
              <a:rPr lang="en-US" sz="1800" dirty="0">
                <a:solidFill>
                  <a:schemeClr val="tx1"/>
                </a:solidFill>
                <a:latin typeface="Arial" panose="020B0604020202020204" pitchFamily="34" charset="0"/>
                <a:cs typeface="Arial" panose="020B0604020202020204" pitchFamily="34" charset="0"/>
              </a:rPr>
              <a:t>Remove notes and instructions in template </a:t>
            </a:r>
          </a:p>
          <a:p>
            <a:pPr marL="285750" indent="-285750">
              <a:lnSpc>
                <a:spcPct val="100000"/>
              </a:lnSpc>
              <a:spcBef>
                <a:spcPts val="0"/>
              </a:spcBef>
              <a:buSzPts val="2000"/>
              <a:buFont typeface="Wingdings" panose="05000000000000000000" pitchFamily="2" charset="2"/>
              <a:buChar char="v"/>
            </a:pPr>
            <a:r>
              <a:rPr lang="en-US" sz="1800" dirty="0">
                <a:solidFill>
                  <a:srgbClr val="0070C0"/>
                </a:solidFill>
                <a:latin typeface="Arial"/>
                <a:cs typeface="Arial"/>
              </a:rPr>
              <a:t>Submit your presentation as a PDF with the following filename format: </a:t>
            </a:r>
            <a:r>
              <a:rPr lang="en-US" sz="1800" b="1" dirty="0">
                <a:solidFill>
                  <a:srgbClr val="0070C0"/>
                </a:solidFill>
                <a:latin typeface="Arial"/>
                <a:cs typeface="Arial"/>
              </a:rPr>
              <a:t>P2D2_Team##</a:t>
            </a:r>
            <a:r>
              <a:rPr lang="en-US" sz="1800" b="1" dirty="0">
                <a:solidFill>
                  <a:srgbClr val="0070C0"/>
                </a:solidFill>
                <a:latin typeface="Arial"/>
              </a:rPr>
              <a:t>_Presentation</a:t>
            </a:r>
            <a:r>
              <a:rPr lang="en-US" sz="1800" dirty="0">
                <a:solidFill>
                  <a:srgbClr val="0070C0"/>
                </a:solidFill>
                <a:latin typeface="Arial"/>
              </a:rPr>
              <a:t>.pdf (use two digit team number 01-60). You will lose points for incorrectly naming your files. We have 59 teams to keep track</a:t>
            </a:r>
            <a:endParaRPr lang="en-US" sz="1800" dirty="0">
              <a:solidFill>
                <a:srgbClr val="0070C0"/>
              </a:solidFill>
              <a:latin typeface="Arial"/>
              <a:cs typeface="Arial"/>
            </a:endParaRPr>
          </a:p>
          <a:p>
            <a:pPr marL="285750" indent="-285750">
              <a:lnSpc>
                <a:spcPct val="100000"/>
              </a:lnSpc>
              <a:spcBef>
                <a:spcPts val="0"/>
              </a:spcBef>
              <a:buSzPts val="2000"/>
            </a:pPr>
            <a:endParaRPr lang="en-US" sz="1800" dirty="0">
              <a:solidFill>
                <a:schemeClr val="tx1"/>
              </a:solidFill>
              <a:latin typeface="Arial" panose="020B0604020202020204" pitchFamily="34" charset="0"/>
              <a:cs typeface="Arial" panose="020B0604020202020204" pitchFamily="34" charset="0"/>
            </a:endParaRPr>
          </a:p>
          <a:p>
            <a:pPr marL="285750" indent="-285750">
              <a:lnSpc>
                <a:spcPct val="100000"/>
              </a:lnSpc>
              <a:spcBef>
                <a:spcPts val="0"/>
              </a:spcBef>
              <a:buSzPts val="2000"/>
            </a:pPr>
            <a:endParaRPr lang="en-US" sz="1800" dirty="0">
              <a:solidFill>
                <a:srgbClr val="000000"/>
              </a:solidFill>
              <a:latin typeface="Arial" panose="020B0604020202020204" pitchFamily="34" charset="0"/>
              <a:cs typeface="Arial" panose="020B0604020202020204" pitchFamily="34" charset="0"/>
            </a:endParaRPr>
          </a:p>
          <a:p>
            <a:pPr marL="0" indent="0">
              <a:lnSpc>
                <a:spcPct val="100000"/>
              </a:lnSpc>
              <a:spcBef>
                <a:spcPts val="0"/>
              </a:spcBef>
              <a:buSzPts val="2000"/>
              <a:buNone/>
            </a:pPr>
            <a:r>
              <a:rPr lang="en-US" sz="1800" dirty="0">
                <a:solidFill>
                  <a:srgbClr val="FF0000"/>
                </a:solidFill>
                <a:latin typeface="Arial" panose="020B0604020202020204" pitchFamily="34" charset="0"/>
                <a:cs typeface="Arial" panose="020B0604020202020204" pitchFamily="34" charset="0"/>
              </a:rPr>
              <a:t>All presentations will be held in 1001 MEL, NOT in the Innovation Studio</a:t>
            </a:r>
          </a:p>
        </p:txBody>
      </p:sp>
    </p:spTree>
    <p:extLst>
      <p:ext uri="{BB962C8B-B14F-4D97-AF65-F5344CB8AC3E}">
        <p14:creationId xmlns:p14="http://schemas.microsoft.com/office/powerpoint/2010/main" val="2955881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7" name="Google Shape;147;p7"/>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3000"/>
              <a:buNone/>
            </a:pPr>
            <a:r>
              <a:rPr lang="en-US" sz="2600" dirty="0">
                <a:solidFill>
                  <a:schemeClr val="tx1"/>
                </a:solidFill>
                <a:latin typeface="Arial" panose="020B0604020202020204" pitchFamily="34" charset="0"/>
                <a:cs typeface="Arial" panose="020B0604020202020204" pitchFamily="34" charset="0"/>
                <a:sym typeface="Helvetica Neue Light"/>
              </a:rPr>
              <a:t>Remind the audience what is the purpose of your robot, target group, payload, theme, etc. </a:t>
            </a:r>
          </a:p>
          <a:p>
            <a:pPr marL="0" lvl="0" indent="0">
              <a:lnSpc>
                <a:spcPct val="100000"/>
              </a:lnSpc>
              <a:spcBef>
                <a:spcPts val="0"/>
              </a:spcBef>
              <a:buSzPts val="3000"/>
              <a:buNone/>
            </a:pPr>
            <a:endParaRPr lang="en-US" sz="2600" dirty="0">
              <a:solidFill>
                <a:schemeClr val="tx1"/>
              </a:solidFill>
              <a:latin typeface="Arial" panose="020B0604020202020204" pitchFamily="34" charset="0"/>
              <a:cs typeface="Arial" panose="020B0604020202020204" pitchFamily="34" charset="0"/>
              <a:sym typeface="Helvetica Neue Light"/>
            </a:endParaRPr>
          </a:p>
          <a:p>
            <a:pPr marL="0" lvl="0" indent="0">
              <a:lnSpc>
                <a:spcPct val="100000"/>
              </a:lnSpc>
              <a:spcBef>
                <a:spcPts val="0"/>
              </a:spcBef>
              <a:buSzPts val="3000"/>
              <a:buNone/>
            </a:pPr>
            <a:r>
              <a:rPr lang="en-US" sz="2600" dirty="0">
                <a:solidFill>
                  <a:schemeClr val="tx1"/>
                </a:solidFill>
                <a:latin typeface="Arial" panose="020B0604020202020204" pitchFamily="34" charset="0"/>
                <a:cs typeface="Arial" panose="020B0604020202020204" pitchFamily="34" charset="0"/>
                <a:sym typeface="Helvetica Neue Light"/>
              </a:rPr>
              <a:t>Provide an image (photo of actual prototype or CAD rendering) of your entire robot </a:t>
            </a:r>
            <a:endParaRPr lang="en-US" sz="1800" dirty="0">
              <a:solidFill>
                <a:schemeClr val="tx1"/>
              </a:solidFill>
              <a:latin typeface="Arial" panose="020B0604020202020204" pitchFamily="34" charset="0"/>
              <a:cs typeface="Arial" panose="020B0604020202020204" pitchFamily="34" charset="0"/>
            </a:endParaRPr>
          </a:p>
        </p:txBody>
      </p:sp>
      <p:sp>
        <p:nvSpPr>
          <p:cNvPr id="18" name="Google Shape;145;p7">
            <a:extLst>
              <a:ext uri="{FF2B5EF4-FFF2-40B4-BE49-F238E27FC236}">
                <a16:creationId xmlns:a16="http://schemas.microsoft.com/office/drawing/2014/main" id="{DBD98685-E6DB-4548-992F-86EFC1B6F030}"/>
              </a:ext>
            </a:extLst>
          </p:cNvPr>
          <p:cNvSpPr/>
          <p:nvPr/>
        </p:nvSpPr>
        <p:spPr>
          <a:xfrm rot="10800000" flipH="1">
            <a:off x="0" y="6437013"/>
            <a:ext cx="12192000" cy="420987"/>
          </a:xfrm>
          <a:prstGeom prst="rect">
            <a:avLst/>
          </a:prstGeom>
          <a:gradFill flip="none" rotWithShape="1">
            <a:gsLst>
              <a:gs pos="0">
                <a:schemeClr val="bg1">
                  <a:lumMod val="50000"/>
                </a:schemeClr>
              </a:gs>
              <a:gs pos="100000">
                <a:schemeClr val="bg1">
                  <a:lumMod val="75000"/>
                </a:schemeClr>
              </a:gs>
            </a:gsLst>
            <a:lin ang="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9" name="Google Shape;100;p1">
            <a:extLst>
              <a:ext uri="{FF2B5EF4-FFF2-40B4-BE49-F238E27FC236}">
                <a16:creationId xmlns:a16="http://schemas.microsoft.com/office/drawing/2014/main" id="{52C66BBC-9453-B54E-8859-F2AF5ADAFA53}"/>
              </a:ext>
            </a:extLst>
          </p:cNvPr>
          <p:cNvSpPr txBox="1"/>
          <p:nvPr/>
        </p:nvSpPr>
        <p:spPr>
          <a:xfrm>
            <a:off x="376807" y="6486281"/>
            <a:ext cx="3505062" cy="230792"/>
          </a:xfrm>
          <a:prstGeom prst="rect">
            <a:avLst/>
          </a:prstGeom>
          <a:noFill/>
          <a:ln>
            <a:noFill/>
          </a:ln>
        </p:spPr>
        <p:txBody>
          <a:bodyPr spcFirstLastPara="1" wrap="square" lIns="91425" tIns="45700" rIns="91425" bIns="45700" anchor="t" anchorCtr="0">
            <a:spAutoFit/>
          </a:bodyPr>
          <a:lstStyle/>
          <a:p>
            <a:pPr lvl="0"/>
            <a:r>
              <a:rPr lang="en-US" sz="900" spc="200" dirty="0">
                <a:solidFill>
                  <a:schemeClr val="bg1"/>
                </a:solidFill>
                <a:ea typeface="Helvetica Neue Light"/>
                <a:cs typeface="Helvetica Neue Light"/>
                <a:sym typeface="Helvetica Neue Light"/>
              </a:rPr>
              <a:t>Mechanical Science and Engineering</a:t>
            </a:r>
          </a:p>
        </p:txBody>
      </p:sp>
      <p:sp>
        <p:nvSpPr>
          <p:cNvPr id="20" name="Google Shape;100;p1">
            <a:extLst>
              <a:ext uri="{FF2B5EF4-FFF2-40B4-BE49-F238E27FC236}">
                <a16:creationId xmlns:a16="http://schemas.microsoft.com/office/drawing/2014/main" id="{B922E6F9-2383-DE41-BF46-8C23337DD10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lvl="0" algn="r"/>
            <a:r>
              <a:rPr lang="en-US" sz="900" spc="200" dirty="0">
                <a:solidFill>
                  <a:schemeClr val="bg1"/>
                </a:solidFill>
                <a:ea typeface="Helvetica Neue Light"/>
                <a:cs typeface="Helvetica Neue Light"/>
                <a:sym typeface="Helvetica Neue Light"/>
              </a:rPr>
              <a:t>GRAINGER ENGINEERING</a:t>
            </a:r>
          </a:p>
        </p:txBody>
      </p:sp>
      <p:sp>
        <p:nvSpPr>
          <p:cNvPr id="21" name="Google Shape;145;p7">
            <a:extLst>
              <a:ext uri="{FF2B5EF4-FFF2-40B4-BE49-F238E27FC236}">
                <a16:creationId xmlns:a16="http://schemas.microsoft.com/office/drawing/2014/main" id="{614C97B7-5CDB-E748-9964-18DA2B80CC66}"/>
              </a:ext>
            </a:extLst>
          </p:cNvPr>
          <p:cNvSpPr/>
          <p:nvPr/>
        </p:nvSpPr>
        <p:spPr>
          <a:xfrm rot="10800000" flipH="1">
            <a:off x="0" y="-7695"/>
            <a:ext cx="12192000" cy="868218"/>
          </a:xfrm>
          <a:prstGeom prst="rect">
            <a:avLst/>
          </a:prstGeom>
          <a:gradFill>
            <a:gsLst>
              <a:gs pos="0">
                <a:srgbClr val="1B4284"/>
              </a:gs>
              <a:gs pos="100000">
                <a:srgbClr val="13294B"/>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22" name="Picture 21" descr="A close up of a logo&#10;&#10;Description automatically generated">
            <a:extLst>
              <a:ext uri="{FF2B5EF4-FFF2-40B4-BE49-F238E27FC236}">
                <a16:creationId xmlns:a16="http://schemas.microsoft.com/office/drawing/2014/main" id="{5D9EC8C9-6293-D94F-BB71-5442E3339467}"/>
              </a:ext>
            </a:extLst>
          </p:cNvPr>
          <p:cNvPicPr>
            <a:picLocks noChangeAspect="1"/>
          </p:cNvPicPr>
          <p:nvPr/>
        </p:nvPicPr>
        <p:blipFill>
          <a:blip r:embed="rId3"/>
          <a:stretch>
            <a:fillRect/>
          </a:stretch>
        </p:blipFill>
        <p:spPr>
          <a:xfrm>
            <a:off x="11554210" y="228014"/>
            <a:ext cx="277906" cy="401420"/>
          </a:xfrm>
          <a:prstGeom prst="rect">
            <a:avLst/>
          </a:prstGeom>
        </p:spPr>
      </p:pic>
      <p:sp>
        <p:nvSpPr>
          <p:cNvPr id="23" name="Google Shape;100;p1">
            <a:extLst>
              <a:ext uri="{FF2B5EF4-FFF2-40B4-BE49-F238E27FC236}">
                <a16:creationId xmlns:a16="http://schemas.microsoft.com/office/drawing/2014/main" id="{85A69606-3816-5244-A5CD-EC3EA84F3070}"/>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2400" u="none" strike="noStrike" cap="none" dirty="0">
                <a:solidFill>
                  <a:schemeClr val="lt1"/>
                </a:solidFill>
                <a:latin typeface="+mn-lt"/>
                <a:ea typeface="Helvetica Neue Light"/>
                <a:cs typeface="Helvetica Neue Light"/>
                <a:sym typeface="Helvetica Neue Light"/>
              </a:rPr>
              <a:t>Overview Slide</a:t>
            </a:r>
            <a:endParaRPr lang="en-US" sz="2400" dirty="0">
              <a:solidFill>
                <a:schemeClr val="lt1"/>
              </a:solidFill>
              <a:latin typeface="+mn-lt"/>
              <a:ea typeface="Helvetica Neue Light"/>
              <a:cs typeface="Helvetica Neue Light"/>
              <a:sym typeface="Helvetica Neue Light"/>
            </a:endParaRPr>
          </a:p>
        </p:txBody>
      </p:sp>
      <p:sp>
        <p:nvSpPr>
          <p:cNvPr id="2" name="TextBox 1">
            <a:extLst>
              <a:ext uri="{FF2B5EF4-FFF2-40B4-BE49-F238E27FC236}">
                <a16:creationId xmlns:a16="http://schemas.microsoft.com/office/drawing/2014/main" id="{CD6184C9-520C-9551-3F3F-63766CC4CE7D}"/>
              </a:ext>
            </a:extLst>
          </p:cNvPr>
          <p:cNvSpPr txBox="1"/>
          <p:nvPr/>
        </p:nvSpPr>
        <p:spPr>
          <a:xfrm>
            <a:off x="4447106" y="6485888"/>
            <a:ext cx="2661503" cy="307777"/>
          </a:xfrm>
          <a:prstGeom prst="rect">
            <a:avLst/>
          </a:prstGeom>
          <a:noFill/>
        </p:spPr>
        <p:txBody>
          <a:bodyPr wrap="square" rtlCol="0">
            <a:spAutoFit/>
          </a:bodyPr>
          <a:lstStyle/>
          <a:p>
            <a:r>
              <a:rPr lang="en-US" dirty="0"/>
              <a:t>Speaker’s name and slide #</a:t>
            </a:r>
          </a:p>
        </p:txBody>
      </p:sp>
      <p:sp>
        <p:nvSpPr>
          <p:cNvPr id="5" name="Slide Number Placeholder 4">
            <a:extLst>
              <a:ext uri="{FF2B5EF4-FFF2-40B4-BE49-F238E27FC236}">
                <a16:creationId xmlns:a16="http://schemas.microsoft.com/office/drawing/2014/main" id="{37130E86-44D1-D02E-AE8B-11892C84B855}"/>
              </a:ext>
            </a:extLst>
          </p:cNvPr>
          <p:cNvSpPr>
            <a:spLocks noGrp="1"/>
          </p:cNvSpPr>
          <p:nvPr>
            <p:ph type="sldNum" idx="12"/>
          </p:nvPr>
        </p:nvSpPr>
        <p:spPr>
          <a:xfrm>
            <a:off x="8591550" y="6442075"/>
            <a:ext cx="666750" cy="355600"/>
          </a:xfrm>
        </p:spPr>
        <p:txBody>
          <a:bodyPr/>
          <a:lstStyle/>
          <a:p>
            <a:fld id="{00000000-1234-1234-1234-123412341234}" type="slidenum">
              <a:rPr lang="en-US" sz="1400" dirty="0">
                <a:solidFill>
                  <a:schemeClr val="bg1"/>
                </a:solidFill>
              </a:rPr>
              <a:t>3</a:t>
            </a:fld>
            <a:endParaRPr lang="en-US" sz="1400" dirty="0">
              <a:solidFill>
                <a:schemeClr val="bg1"/>
              </a:solidFill>
            </a:endParaRPr>
          </a:p>
        </p:txBody>
      </p:sp>
    </p:spTree>
    <p:extLst>
      <p:ext uri="{BB962C8B-B14F-4D97-AF65-F5344CB8AC3E}">
        <p14:creationId xmlns:p14="http://schemas.microsoft.com/office/powerpoint/2010/main" val="2492365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1C3DEA7D-80CA-D49F-6B6C-49597D617D05}"/>
            </a:ext>
          </a:extLst>
        </p:cNvPr>
        <p:cNvGrpSpPr/>
        <p:nvPr/>
      </p:nvGrpSpPr>
      <p:grpSpPr>
        <a:xfrm>
          <a:off x="0" y="0"/>
          <a:ext cx="0" cy="0"/>
          <a:chOff x="0" y="0"/>
          <a:chExt cx="0" cy="0"/>
        </a:xfrm>
      </p:grpSpPr>
      <p:sp>
        <p:nvSpPr>
          <p:cNvPr id="147" name="Google Shape;147;p7">
            <a:extLst>
              <a:ext uri="{FF2B5EF4-FFF2-40B4-BE49-F238E27FC236}">
                <a16:creationId xmlns:a16="http://schemas.microsoft.com/office/drawing/2014/main" id="{D1BB762E-B094-CF9C-46F7-7FBF100F9EF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3000"/>
              <a:buNone/>
            </a:pPr>
            <a:r>
              <a:rPr lang="en-US" sz="2600" b="1" dirty="0">
                <a:solidFill>
                  <a:srgbClr val="E84B36"/>
                </a:solidFill>
                <a:latin typeface="Arial" panose="020B0604020202020204" pitchFamily="34" charset="0"/>
                <a:cs typeface="Arial" panose="020B0604020202020204" pitchFamily="34" charset="0"/>
                <a:sym typeface="Helvetica Neue Light"/>
              </a:rPr>
              <a:t>Description of robot design (walking and dispensing mechanisms)</a:t>
            </a:r>
            <a:endParaRPr lang="en-US" sz="2600" b="1" dirty="0">
              <a:solidFill>
                <a:srgbClr val="E84B36"/>
              </a:solidFill>
              <a:latin typeface="Arial" panose="020B0604020202020204" pitchFamily="34" charset="0"/>
              <a:cs typeface="Arial" panose="020B0604020202020204" pitchFamily="34" charset="0"/>
            </a:endParaRPr>
          </a:p>
          <a:p>
            <a:pPr marL="0" lvl="0" indent="0">
              <a:lnSpc>
                <a:spcPct val="100000"/>
              </a:lnSpc>
              <a:spcBef>
                <a:spcPts val="0"/>
              </a:spcBef>
              <a:buSzPts val="2000"/>
              <a:buNone/>
            </a:pPr>
            <a:endParaRPr lang="en-US"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indent="0">
              <a:lnSpc>
                <a:spcPct val="100000"/>
              </a:lnSpc>
              <a:spcBef>
                <a:spcPts val="0"/>
              </a:spcBef>
              <a:buSzPts val="2000"/>
              <a:buNone/>
            </a:pPr>
            <a:r>
              <a:rPr lang="en-US" sz="1800" b="1" dirty="0">
                <a:solidFill>
                  <a:srgbClr val="15264B"/>
                </a:solidFill>
                <a:latin typeface="Arial" panose="020B0604020202020204" pitchFamily="34" charset="0"/>
                <a:ea typeface="Helvetica Neue Light"/>
                <a:cs typeface="Arial" panose="020B0604020202020204" pitchFamily="34" charset="0"/>
                <a:sym typeface="Helvetica Neue Light"/>
              </a:rPr>
              <a:t>Be prepared to discuss elements of your design</a:t>
            </a:r>
            <a:endParaRPr lang="en-US" sz="1800" b="1" dirty="0">
              <a:solidFill>
                <a:srgbClr val="15264B"/>
              </a:solidFill>
              <a:ea typeface="Helvetica Neue Light"/>
              <a:cs typeface="Arial" panose="020B0604020202020204" pitchFamily="34" charset="0"/>
              <a:sym typeface="Helvetica Neue Light"/>
            </a:endParaRPr>
          </a:p>
          <a:p>
            <a:pPr marL="0" indent="0">
              <a:lnSpc>
                <a:spcPct val="100000"/>
              </a:lnSpc>
              <a:spcBef>
                <a:spcPts val="0"/>
              </a:spcBef>
              <a:buSzPts val="2000"/>
              <a:buNone/>
            </a:pPr>
            <a:r>
              <a:rPr lang="en-US" sz="1800" dirty="0">
                <a:latin typeface="Arial" panose="020B0604020202020204" pitchFamily="34" charset="0"/>
                <a:cs typeface="Arial" panose="020B0604020202020204" pitchFamily="34" charset="0"/>
              </a:rPr>
              <a:t>How will it work with the dispenser?</a:t>
            </a:r>
          </a:p>
          <a:p>
            <a:pPr marL="0" indent="0">
              <a:lnSpc>
                <a:spcPct val="100000"/>
              </a:lnSpc>
              <a:spcBef>
                <a:spcPts val="0"/>
              </a:spcBef>
              <a:buSzPts val="2000"/>
              <a:buNone/>
            </a:pPr>
            <a:r>
              <a:rPr lang="en-US" sz="1800" dirty="0">
                <a:latin typeface="Arial" panose="020B0604020202020204" pitchFamily="34" charset="0"/>
                <a:cs typeface="Arial" panose="020B0604020202020204" pitchFamily="34" charset="0"/>
              </a:rPr>
              <a:t>How many legs will it have? How do the legs work?</a:t>
            </a:r>
          </a:p>
          <a:p>
            <a:pPr marL="0" indent="0">
              <a:lnSpc>
                <a:spcPct val="100000"/>
              </a:lnSpc>
              <a:spcBef>
                <a:spcPts val="0"/>
              </a:spcBef>
              <a:buSzPts val="2000"/>
              <a:buNone/>
            </a:pPr>
            <a:r>
              <a:rPr lang="en-US" sz="1800" dirty="0">
                <a:latin typeface="Arial" panose="020B0604020202020204" pitchFamily="34" charset="0"/>
                <a:cs typeface="Arial" panose="020B0604020202020204" pitchFamily="34" charset="0"/>
              </a:rPr>
              <a:t>How do the legs and dispenser work together?</a:t>
            </a:r>
          </a:p>
          <a:p>
            <a:pPr marL="0" indent="0">
              <a:lnSpc>
                <a:spcPct val="100000"/>
              </a:lnSpc>
              <a:spcBef>
                <a:spcPts val="0"/>
              </a:spcBef>
              <a:buSzPts val="2000"/>
              <a:buNone/>
            </a:pPr>
            <a:endParaRPr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lvl="0" indent="0">
              <a:lnSpc>
                <a:spcPct val="100000"/>
              </a:lnSpc>
              <a:spcBef>
                <a:spcPts val="0"/>
              </a:spcBef>
              <a:buSzPts val="3000"/>
              <a:buNone/>
            </a:pPr>
            <a:r>
              <a:rPr lang="en-US" sz="2000" b="1" dirty="0">
                <a:solidFill>
                  <a:srgbClr val="15264B"/>
                </a:solidFill>
                <a:latin typeface="Arial" panose="020B0604020202020204" pitchFamily="34" charset="0"/>
                <a:ea typeface="Helvetica Neue Light"/>
                <a:cs typeface="Arial" panose="020B0604020202020204" pitchFamily="34" charset="0"/>
                <a:sym typeface="Helvetica Neue Light"/>
              </a:rPr>
              <a:t>Include several detailed CAD images</a:t>
            </a:r>
          </a:p>
          <a:p>
            <a:pPr marL="0" lvl="0" indent="0">
              <a:lnSpc>
                <a:spcPct val="100000"/>
              </a:lnSpc>
              <a:spcBef>
                <a:spcPts val="0"/>
              </a:spcBef>
              <a:buSzPts val="3000"/>
              <a:buNone/>
            </a:pPr>
            <a:r>
              <a:rPr lang="en-US" sz="1600" dirty="0">
                <a:solidFill>
                  <a:schemeClr val="tx1"/>
                </a:solidFill>
                <a:latin typeface="Arial" panose="020B0604020202020204" pitchFamily="34" charset="0"/>
                <a:cs typeface="Arial" panose="020B0604020202020204" pitchFamily="34" charset="0"/>
              </a:rPr>
              <a:t>Please </a:t>
            </a:r>
            <a:r>
              <a:rPr lang="en-US" sz="1600" u="sng" dirty="0">
                <a:solidFill>
                  <a:schemeClr val="tx1"/>
                </a:solidFill>
                <a:latin typeface="Arial" panose="020B0604020202020204" pitchFamily="34" charset="0"/>
                <a:cs typeface="Arial" panose="020B0604020202020204" pitchFamily="34" charset="0"/>
              </a:rPr>
              <a:t>label key components</a:t>
            </a:r>
            <a:r>
              <a:rPr lang="en-US" sz="1600" dirty="0">
                <a:solidFill>
                  <a:schemeClr val="tx1"/>
                </a:solidFill>
                <a:latin typeface="Arial" panose="020B0604020202020204" pitchFamily="34" charset="0"/>
                <a:cs typeface="Arial" panose="020B0604020202020204" pitchFamily="34" charset="0"/>
              </a:rPr>
              <a:t> and include:</a:t>
            </a:r>
          </a:p>
          <a:p>
            <a:pPr marL="0" lvl="0" indent="0">
              <a:lnSpc>
                <a:spcPct val="100000"/>
              </a:lnSpc>
              <a:spcBef>
                <a:spcPts val="0"/>
              </a:spcBef>
              <a:buSzPts val="3000"/>
              <a:buNone/>
            </a:pPr>
            <a:r>
              <a:rPr lang="en-US" sz="1600" dirty="0">
                <a:solidFill>
                  <a:schemeClr val="tx1"/>
                </a:solidFill>
                <a:latin typeface="Arial" panose="020B0604020202020204" pitchFamily="34" charset="0"/>
                <a:cs typeface="Arial" panose="020B0604020202020204" pitchFamily="34" charset="0"/>
              </a:rPr>
              <a:t>Chassis with walking and dispensing mechanisms</a:t>
            </a:r>
          </a:p>
          <a:p>
            <a:pPr marL="0" lvl="0" indent="0">
              <a:lnSpc>
                <a:spcPct val="100000"/>
              </a:lnSpc>
              <a:spcBef>
                <a:spcPts val="0"/>
              </a:spcBef>
              <a:buSzPts val="3000"/>
              <a:buNone/>
            </a:pPr>
            <a:r>
              <a:rPr lang="en-US" sz="1600" dirty="0">
                <a:solidFill>
                  <a:schemeClr val="tx1"/>
                </a:solidFill>
                <a:latin typeface="Arial" panose="020B0604020202020204" pitchFamily="34" charset="0"/>
                <a:cs typeface="Arial" panose="020B0604020202020204" pitchFamily="34" charset="0"/>
              </a:rPr>
              <a:t>Drivetrain </a:t>
            </a:r>
          </a:p>
          <a:p>
            <a:pPr marL="0" lvl="0" indent="0">
              <a:lnSpc>
                <a:spcPct val="100000"/>
              </a:lnSpc>
              <a:spcBef>
                <a:spcPts val="0"/>
              </a:spcBef>
              <a:buSzPts val="3000"/>
              <a:buNone/>
            </a:pPr>
            <a:r>
              <a:rPr lang="en-US" sz="1600" dirty="0">
                <a:solidFill>
                  <a:schemeClr val="tx1"/>
                </a:solidFill>
                <a:latin typeface="Arial" panose="020B0604020202020204" pitchFamily="34" charset="0"/>
                <a:cs typeface="Arial" panose="020B0604020202020204" pitchFamily="34" charset="0"/>
              </a:rPr>
              <a:t>Leg mechanism, highlighting the foot path and gait</a:t>
            </a:r>
          </a:p>
          <a:p>
            <a:pPr marL="0" lvl="0" indent="0">
              <a:lnSpc>
                <a:spcPct val="100000"/>
              </a:lnSpc>
              <a:spcBef>
                <a:spcPts val="0"/>
              </a:spcBef>
              <a:buSzPts val="3000"/>
              <a:buNone/>
            </a:pPr>
            <a:r>
              <a:rPr lang="en-US" sz="1600" dirty="0">
                <a:solidFill>
                  <a:schemeClr val="tx1"/>
                </a:solidFill>
                <a:latin typeface="Arial" panose="020B0604020202020204" pitchFamily="34" charset="0"/>
                <a:cs typeface="Arial" panose="020B0604020202020204" pitchFamily="34" charset="0"/>
              </a:rPr>
              <a:t>Dispensing mechanism</a:t>
            </a:r>
          </a:p>
          <a:p>
            <a:pPr marL="0" lvl="0" indent="0">
              <a:lnSpc>
                <a:spcPct val="100000"/>
              </a:lnSpc>
              <a:spcBef>
                <a:spcPts val="0"/>
              </a:spcBef>
              <a:buSzPts val="3000"/>
              <a:buNone/>
            </a:pPr>
            <a:endParaRPr lang="en-US" sz="1600" dirty="0">
              <a:solidFill>
                <a:schemeClr val="tx1"/>
              </a:solidFill>
              <a:latin typeface="Arial" panose="020B0604020202020204" pitchFamily="34" charset="0"/>
              <a:cs typeface="Arial" panose="020B0604020202020204" pitchFamily="34" charset="0"/>
            </a:endParaRPr>
          </a:p>
          <a:p>
            <a:pPr marL="0" lvl="0" indent="0">
              <a:lnSpc>
                <a:spcPct val="100000"/>
              </a:lnSpc>
              <a:spcBef>
                <a:spcPts val="0"/>
              </a:spcBef>
              <a:buSzPts val="3000"/>
              <a:buNone/>
            </a:pPr>
            <a:r>
              <a:rPr lang="en-US" sz="1800" dirty="0">
                <a:solidFill>
                  <a:schemeClr val="tx1"/>
                </a:solidFill>
                <a:latin typeface="Arial" panose="020B0604020202020204" pitchFamily="34" charset="0"/>
                <a:cs typeface="Arial" panose="020B0604020202020204" pitchFamily="34" charset="0"/>
              </a:rPr>
              <a:t>Use different colors to represent components to ease differentiation of parts</a:t>
            </a:r>
          </a:p>
          <a:p>
            <a:pPr marL="0" lvl="0" indent="0">
              <a:lnSpc>
                <a:spcPct val="100000"/>
              </a:lnSpc>
              <a:spcBef>
                <a:spcPts val="0"/>
              </a:spcBef>
              <a:buSzPts val="3000"/>
              <a:buNone/>
            </a:pPr>
            <a:endParaRPr lang="en-US" sz="1800" dirty="0">
              <a:solidFill>
                <a:schemeClr val="tx1"/>
              </a:solidFill>
              <a:latin typeface="Arial" panose="020B0604020202020204" pitchFamily="34" charset="0"/>
              <a:cs typeface="Arial" panose="020B0604020202020204" pitchFamily="34" charset="0"/>
            </a:endParaRPr>
          </a:p>
          <a:p>
            <a:pPr marL="0" lvl="0" indent="0">
              <a:lnSpc>
                <a:spcPct val="100000"/>
              </a:lnSpc>
              <a:spcBef>
                <a:spcPts val="0"/>
              </a:spcBef>
              <a:buSzPts val="3000"/>
              <a:buNone/>
            </a:pPr>
            <a:r>
              <a:rPr lang="en-US" sz="1800" dirty="0">
                <a:solidFill>
                  <a:schemeClr val="tx1"/>
                </a:solidFill>
                <a:latin typeface="Arial" panose="020B0604020202020204" pitchFamily="34" charset="0"/>
                <a:cs typeface="Arial" panose="020B0604020202020204" pitchFamily="34" charset="0"/>
              </a:rPr>
              <a:t>Use multiple slides</a:t>
            </a:r>
          </a:p>
        </p:txBody>
      </p:sp>
      <p:sp>
        <p:nvSpPr>
          <p:cNvPr id="18" name="Google Shape;145;p7">
            <a:extLst>
              <a:ext uri="{FF2B5EF4-FFF2-40B4-BE49-F238E27FC236}">
                <a16:creationId xmlns:a16="http://schemas.microsoft.com/office/drawing/2014/main" id="{D2039915-9704-5A79-6109-1D96F902AC28}"/>
              </a:ext>
            </a:extLst>
          </p:cNvPr>
          <p:cNvSpPr/>
          <p:nvPr/>
        </p:nvSpPr>
        <p:spPr>
          <a:xfrm rot="10800000" flipH="1">
            <a:off x="0" y="6443455"/>
            <a:ext cx="12192000" cy="420987"/>
          </a:xfrm>
          <a:prstGeom prst="rect">
            <a:avLst/>
          </a:prstGeom>
          <a:gradFill flip="none" rotWithShape="1">
            <a:gsLst>
              <a:gs pos="0">
                <a:schemeClr val="bg1">
                  <a:lumMod val="50000"/>
                </a:schemeClr>
              </a:gs>
              <a:gs pos="100000">
                <a:schemeClr val="bg1">
                  <a:lumMod val="75000"/>
                </a:schemeClr>
              </a:gs>
            </a:gsLst>
            <a:lin ang="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9" name="Google Shape;100;p1">
            <a:extLst>
              <a:ext uri="{FF2B5EF4-FFF2-40B4-BE49-F238E27FC236}">
                <a16:creationId xmlns:a16="http://schemas.microsoft.com/office/drawing/2014/main" id="{397705DF-21A0-62D9-95AD-5358A9C4EB8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lvl="0"/>
            <a:r>
              <a:rPr lang="en-US" sz="900" spc="200" dirty="0">
                <a:solidFill>
                  <a:schemeClr val="bg1"/>
                </a:solidFill>
                <a:ea typeface="Helvetica Neue Light"/>
                <a:cs typeface="Helvetica Neue Light"/>
                <a:sym typeface="Helvetica Neue Light"/>
              </a:rPr>
              <a:t>Mechanical Science and Engineering</a:t>
            </a:r>
          </a:p>
        </p:txBody>
      </p:sp>
      <p:sp>
        <p:nvSpPr>
          <p:cNvPr id="20" name="Google Shape;100;p1">
            <a:extLst>
              <a:ext uri="{FF2B5EF4-FFF2-40B4-BE49-F238E27FC236}">
                <a16:creationId xmlns:a16="http://schemas.microsoft.com/office/drawing/2014/main" id="{CF5C4A4F-97C6-5DB7-E462-2C85FFE1C22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lvl="0" algn="r"/>
            <a:r>
              <a:rPr lang="en-US" sz="900" spc="200" dirty="0">
                <a:solidFill>
                  <a:schemeClr val="bg1"/>
                </a:solidFill>
                <a:ea typeface="Helvetica Neue Light"/>
                <a:cs typeface="Helvetica Neue Light"/>
                <a:sym typeface="Helvetica Neue Light"/>
              </a:rPr>
              <a:t>GRAINGER ENGINEERING</a:t>
            </a:r>
          </a:p>
        </p:txBody>
      </p:sp>
      <p:sp>
        <p:nvSpPr>
          <p:cNvPr id="21" name="Google Shape;145;p7">
            <a:extLst>
              <a:ext uri="{FF2B5EF4-FFF2-40B4-BE49-F238E27FC236}">
                <a16:creationId xmlns:a16="http://schemas.microsoft.com/office/drawing/2014/main" id="{80A53291-BC12-0A2A-421B-E04696C50BDF}"/>
              </a:ext>
            </a:extLst>
          </p:cNvPr>
          <p:cNvSpPr/>
          <p:nvPr/>
        </p:nvSpPr>
        <p:spPr>
          <a:xfrm rot="10800000" flipH="1">
            <a:off x="0" y="-7695"/>
            <a:ext cx="12192000" cy="868218"/>
          </a:xfrm>
          <a:prstGeom prst="rect">
            <a:avLst/>
          </a:prstGeom>
          <a:gradFill>
            <a:gsLst>
              <a:gs pos="0">
                <a:srgbClr val="1B4284"/>
              </a:gs>
              <a:gs pos="100000">
                <a:srgbClr val="13294B"/>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22" name="Picture 21" descr="A close up of a logo&#10;&#10;Description automatically generated">
            <a:extLst>
              <a:ext uri="{FF2B5EF4-FFF2-40B4-BE49-F238E27FC236}">
                <a16:creationId xmlns:a16="http://schemas.microsoft.com/office/drawing/2014/main" id="{E24149EB-20A0-5A0E-852F-9C0E91E63FEF}"/>
              </a:ext>
            </a:extLst>
          </p:cNvPr>
          <p:cNvPicPr>
            <a:picLocks noChangeAspect="1"/>
          </p:cNvPicPr>
          <p:nvPr/>
        </p:nvPicPr>
        <p:blipFill>
          <a:blip r:embed="rId3"/>
          <a:stretch>
            <a:fillRect/>
          </a:stretch>
        </p:blipFill>
        <p:spPr>
          <a:xfrm>
            <a:off x="11554210" y="228014"/>
            <a:ext cx="277906" cy="401420"/>
          </a:xfrm>
          <a:prstGeom prst="rect">
            <a:avLst/>
          </a:prstGeom>
        </p:spPr>
      </p:pic>
      <p:sp>
        <p:nvSpPr>
          <p:cNvPr id="23" name="Google Shape;100;p1">
            <a:extLst>
              <a:ext uri="{FF2B5EF4-FFF2-40B4-BE49-F238E27FC236}">
                <a16:creationId xmlns:a16="http://schemas.microsoft.com/office/drawing/2014/main" id="{9D28FA62-CD53-6455-5FC8-87FCBBA94668}"/>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2400" u="none" strike="noStrike" cap="none" dirty="0">
                <a:solidFill>
                  <a:schemeClr val="lt1"/>
                </a:solidFill>
                <a:latin typeface="+mn-lt"/>
                <a:ea typeface="Helvetica Neue Light"/>
                <a:cs typeface="Helvetica Neue Light"/>
                <a:sym typeface="Helvetica Neue Light"/>
              </a:rPr>
              <a:t>Proposed design</a:t>
            </a:r>
            <a:endParaRPr lang="en-US" sz="2400" dirty="0">
              <a:solidFill>
                <a:schemeClr val="lt1"/>
              </a:solidFill>
              <a:latin typeface="+mn-lt"/>
              <a:ea typeface="Helvetica Neue Light"/>
              <a:cs typeface="Helvetica Neue Light"/>
              <a:sym typeface="Helvetica Neue Light"/>
            </a:endParaRPr>
          </a:p>
        </p:txBody>
      </p:sp>
      <p:sp>
        <p:nvSpPr>
          <p:cNvPr id="4" name="TextBox 3">
            <a:extLst>
              <a:ext uri="{FF2B5EF4-FFF2-40B4-BE49-F238E27FC236}">
                <a16:creationId xmlns:a16="http://schemas.microsoft.com/office/drawing/2014/main" id="{B5025451-C510-15B5-A10C-B342E6E9E719}"/>
              </a:ext>
            </a:extLst>
          </p:cNvPr>
          <p:cNvSpPr txBox="1"/>
          <p:nvPr/>
        </p:nvSpPr>
        <p:spPr>
          <a:xfrm>
            <a:off x="4447106" y="6485888"/>
            <a:ext cx="2661503" cy="307777"/>
          </a:xfrm>
          <a:prstGeom prst="rect">
            <a:avLst/>
          </a:prstGeom>
          <a:noFill/>
        </p:spPr>
        <p:txBody>
          <a:bodyPr wrap="square" rtlCol="0">
            <a:spAutoFit/>
          </a:bodyPr>
          <a:lstStyle/>
          <a:p>
            <a:r>
              <a:rPr lang="en-US" dirty="0"/>
              <a:t>Speaker’s name and slide #</a:t>
            </a:r>
          </a:p>
        </p:txBody>
      </p:sp>
      <p:sp>
        <p:nvSpPr>
          <p:cNvPr id="7" name="Slide Number Placeholder 4">
            <a:extLst>
              <a:ext uri="{FF2B5EF4-FFF2-40B4-BE49-F238E27FC236}">
                <a16:creationId xmlns:a16="http://schemas.microsoft.com/office/drawing/2014/main" id="{B5D60831-80A6-0EDC-5ABE-5FD76CB6EC73}"/>
              </a:ext>
            </a:extLst>
          </p:cNvPr>
          <p:cNvSpPr>
            <a:spLocks noGrp="1"/>
          </p:cNvSpPr>
          <p:nvPr>
            <p:ph type="sldNum" idx="12"/>
          </p:nvPr>
        </p:nvSpPr>
        <p:spPr>
          <a:xfrm>
            <a:off x="8591550" y="6442075"/>
            <a:ext cx="666750" cy="355600"/>
          </a:xfrm>
        </p:spPr>
        <p:txBody>
          <a:bodyPr/>
          <a:lstStyle/>
          <a:p>
            <a:fld id="{00000000-1234-1234-1234-123412341234}" type="slidenum">
              <a:rPr lang="en-US" sz="1400" dirty="0">
                <a:solidFill>
                  <a:schemeClr val="bg1"/>
                </a:solidFill>
              </a:rPr>
              <a:t>4</a:t>
            </a:fld>
            <a:endParaRPr lang="en-US" sz="1400" dirty="0">
              <a:solidFill>
                <a:schemeClr val="bg1"/>
              </a:solidFill>
            </a:endParaRPr>
          </a:p>
        </p:txBody>
      </p:sp>
    </p:spTree>
    <p:extLst>
      <p:ext uri="{BB962C8B-B14F-4D97-AF65-F5344CB8AC3E}">
        <p14:creationId xmlns:p14="http://schemas.microsoft.com/office/powerpoint/2010/main" val="6756298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928BE26D-3D2B-BFCF-628B-846DCE8444F3}"/>
            </a:ext>
          </a:extLst>
        </p:cNvPr>
        <p:cNvGrpSpPr/>
        <p:nvPr/>
      </p:nvGrpSpPr>
      <p:grpSpPr>
        <a:xfrm>
          <a:off x="0" y="0"/>
          <a:ext cx="0" cy="0"/>
          <a:chOff x="0" y="0"/>
          <a:chExt cx="0" cy="0"/>
        </a:xfrm>
      </p:grpSpPr>
      <p:sp>
        <p:nvSpPr>
          <p:cNvPr id="147" name="Google Shape;147;p7">
            <a:extLst>
              <a:ext uri="{FF2B5EF4-FFF2-40B4-BE49-F238E27FC236}">
                <a16:creationId xmlns:a16="http://schemas.microsoft.com/office/drawing/2014/main" id="{2BF3AEA1-3789-E575-9A16-F34AB2B33DE6}"/>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3000"/>
              <a:buNone/>
            </a:pPr>
            <a:r>
              <a:rPr lang="en-US" sz="2600" b="1" dirty="0">
                <a:solidFill>
                  <a:srgbClr val="E84B36"/>
                </a:solidFill>
                <a:latin typeface="Arial" panose="020B0604020202020204" pitchFamily="34" charset="0"/>
                <a:ea typeface="Helvetica Neue Light"/>
                <a:cs typeface="Arial" panose="020B0604020202020204" pitchFamily="34" charset="0"/>
                <a:sym typeface="Helvetica Neue Light"/>
              </a:rPr>
              <a:t>Show off your animated/articulated CAD model with a short video. </a:t>
            </a:r>
            <a:endParaRPr lang="en-US" sz="2600" b="1" dirty="0">
              <a:solidFill>
                <a:srgbClr val="E84B36"/>
              </a:solidFill>
              <a:latin typeface="Arial" panose="020B0604020202020204" pitchFamily="34" charset="0"/>
              <a:cs typeface="Arial" panose="020B0604020202020204" pitchFamily="34" charset="0"/>
            </a:endParaRPr>
          </a:p>
          <a:p>
            <a:pPr marL="0" lvl="0" indent="0">
              <a:lnSpc>
                <a:spcPct val="100000"/>
              </a:lnSpc>
              <a:spcBef>
                <a:spcPts val="0"/>
              </a:spcBef>
              <a:buSzPts val="2000"/>
              <a:buNone/>
            </a:pPr>
            <a:endParaRPr lang="en-US"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indent="0">
              <a:lnSpc>
                <a:spcPct val="100000"/>
              </a:lnSpc>
              <a:spcBef>
                <a:spcPts val="0"/>
              </a:spcBef>
              <a:buSzPts val="2000"/>
              <a:buNone/>
            </a:pPr>
            <a:r>
              <a:rPr lang="en-US" sz="1800" dirty="0">
                <a:latin typeface="Arial"/>
                <a:cs typeface="Arial"/>
              </a:rPr>
              <a:t>It is ok to just drag your motor shaft around instead of needing to create a full animation. Show moving design from multiple viewing perspectives. Illustrate how the leg and dispensing mechanisms move during at least 1 complete dispensing cycle.</a:t>
            </a:r>
            <a:endParaRPr lang="en-US" sz="1800" dirty="0">
              <a:latin typeface="Arial" panose="020B0604020202020204" pitchFamily="34" charset="0"/>
              <a:cs typeface="Arial" panose="020B0604020202020204" pitchFamily="34" charset="0"/>
            </a:endParaRPr>
          </a:p>
          <a:p>
            <a:pPr marL="0" indent="0">
              <a:lnSpc>
                <a:spcPct val="100000"/>
              </a:lnSpc>
              <a:spcBef>
                <a:spcPts val="0"/>
              </a:spcBef>
              <a:buSzPts val="2000"/>
              <a:buNone/>
            </a:pPr>
            <a:endParaRPr lang="en-US" sz="1800" dirty="0">
              <a:solidFill>
                <a:srgbClr val="0070C0"/>
              </a:solidFill>
              <a:latin typeface="Arial" panose="020B0604020202020204" pitchFamily="34" charset="0"/>
              <a:cs typeface="Arial" panose="020B0604020202020204" pitchFamily="34" charset="0"/>
            </a:endParaRPr>
          </a:p>
          <a:p>
            <a:pPr marL="0" indent="0">
              <a:lnSpc>
                <a:spcPct val="100000"/>
              </a:lnSpc>
              <a:spcBef>
                <a:spcPts val="0"/>
              </a:spcBef>
              <a:buSzPts val="2000"/>
              <a:buNone/>
            </a:pPr>
            <a:r>
              <a:rPr lang="en-US" sz="1800" dirty="0">
                <a:solidFill>
                  <a:srgbClr val="0070C0"/>
                </a:solidFill>
                <a:latin typeface="Arial"/>
                <a:cs typeface="Arial"/>
              </a:rPr>
              <a:t>Additionally, upload your CAD video to Gradescope as a .mp4 file (max size 500MB)</a:t>
            </a:r>
            <a:endParaRPr lang="en-US" sz="1800" dirty="0">
              <a:solidFill>
                <a:srgbClr val="0070C0"/>
              </a:solidFill>
              <a:latin typeface="Arial" panose="020B0604020202020204" pitchFamily="34" charset="0"/>
              <a:cs typeface="Arial" panose="020B0604020202020204" pitchFamily="34" charset="0"/>
            </a:endParaRPr>
          </a:p>
          <a:p>
            <a:pPr marL="0" indent="0">
              <a:lnSpc>
                <a:spcPct val="100000"/>
              </a:lnSpc>
              <a:spcBef>
                <a:spcPts val="0"/>
              </a:spcBef>
              <a:buSzPts val="2000"/>
              <a:buNone/>
            </a:pPr>
            <a:endParaRPr lang="en-US" sz="1800" dirty="0">
              <a:solidFill>
                <a:schemeClr val="tx1"/>
              </a:solidFill>
              <a:latin typeface="Arial" panose="020B0604020202020204" pitchFamily="34" charset="0"/>
              <a:cs typeface="Arial" panose="020B0604020202020204" pitchFamily="34" charset="0"/>
            </a:endParaRPr>
          </a:p>
          <a:p>
            <a:pPr marL="0" indent="0">
              <a:lnSpc>
                <a:spcPct val="100000"/>
              </a:lnSpc>
              <a:spcBef>
                <a:spcPts val="0"/>
              </a:spcBef>
              <a:buSzPts val="2000"/>
              <a:buNone/>
            </a:pPr>
            <a:endParaRPr lang="en-US" sz="1800" dirty="0">
              <a:solidFill>
                <a:srgbClr val="000000"/>
              </a:solidFill>
              <a:latin typeface="Arial" panose="020B0604020202020204" pitchFamily="34" charset="0"/>
              <a:cs typeface="Arial" panose="020B0604020202020204" pitchFamily="34" charset="0"/>
              <a:sym typeface="Helvetica Neue Light"/>
            </a:endParaRPr>
          </a:p>
          <a:p>
            <a:pPr marL="0" lvl="0" indent="0">
              <a:lnSpc>
                <a:spcPct val="100000"/>
              </a:lnSpc>
              <a:spcBef>
                <a:spcPts val="0"/>
              </a:spcBef>
              <a:buSzPts val="3000"/>
              <a:buNone/>
            </a:pPr>
            <a:r>
              <a:rPr lang="en-US" sz="2000" b="1" dirty="0">
                <a:solidFill>
                  <a:srgbClr val="15264B"/>
                </a:solidFill>
                <a:latin typeface="Arial" panose="020B0604020202020204" pitchFamily="34" charset="0"/>
                <a:ea typeface="Helvetica Neue Light"/>
                <a:cs typeface="Arial" panose="020B0604020202020204" pitchFamily="34" charset="0"/>
                <a:sym typeface="Helvetica Neue Light"/>
              </a:rPr>
              <a:t>Be prepared to discuss elements of your design here</a:t>
            </a:r>
            <a:endParaRPr lang="en-US" sz="2000" b="1" dirty="0">
              <a:solidFill>
                <a:srgbClr val="15264B"/>
              </a:solidFill>
              <a:latin typeface="+mn-lt"/>
              <a:ea typeface="Helvetica Neue Light"/>
              <a:cs typeface="Arial" panose="020B0604020202020204" pitchFamily="34" charset="0"/>
              <a:sym typeface="Helvetica Neue Light"/>
            </a:endParaRPr>
          </a:p>
          <a:p>
            <a:pPr marL="0" lvl="0" indent="0">
              <a:lnSpc>
                <a:spcPct val="100000"/>
              </a:lnSpc>
              <a:spcBef>
                <a:spcPts val="0"/>
              </a:spcBef>
              <a:buSzPts val="3000"/>
              <a:buNone/>
            </a:pPr>
            <a:endParaRPr lang="en-US" sz="1800" b="1"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lvl="0" indent="0">
              <a:lnSpc>
                <a:spcPct val="100000"/>
              </a:lnSpc>
              <a:spcBef>
                <a:spcPts val="0"/>
              </a:spcBef>
              <a:buSzPts val="3000"/>
              <a:buNone/>
            </a:pPr>
            <a:r>
              <a:rPr lang="en-US" sz="1800" dirty="0">
                <a:latin typeface="Arial"/>
                <a:cs typeface="Arial"/>
              </a:rPr>
              <a:t>Lorem ipsum dolor sit </a:t>
            </a:r>
            <a:r>
              <a:rPr lang="en-US" sz="1800" dirty="0" err="1">
                <a:latin typeface="Arial"/>
                <a:cs typeface="Arial"/>
              </a:rPr>
              <a:t>amet</a:t>
            </a:r>
            <a:r>
              <a:rPr lang="en-US" sz="1800" dirty="0">
                <a:latin typeface="Arial"/>
                <a:cs typeface="Arial"/>
              </a:rPr>
              <a:t>, </a:t>
            </a:r>
            <a:r>
              <a:rPr lang="en-US" sz="1800" dirty="0" err="1">
                <a:latin typeface="Arial"/>
                <a:cs typeface="Arial"/>
              </a:rPr>
              <a:t>consectetur</a:t>
            </a:r>
            <a:r>
              <a:rPr lang="en-US" sz="1800" dirty="0">
                <a:latin typeface="Arial"/>
                <a:cs typeface="Arial"/>
              </a:rPr>
              <a:t> </a:t>
            </a:r>
            <a:r>
              <a:rPr lang="en-US" sz="1800" dirty="0" err="1">
                <a:latin typeface="Arial"/>
                <a:cs typeface="Arial"/>
              </a:rPr>
              <a:t>adipiscing</a:t>
            </a:r>
            <a:r>
              <a:rPr lang="en-US" sz="1800" dirty="0">
                <a:latin typeface="Arial"/>
                <a:cs typeface="Arial"/>
              </a:rPr>
              <a:t> </a:t>
            </a:r>
            <a:r>
              <a:rPr lang="en-US" sz="1800" dirty="0" err="1">
                <a:latin typeface="Arial"/>
                <a:cs typeface="Arial"/>
              </a:rPr>
              <a:t>elit</a:t>
            </a:r>
            <a:r>
              <a:rPr lang="en-US" sz="1800" dirty="0">
                <a:latin typeface="Arial"/>
                <a:cs typeface="Arial"/>
              </a:rPr>
              <a:t>, sed do </a:t>
            </a:r>
            <a:r>
              <a:rPr lang="en-US" sz="1800" dirty="0" err="1">
                <a:latin typeface="Arial"/>
                <a:cs typeface="Arial"/>
              </a:rPr>
              <a:t>eiusmod</a:t>
            </a:r>
            <a:r>
              <a:rPr lang="en-US" sz="1800" dirty="0">
                <a:latin typeface="Arial"/>
                <a:cs typeface="Arial"/>
              </a:rPr>
              <a:t> </a:t>
            </a:r>
            <a:r>
              <a:rPr lang="en-US" sz="1800" dirty="0" err="1">
                <a:latin typeface="Arial"/>
                <a:cs typeface="Arial"/>
              </a:rPr>
              <a:t>tempor</a:t>
            </a:r>
            <a:r>
              <a:rPr lang="en-US" sz="1800" dirty="0">
                <a:latin typeface="Arial"/>
                <a:cs typeface="Arial"/>
              </a:rPr>
              <a:t> </a:t>
            </a:r>
            <a:r>
              <a:rPr lang="en-US" sz="1800" dirty="0" err="1">
                <a:latin typeface="Arial"/>
                <a:cs typeface="Arial"/>
              </a:rPr>
              <a:t>incididunt</a:t>
            </a:r>
            <a:r>
              <a:rPr lang="en-US" sz="1800" dirty="0">
                <a:latin typeface="Arial"/>
                <a:cs typeface="Arial"/>
              </a:rPr>
              <a:t> </a:t>
            </a:r>
            <a:r>
              <a:rPr lang="en-US" sz="1800" dirty="0" err="1">
                <a:latin typeface="Arial"/>
                <a:cs typeface="Arial"/>
              </a:rPr>
              <a:t>ut</a:t>
            </a:r>
            <a:r>
              <a:rPr lang="en-US" sz="1800" dirty="0">
                <a:latin typeface="Arial"/>
                <a:cs typeface="Arial"/>
              </a:rPr>
              <a:t> labore et dolore magna </a:t>
            </a:r>
            <a:r>
              <a:rPr lang="en-US" sz="1800" dirty="0" err="1">
                <a:latin typeface="Arial"/>
                <a:cs typeface="Arial"/>
              </a:rPr>
              <a:t>aliqua</a:t>
            </a:r>
            <a:r>
              <a:rPr lang="en-US" sz="1800" dirty="0">
                <a:latin typeface="Arial"/>
                <a:cs typeface="Arial"/>
              </a:rPr>
              <a:t>.</a:t>
            </a:r>
            <a:endParaRPr lang="en-US" sz="1800" b="1" dirty="0">
              <a:solidFill>
                <a:schemeClr val="tx1"/>
              </a:solidFill>
              <a:latin typeface="Arial"/>
              <a:cs typeface="Arial"/>
            </a:endParaRPr>
          </a:p>
        </p:txBody>
      </p:sp>
      <p:sp>
        <p:nvSpPr>
          <p:cNvPr id="18" name="Google Shape;145;p7">
            <a:extLst>
              <a:ext uri="{FF2B5EF4-FFF2-40B4-BE49-F238E27FC236}">
                <a16:creationId xmlns:a16="http://schemas.microsoft.com/office/drawing/2014/main" id="{1C90077F-0B0C-DB0F-62AA-84F1C5F13592}"/>
              </a:ext>
            </a:extLst>
          </p:cNvPr>
          <p:cNvSpPr/>
          <p:nvPr/>
        </p:nvSpPr>
        <p:spPr>
          <a:xfrm rot="10800000" flipH="1">
            <a:off x="0" y="6437013"/>
            <a:ext cx="12192000" cy="420987"/>
          </a:xfrm>
          <a:prstGeom prst="rect">
            <a:avLst/>
          </a:prstGeom>
          <a:gradFill flip="none" rotWithShape="1">
            <a:gsLst>
              <a:gs pos="0">
                <a:schemeClr val="bg1">
                  <a:lumMod val="50000"/>
                </a:schemeClr>
              </a:gs>
              <a:gs pos="100000">
                <a:schemeClr val="bg1">
                  <a:lumMod val="75000"/>
                </a:schemeClr>
              </a:gs>
            </a:gsLst>
            <a:lin ang="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9" name="Google Shape;100;p1">
            <a:extLst>
              <a:ext uri="{FF2B5EF4-FFF2-40B4-BE49-F238E27FC236}">
                <a16:creationId xmlns:a16="http://schemas.microsoft.com/office/drawing/2014/main" id="{11E9B649-7F85-142F-FD84-89487EE1CD9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lvl="0"/>
            <a:r>
              <a:rPr lang="en-US" sz="900" spc="200" dirty="0">
                <a:solidFill>
                  <a:schemeClr val="bg1"/>
                </a:solidFill>
                <a:ea typeface="Helvetica Neue Light"/>
                <a:cs typeface="Helvetica Neue Light"/>
                <a:sym typeface="Helvetica Neue Light"/>
              </a:rPr>
              <a:t>Mechanical Science and Engineering</a:t>
            </a:r>
          </a:p>
        </p:txBody>
      </p:sp>
      <p:sp>
        <p:nvSpPr>
          <p:cNvPr id="20" name="Google Shape;100;p1">
            <a:extLst>
              <a:ext uri="{FF2B5EF4-FFF2-40B4-BE49-F238E27FC236}">
                <a16:creationId xmlns:a16="http://schemas.microsoft.com/office/drawing/2014/main" id="{079A80B8-6CF7-E6ED-FE40-65340BDDD88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lvl="0" algn="r"/>
            <a:r>
              <a:rPr lang="en-US" sz="900" spc="200" dirty="0">
                <a:solidFill>
                  <a:schemeClr val="bg1"/>
                </a:solidFill>
                <a:ea typeface="Helvetica Neue Light"/>
                <a:cs typeface="Helvetica Neue Light"/>
                <a:sym typeface="Helvetica Neue Light"/>
              </a:rPr>
              <a:t>GRAINGER ENGINEERING</a:t>
            </a:r>
          </a:p>
        </p:txBody>
      </p:sp>
      <p:sp>
        <p:nvSpPr>
          <p:cNvPr id="21" name="Google Shape;145;p7">
            <a:extLst>
              <a:ext uri="{FF2B5EF4-FFF2-40B4-BE49-F238E27FC236}">
                <a16:creationId xmlns:a16="http://schemas.microsoft.com/office/drawing/2014/main" id="{9805BFA7-C26E-2185-DC4A-1700EF6918C1}"/>
              </a:ext>
            </a:extLst>
          </p:cNvPr>
          <p:cNvSpPr/>
          <p:nvPr/>
        </p:nvSpPr>
        <p:spPr>
          <a:xfrm rot="10800000" flipH="1">
            <a:off x="0" y="-7695"/>
            <a:ext cx="12192000" cy="868218"/>
          </a:xfrm>
          <a:prstGeom prst="rect">
            <a:avLst/>
          </a:prstGeom>
          <a:gradFill>
            <a:gsLst>
              <a:gs pos="0">
                <a:srgbClr val="1B4284"/>
              </a:gs>
              <a:gs pos="100000">
                <a:srgbClr val="13294B"/>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22" name="Picture 21" descr="A close up of a logo&#10;&#10;Description automatically generated">
            <a:extLst>
              <a:ext uri="{FF2B5EF4-FFF2-40B4-BE49-F238E27FC236}">
                <a16:creationId xmlns:a16="http://schemas.microsoft.com/office/drawing/2014/main" id="{F4B36D68-54A5-C048-A9CB-62D39CFC4F32}"/>
              </a:ext>
            </a:extLst>
          </p:cNvPr>
          <p:cNvPicPr>
            <a:picLocks noChangeAspect="1"/>
          </p:cNvPicPr>
          <p:nvPr/>
        </p:nvPicPr>
        <p:blipFill>
          <a:blip r:embed="rId3"/>
          <a:stretch>
            <a:fillRect/>
          </a:stretch>
        </p:blipFill>
        <p:spPr>
          <a:xfrm>
            <a:off x="11554210" y="228014"/>
            <a:ext cx="277906" cy="401420"/>
          </a:xfrm>
          <a:prstGeom prst="rect">
            <a:avLst/>
          </a:prstGeom>
        </p:spPr>
      </p:pic>
      <p:sp>
        <p:nvSpPr>
          <p:cNvPr id="23" name="Google Shape;100;p1">
            <a:extLst>
              <a:ext uri="{FF2B5EF4-FFF2-40B4-BE49-F238E27FC236}">
                <a16:creationId xmlns:a16="http://schemas.microsoft.com/office/drawing/2014/main" id="{7A01543C-3418-4D9D-4C96-8D98138FE1CD}"/>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2400" u="none" strike="noStrike" cap="none" dirty="0">
                <a:solidFill>
                  <a:schemeClr val="lt1"/>
                </a:solidFill>
                <a:latin typeface="+mn-lt"/>
                <a:ea typeface="Helvetica Neue Light"/>
                <a:cs typeface="Helvetica Neue Light"/>
                <a:sym typeface="Helvetica Neue Light"/>
              </a:rPr>
              <a:t>CAD model Demonstration</a:t>
            </a:r>
            <a:endParaRPr lang="en-US" sz="2400" dirty="0">
              <a:solidFill>
                <a:schemeClr val="lt1"/>
              </a:solidFill>
              <a:latin typeface="+mn-lt"/>
              <a:ea typeface="Helvetica Neue Light"/>
              <a:cs typeface="Helvetica Neue Light"/>
              <a:sym typeface="Helvetica Neue Light"/>
            </a:endParaRPr>
          </a:p>
        </p:txBody>
      </p:sp>
      <p:sp>
        <p:nvSpPr>
          <p:cNvPr id="3" name="TextBox 2">
            <a:extLst>
              <a:ext uri="{FF2B5EF4-FFF2-40B4-BE49-F238E27FC236}">
                <a16:creationId xmlns:a16="http://schemas.microsoft.com/office/drawing/2014/main" id="{764354AF-292E-6E37-95AC-0EEAC5332348}"/>
              </a:ext>
            </a:extLst>
          </p:cNvPr>
          <p:cNvSpPr txBox="1"/>
          <p:nvPr/>
        </p:nvSpPr>
        <p:spPr>
          <a:xfrm>
            <a:off x="4447106" y="6485888"/>
            <a:ext cx="2661503" cy="307777"/>
          </a:xfrm>
          <a:prstGeom prst="rect">
            <a:avLst/>
          </a:prstGeom>
          <a:noFill/>
        </p:spPr>
        <p:txBody>
          <a:bodyPr wrap="square" rtlCol="0">
            <a:spAutoFit/>
          </a:bodyPr>
          <a:lstStyle/>
          <a:p>
            <a:r>
              <a:rPr lang="en-US" dirty="0"/>
              <a:t>Speaker’s name and slide #</a:t>
            </a:r>
          </a:p>
        </p:txBody>
      </p:sp>
      <p:sp>
        <p:nvSpPr>
          <p:cNvPr id="5" name="Slide Number Placeholder 4">
            <a:extLst>
              <a:ext uri="{FF2B5EF4-FFF2-40B4-BE49-F238E27FC236}">
                <a16:creationId xmlns:a16="http://schemas.microsoft.com/office/drawing/2014/main" id="{7DAB1E2B-88BB-E913-FCB1-4993D600EE64}"/>
              </a:ext>
            </a:extLst>
          </p:cNvPr>
          <p:cNvSpPr>
            <a:spLocks noGrp="1"/>
          </p:cNvSpPr>
          <p:nvPr>
            <p:ph type="sldNum" idx="12"/>
          </p:nvPr>
        </p:nvSpPr>
        <p:spPr>
          <a:xfrm>
            <a:off x="8591550" y="6442075"/>
            <a:ext cx="666750" cy="355600"/>
          </a:xfrm>
        </p:spPr>
        <p:txBody>
          <a:bodyPr/>
          <a:lstStyle/>
          <a:p>
            <a:fld id="{00000000-1234-1234-1234-123412341234}" type="slidenum">
              <a:rPr lang="en-US" sz="1400" dirty="0">
                <a:solidFill>
                  <a:schemeClr val="bg1"/>
                </a:solidFill>
              </a:rPr>
              <a:t>5</a:t>
            </a:fld>
            <a:endParaRPr lang="en-US" sz="1400" dirty="0">
              <a:solidFill>
                <a:schemeClr val="bg1"/>
              </a:solidFill>
            </a:endParaRPr>
          </a:p>
        </p:txBody>
      </p:sp>
    </p:spTree>
    <p:extLst>
      <p:ext uri="{BB962C8B-B14F-4D97-AF65-F5344CB8AC3E}">
        <p14:creationId xmlns:p14="http://schemas.microsoft.com/office/powerpoint/2010/main" val="264655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28A597DD-E6B0-1C29-0BBC-19752DDF1BC4}"/>
            </a:ext>
          </a:extLst>
        </p:cNvPr>
        <p:cNvGrpSpPr/>
        <p:nvPr/>
      </p:nvGrpSpPr>
      <p:grpSpPr>
        <a:xfrm>
          <a:off x="0" y="0"/>
          <a:ext cx="0" cy="0"/>
          <a:chOff x="0" y="0"/>
          <a:chExt cx="0" cy="0"/>
        </a:xfrm>
      </p:grpSpPr>
      <p:sp>
        <p:nvSpPr>
          <p:cNvPr id="147" name="Google Shape;147;p7">
            <a:extLst>
              <a:ext uri="{FF2B5EF4-FFF2-40B4-BE49-F238E27FC236}">
                <a16:creationId xmlns:a16="http://schemas.microsoft.com/office/drawing/2014/main" id="{8D52E25B-047E-EDB1-657B-E95BE67FBB2C}"/>
              </a:ext>
            </a:extLst>
          </p:cNvPr>
          <p:cNvSpPr txBox="1">
            <a:spLocks noGrp="1"/>
          </p:cNvSpPr>
          <p:nvPr>
            <p:ph type="body" idx="1"/>
          </p:nvPr>
        </p:nvSpPr>
        <p:spPr>
          <a:xfrm>
            <a:off x="619125" y="947892"/>
            <a:ext cx="10839450" cy="5207489"/>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600" b="1" dirty="0">
                <a:solidFill>
                  <a:srgbClr val="E84B36"/>
                </a:solidFill>
                <a:latin typeface="Arial"/>
                <a:cs typeface="Arial"/>
                <a:sym typeface="Helvetica Neue Light"/>
              </a:rPr>
              <a:t>Follow steps in PVA Guide document in Canvas</a:t>
            </a:r>
            <a:endParaRPr lang="en-US" sz="2600" b="1" dirty="0">
              <a:solidFill>
                <a:srgbClr val="E84B36"/>
              </a:solidFill>
              <a:latin typeface="Arial"/>
              <a:cs typeface="Arial"/>
            </a:endParaRPr>
          </a:p>
          <a:p>
            <a:pPr marL="0" lvl="0" indent="0">
              <a:lnSpc>
                <a:spcPct val="100000"/>
              </a:lnSpc>
              <a:spcBef>
                <a:spcPts val="0"/>
              </a:spcBef>
              <a:buSzPts val="2000"/>
              <a:buNone/>
            </a:pPr>
            <a:endParaRPr lang="en-US"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indent="0">
              <a:lnSpc>
                <a:spcPct val="100000"/>
              </a:lnSpc>
              <a:spcBef>
                <a:spcPts val="0"/>
              </a:spcBef>
              <a:buSzPts val="2000"/>
              <a:buNone/>
            </a:pPr>
            <a:r>
              <a:rPr lang="en-US" sz="1800" dirty="0">
                <a:solidFill>
                  <a:schemeClr val="tx1"/>
                </a:solidFill>
                <a:latin typeface="Arial" panose="020B0604020202020204" pitchFamily="34" charset="0"/>
                <a:ea typeface="Helvetica Neue Light"/>
                <a:cs typeface="Arial" panose="020B0604020202020204" pitchFamily="34" charset="0"/>
                <a:sym typeface="Helvetica Neue Light"/>
              </a:rPr>
              <a:t>Report describes and shows the PVA analysis of the "foot" motion of the leg mechanism. Number of legs, gait pattern, and PVA analysis used to estimate duty factor, robot velocity, required leg crank/motor angular velocities, and gear ratios. Includes images of PVA simulation with foot trace, PVA (x, y) vs. time plots - identifying lift and contact phases as outlined in the PVA Guide example document (at a minimum Figures 9, 10, 7, 8). Adding gear ratio for dispensing mechanism would be helpful.</a:t>
            </a:r>
          </a:p>
          <a:p>
            <a:pPr marL="0" lvl="0" indent="0">
              <a:lnSpc>
                <a:spcPct val="100000"/>
              </a:lnSpc>
              <a:spcBef>
                <a:spcPts val="0"/>
              </a:spcBef>
              <a:buSzPts val="2000"/>
              <a:buNone/>
            </a:pPr>
            <a:endParaRPr lang="en-US"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lvl="0" indent="0">
              <a:lnSpc>
                <a:spcPct val="100000"/>
              </a:lnSpc>
              <a:spcBef>
                <a:spcPts val="0"/>
              </a:spcBef>
              <a:buSzPts val="2000"/>
              <a:buNone/>
            </a:pPr>
            <a:r>
              <a:rPr lang="en-US" sz="1800" dirty="0">
                <a:solidFill>
                  <a:schemeClr val="tx1"/>
                </a:solidFill>
                <a:latin typeface="Arial" panose="020B0604020202020204" pitchFamily="34" charset="0"/>
                <a:ea typeface="Helvetica Neue Light"/>
                <a:cs typeface="Arial" panose="020B0604020202020204" pitchFamily="34" charset="0"/>
                <a:sym typeface="Helvetica Neue Light"/>
              </a:rPr>
              <a:t>No analytical derivations in presentation; include derivations in the PVA appendix document. </a:t>
            </a:r>
          </a:p>
          <a:p>
            <a:pPr marL="0" indent="0">
              <a:lnSpc>
                <a:spcPct val="100000"/>
              </a:lnSpc>
              <a:spcBef>
                <a:spcPts val="0"/>
              </a:spcBef>
              <a:buSzPts val="2000"/>
              <a:buNone/>
            </a:pPr>
            <a:endParaRPr lang="en-US" sz="1800" dirty="0">
              <a:solidFill>
                <a:schemeClr val="tx1"/>
              </a:solidFill>
              <a:latin typeface="Arial" panose="020B0604020202020204" pitchFamily="34" charset="0"/>
              <a:cs typeface="Arial" panose="020B0604020202020204" pitchFamily="34" charset="0"/>
            </a:endParaRPr>
          </a:p>
          <a:p>
            <a:pPr marL="0" indent="0">
              <a:lnSpc>
                <a:spcPct val="100000"/>
              </a:lnSpc>
              <a:spcBef>
                <a:spcPts val="0"/>
              </a:spcBef>
              <a:buSzPts val="2000"/>
              <a:buNone/>
            </a:pPr>
            <a:r>
              <a:rPr lang="en-US" sz="1800" dirty="0">
                <a:solidFill>
                  <a:schemeClr val="tx1"/>
                </a:solidFill>
                <a:latin typeface="Arial" panose="020B0604020202020204" pitchFamily="34" charset="0"/>
                <a:cs typeface="Arial" panose="020B0604020202020204" pitchFamily="34" charset="0"/>
              </a:rPr>
              <a:t>Likely will use multiple slides</a:t>
            </a:r>
          </a:p>
          <a:p>
            <a:pPr marL="0" lvl="0" indent="0">
              <a:lnSpc>
                <a:spcPct val="100000"/>
              </a:lnSpc>
              <a:spcBef>
                <a:spcPts val="0"/>
              </a:spcBef>
              <a:buSzPts val="2000"/>
              <a:buNone/>
            </a:pPr>
            <a:endParaRPr lang="en-US" sz="1800" dirty="0">
              <a:solidFill>
                <a:schemeClr val="tx1"/>
              </a:solidFill>
              <a:latin typeface="Arial" panose="020B0604020202020204" pitchFamily="34" charset="0"/>
              <a:ea typeface="Helvetica Neue Light"/>
              <a:cs typeface="Arial" panose="020B0604020202020204" pitchFamily="34" charset="0"/>
              <a:sym typeface="Helvetica Neue Light"/>
            </a:endParaRPr>
          </a:p>
        </p:txBody>
      </p:sp>
      <p:sp>
        <p:nvSpPr>
          <p:cNvPr id="18" name="Google Shape;145;p7">
            <a:extLst>
              <a:ext uri="{FF2B5EF4-FFF2-40B4-BE49-F238E27FC236}">
                <a16:creationId xmlns:a16="http://schemas.microsoft.com/office/drawing/2014/main" id="{0E1A9E97-6D47-6853-20E6-C182E500380F}"/>
              </a:ext>
            </a:extLst>
          </p:cNvPr>
          <p:cNvSpPr/>
          <p:nvPr/>
        </p:nvSpPr>
        <p:spPr>
          <a:xfrm rot="10800000" flipH="1">
            <a:off x="0" y="6437013"/>
            <a:ext cx="12192000" cy="420987"/>
          </a:xfrm>
          <a:prstGeom prst="rect">
            <a:avLst/>
          </a:prstGeom>
          <a:gradFill flip="none" rotWithShape="1">
            <a:gsLst>
              <a:gs pos="0">
                <a:schemeClr val="bg1">
                  <a:lumMod val="50000"/>
                </a:schemeClr>
              </a:gs>
              <a:gs pos="100000">
                <a:schemeClr val="bg1">
                  <a:lumMod val="75000"/>
                </a:schemeClr>
              </a:gs>
            </a:gsLst>
            <a:lin ang="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9" name="Google Shape;100;p1">
            <a:extLst>
              <a:ext uri="{FF2B5EF4-FFF2-40B4-BE49-F238E27FC236}">
                <a16:creationId xmlns:a16="http://schemas.microsoft.com/office/drawing/2014/main" id="{50234BDB-3099-9E0D-1456-527BD30E1F5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lvl="0"/>
            <a:r>
              <a:rPr lang="en-US" sz="900" spc="200" dirty="0">
                <a:solidFill>
                  <a:schemeClr val="bg1"/>
                </a:solidFill>
                <a:ea typeface="Helvetica Neue Light"/>
                <a:cs typeface="Helvetica Neue Light"/>
                <a:sym typeface="Helvetica Neue Light"/>
              </a:rPr>
              <a:t>Mechanical Science and Engineering</a:t>
            </a:r>
          </a:p>
        </p:txBody>
      </p:sp>
      <p:sp>
        <p:nvSpPr>
          <p:cNvPr id="20" name="Google Shape;100;p1">
            <a:extLst>
              <a:ext uri="{FF2B5EF4-FFF2-40B4-BE49-F238E27FC236}">
                <a16:creationId xmlns:a16="http://schemas.microsoft.com/office/drawing/2014/main" id="{53FBC62E-BF99-25A3-3FE6-26A6F24791D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lvl="0" algn="r"/>
            <a:r>
              <a:rPr lang="en-US" sz="900" spc="200" dirty="0">
                <a:solidFill>
                  <a:schemeClr val="bg1"/>
                </a:solidFill>
                <a:ea typeface="Helvetica Neue Light"/>
                <a:cs typeface="Helvetica Neue Light"/>
                <a:sym typeface="Helvetica Neue Light"/>
              </a:rPr>
              <a:t>GRAINGER ENGINEERING</a:t>
            </a:r>
          </a:p>
        </p:txBody>
      </p:sp>
      <p:sp>
        <p:nvSpPr>
          <p:cNvPr id="21" name="Google Shape;145;p7">
            <a:extLst>
              <a:ext uri="{FF2B5EF4-FFF2-40B4-BE49-F238E27FC236}">
                <a16:creationId xmlns:a16="http://schemas.microsoft.com/office/drawing/2014/main" id="{1F8665A3-4EA5-9ED7-73B2-CF2F9411036C}"/>
              </a:ext>
            </a:extLst>
          </p:cNvPr>
          <p:cNvSpPr/>
          <p:nvPr/>
        </p:nvSpPr>
        <p:spPr>
          <a:xfrm rot="10800000" flipH="1">
            <a:off x="0" y="-7695"/>
            <a:ext cx="12192000" cy="868218"/>
          </a:xfrm>
          <a:prstGeom prst="rect">
            <a:avLst/>
          </a:prstGeom>
          <a:gradFill>
            <a:gsLst>
              <a:gs pos="0">
                <a:srgbClr val="1B4284"/>
              </a:gs>
              <a:gs pos="100000">
                <a:srgbClr val="13294B"/>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22" name="Picture 21" descr="A close up of a logo&#10;&#10;Description automatically generated">
            <a:extLst>
              <a:ext uri="{FF2B5EF4-FFF2-40B4-BE49-F238E27FC236}">
                <a16:creationId xmlns:a16="http://schemas.microsoft.com/office/drawing/2014/main" id="{EF248FB8-3744-F9A2-8B13-D0F12B7517D5}"/>
              </a:ext>
            </a:extLst>
          </p:cNvPr>
          <p:cNvPicPr>
            <a:picLocks noChangeAspect="1"/>
          </p:cNvPicPr>
          <p:nvPr/>
        </p:nvPicPr>
        <p:blipFill>
          <a:blip r:embed="rId3"/>
          <a:stretch>
            <a:fillRect/>
          </a:stretch>
        </p:blipFill>
        <p:spPr>
          <a:xfrm>
            <a:off x="11554210" y="228014"/>
            <a:ext cx="277906" cy="401420"/>
          </a:xfrm>
          <a:prstGeom prst="rect">
            <a:avLst/>
          </a:prstGeom>
        </p:spPr>
      </p:pic>
      <p:sp>
        <p:nvSpPr>
          <p:cNvPr id="23" name="Google Shape;100;p1">
            <a:extLst>
              <a:ext uri="{FF2B5EF4-FFF2-40B4-BE49-F238E27FC236}">
                <a16:creationId xmlns:a16="http://schemas.microsoft.com/office/drawing/2014/main" id="{F7FE8AEA-AE0B-0FDC-B62C-1BB940AA1869}"/>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lvl="0"/>
            <a:r>
              <a:rPr lang="en-US" sz="2400" dirty="0">
                <a:solidFill>
                  <a:schemeClr val="lt1"/>
                </a:solidFill>
                <a:ea typeface="Helvetica Neue Light"/>
                <a:cs typeface="Helvetica Neue Light"/>
                <a:sym typeface="Helvetica Neue Light"/>
              </a:rPr>
              <a:t>PVA analysis for  leg motion, gait, and robot velocity</a:t>
            </a:r>
          </a:p>
        </p:txBody>
      </p:sp>
      <p:sp>
        <p:nvSpPr>
          <p:cNvPr id="3" name="TextBox 2">
            <a:extLst>
              <a:ext uri="{FF2B5EF4-FFF2-40B4-BE49-F238E27FC236}">
                <a16:creationId xmlns:a16="http://schemas.microsoft.com/office/drawing/2014/main" id="{41C44B30-3829-4445-F213-BC397AE453E1}"/>
              </a:ext>
            </a:extLst>
          </p:cNvPr>
          <p:cNvSpPr txBox="1"/>
          <p:nvPr/>
        </p:nvSpPr>
        <p:spPr>
          <a:xfrm>
            <a:off x="4447106" y="6485888"/>
            <a:ext cx="2661503" cy="307777"/>
          </a:xfrm>
          <a:prstGeom prst="rect">
            <a:avLst/>
          </a:prstGeom>
          <a:noFill/>
        </p:spPr>
        <p:txBody>
          <a:bodyPr wrap="square" rtlCol="0">
            <a:spAutoFit/>
          </a:bodyPr>
          <a:lstStyle/>
          <a:p>
            <a:r>
              <a:rPr lang="en-US" dirty="0"/>
              <a:t>Speaker’s name and slide #</a:t>
            </a:r>
          </a:p>
        </p:txBody>
      </p:sp>
      <p:sp>
        <p:nvSpPr>
          <p:cNvPr id="5" name="Slide Number Placeholder 4">
            <a:extLst>
              <a:ext uri="{FF2B5EF4-FFF2-40B4-BE49-F238E27FC236}">
                <a16:creationId xmlns:a16="http://schemas.microsoft.com/office/drawing/2014/main" id="{11CFCC59-CB3E-3C5D-3D7F-C087328BD771}"/>
              </a:ext>
            </a:extLst>
          </p:cNvPr>
          <p:cNvSpPr>
            <a:spLocks noGrp="1"/>
          </p:cNvSpPr>
          <p:nvPr>
            <p:ph type="sldNum" idx="12"/>
          </p:nvPr>
        </p:nvSpPr>
        <p:spPr>
          <a:xfrm>
            <a:off x="8591550" y="6442075"/>
            <a:ext cx="666750" cy="355600"/>
          </a:xfrm>
        </p:spPr>
        <p:txBody>
          <a:bodyPr/>
          <a:lstStyle/>
          <a:p>
            <a:fld id="{00000000-1234-1234-1234-123412341234}" type="slidenum">
              <a:rPr lang="en-US" sz="1400" dirty="0">
                <a:solidFill>
                  <a:schemeClr val="bg1"/>
                </a:solidFill>
              </a:rPr>
              <a:t>6</a:t>
            </a:fld>
            <a:endParaRPr lang="en-US" sz="1400" dirty="0">
              <a:solidFill>
                <a:schemeClr val="bg1"/>
              </a:solidFill>
            </a:endParaRPr>
          </a:p>
        </p:txBody>
      </p:sp>
    </p:spTree>
    <p:extLst>
      <p:ext uri="{BB962C8B-B14F-4D97-AF65-F5344CB8AC3E}">
        <p14:creationId xmlns:p14="http://schemas.microsoft.com/office/powerpoint/2010/main" val="3823165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01005E12-7F93-89BC-8D90-318B9210A81C}"/>
            </a:ext>
          </a:extLst>
        </p:cNvPr>
        <p:cNvGrpSpPr/>
        <p:nvPr/>
      </p:nvGrpSpPr>
      <p:grpSpPr>
        <a:xfrm>
          <a:off x="0" y="0"/>
          <a:ext cx="0" cy="0"/>
          <a:chOff x="0" y="0"/>
          <a:chExt cx="0" cy="0"/>
        </a:xfrm>
      </p:grpSpPr>
      <p:sp>
        <p:nvSpPr>
          <p:cNvPr id="147" name="Google Shape;147;p7">
            <a:extLst>
              <a:ext uri="{FF2B5EF4-FFF2-40B4-BE49-F238E27FC236}">
                <a16:creationId xmlns:a16="http://schemas.microsoft.com/office/drawing/2014/main" id="{9713FC8F-A490-28DA-8526-7B7FCFA4C0B0}"/>
              </a:ext>
            </a:extLst>
          </p:cNvPr>
          <p:cNvSpPr txBox="1">
            <a:spLocks noGrp="1"/>
          </p:cNvSpPr>
          <p:nvPr>
            <p:ph type="body" idx="1"/>
          </p:nvPr>
        </p:nvSpPr>
        <p:spPr>
          <a:xfrm>
            <a:off x="619125" y="947892"/>
            <a:ext cx="10839450" cy="5207489"/>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600" b="1" dirty="0">
                <a:solidFill>
                  <a:srgbClr val="E84B36"/>
                </a:solidFill>
                <a:latin typeface="Arial"/>
                <a:cs typeface="Arial"/>
                <a:sym typeface="Helvetica Neue Light"/>
              </a:rPr>
              <a:t>Include copy of expense report here (use provided template)</a:t>
            </a:r>
            <a:endParaRPr lang="en-US" sz="2600" b="1" dirty="0">
              <a:solidFill>
                <a:srgbClr val="E84B36"/>
              </a:solidFill>
              <a:latin typeface="Arial"/>
              <a:cs typeface="Arial"/>
            </a:endParaRPr>
          </a:p>
          <a:p>
            <a:pPr marL="0" lvl="0" indent="0">
              <a:lnSpc>
                <a:spcPct val="100000"/>
              </a:lnSpc>
              <a:spcBef>
                <a:spcPts val="0"/>
              </a:spcBef>
              <a:buSzPts val="2000"/>
              <a:buNone/>
            </a:pPr>
            <a:endParaRPr lang="en-US"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lvl="0" indent="0">
              <a:lnSpc>
                <a:spcPct val="100000"/>
              </a:lnSpc>
              <a:spcBef>
                <a:spcPts val="0"/>
              </a:spcBef>
              <a:buSzPts val="2000"/>
              <a:buNone/>
            </a:pPr>
            <a:r>
              <a:rPr lang="en-US" sz="1800" dirty="0">
                <a:solidFill>
                  <a:schemeClr val="tx1"/>
                </a:solidFill>
                <a:latin typeface="Arial" panose="020B0604020202020204" pitchFamily="34" charset="0"/>
                <a:ea typeface="Helvetica Neue Light"/>
                <a:cs typeface="Arial" panose="020B0604020202020204" pitchFamily="34" charset="0"/>
                <a:sym typeface="Helvetica Neue Light"/>
              </a:rPr>
              <a:t>Paste the expense report table within the boundary of this text box because the projector in 1001 MEL cuts off the right side of the slide. </a:t>
            </a:r>
          </a:p>
        </p:txBody>
      </p:sp>
      <p:sp>
        <p:nvSpPr>
          <p:cNvPr id="18" name="Google Shape;145;p7">
            <a:extLst>
              <a:ext uri="{FF2B5EF4-FFF2-40B4-BE49-F238E27FC236}">
                <a16:creationId xmlns:a16="http://schemas.microsoft.com/office/drawing/2014/main" id="{43DD67BD-97E8-3A19-5E59-C7EBCBF8AD01}"/>
              </a:ext>
            </a:extLst>
          </p:cNvPr>
          <p:cNvSpPr/>
          <p:nvPr/>
        </p:nvSpPr>
        <p:spPr>
          <a:xfrm rot="10800000" flipH="1">
            <a:off x="0" y="6437013"/>
            <a:ext cx="12192000" cy="420987"/>
          </a:xfrm>
          <a:prstGeom prst="rect">
            <a:avLst/>
          </a:prstGeom>
          <a:gradFill flip="none" rotWithShape="1">
            <a:gsLst>
              <a:gs pos="0">
                <a:schemeClr val="bg1">
                  <a:lumMod val="50000"/>
                </a:schemeClr>
              </a:gs>
              <a:gs pos="100000">
                <a:schemeClr val="bg1">
                  <a:lumMod val="75000"/>
                </a:schemeClr>
              </a:gs>
            </a:gsLst>
            <a:lin ang="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9" name="Google Shape;100;p1">
            <a:extLst>
              <a:ext uri="{FF2B5EF4-FFF2-40B4-BE49-F238E27FC236}">
                <a16:creationId xmlns:a16="http://schemas.microsoft.com/office/drawing/2014/main" id="{3D081CF9-16D1-6547-B6E3-A9EA4D96138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lvl="0"/>
            <a:r>
              <a:rPr lang="en-US" sz="900" spc="200" dirty="0">
                <a:solidFill>
                  <a:schemeClr val="bg1"/>
                </a:solidFill>
                <a:ea typeface="Helvetica Neue Light"/>
                <a:cs typeface="Helvetica Neue Light"/>
                <a:sym typeface="Helvetica Neue Light"/>
              </a:rPr>
              <a:t>Mechanical Science and Engineering</a:t>
            </a:r>
          </a:p>
        </p:txBody>
      </p:sp>
      <p:sp>
        <p:nvSpPr>
          <p:cNvPr id="20" name="Google Shape;100;p1">
            <a:extLst>
              <a:ext uri="{FF2B5EF4-FFF2-40B4-BE49-F238E27FC236}">
                <a16:creationId xmlns:a16="http://schemas.microsoft.com/office/drawing/2014/main" id="{DF46E06E-0FEA-3630-EB26-109B4AE9008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lvl="0" algn="r"/>
            <a:r>
              <a:rPr lang="en-US" sz="900" spc="200" dirty="0">
                <a:solidFill>
                  <a:schemeClr val="bg1"/>
                </a:solidFill>
                <a:ea typeface="Helvetica Neue Light"/>
                <a:cs typeface="Helvetica Neue Light"/>
                <a:sym typeface="Helvetica Neue Light"/>
              </a:rPr>
              <a:t>GRAINGER ENGINEERING</a:t>
            </a:r>
          </a:p>
        </p:txBody>
      </p:sp>
      <p:sp>
        <p:nvSpPr>
          <p:cNvPr id="21" name="Google Shape;145;p7">
            <a:extLst>
              <a:ext uri="{FF2B5EF4-FFF2-40B4-BE49-F238E27FC236}">
                <a16:creationId xmlns:a16="http://schemas.microsoft.com/office/drawing/2014/main" id="{101F33FE-9E03-1BE3-93BC-04A1D31FEFFB}"/>
              </a:ext>
            </a:extLst>
          </p:cNvPr>
          <p:cNvSpPr/>
          <p:nvPr/>
        </p:nvSpPr>
        <p:spPr>
          <a:xfrm rot="10800000" flipH="1">
            <a:off x="0" y="-7695"/>
            <a:ext cx="12192000" cy="868218"/>
          </a:xfrm>
          <a:prstGeom prst="rect">
            <a:avLst/>
          </a:prstGeom>
          <a:gradFill>
            <a:gsLst>
              <a:gs pos="0">
                <a:srgbClr val="1B4284"/>
              </a:gs>
              <a:gs pos="100000">
                <a:srgbClr val="13294B"/>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22" name="Picture 21" descr="A close up of a logo&#10;&#10;Description automatically generated">
            <a:extLst>
              <a:ext uri="{FF2B5EF4-FFF2-40B4-BE49-F238E27FC236}">
                <a16:creationId xmlns:a16="http://schemas.microsoft.com/office/drawing/2014/main" id="{09223AEE-28CD-E6DC-FC64-B6396EFEF3F7}"/>
              </a:ext>
            </a:extLst>
          </p:cNvPr>
          <p:cNvPicPr>
            <a:picLocks noChangeAspect="1"/>
          </p:cNvPicPr>
          <p:nvPr/>
        </p:nvPicPr>
        <p:blipFill>
          <a:blip r:embed="rId3"/>
          <a:stretch>
            <a:fillRect/>
          </a:stretch>
        </p:blipFill>
        <p:spPr>
          <a:xfrm>
            <a:off x="11554210" y="228014"/>
            <a:ext cx="277906" cy="401420"/>
          </a:xfrm>
          <a:prstGeom prst="rect">
            <a:avLst/>
          </a:prstGeom>
        </p:spPr>
      </p:pic>
      <p:sp>
        <p:nvSpPr>
          <p:cNvPr id="23" name="Google Shape;100;p1">
            <a:extLst>
              <a:ext uri="{FF2B5EF4-FFF2-40B4-BE49-F238E27FC236}">
                <a16:creationId xmlns:a16="http://schemas.microsoft.com/office/drawing/2014/main" id="{A0E4D209-FF89-402E-6B32-FA0CB6FD080C}"/>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lvl="0"/>
            <a:r>
              <a:rPr lang="en-US" sz="2400" dirty="0">
                <a:solidFill>
                  <a:schemeClr val="lt1"/>
                </a:solidFill>
                <a:ea typeface="Helvetica Neue Light"/>
                <a:cs typeface="Helvetica Neue Light"/>
                <a:sym typeface="Helvetica Neue Light"/>
              </a:rPr>
              <a:t>Expense Report</a:t>
            </a:r>
          </a:p>
        </p:txBody>
      </p:sp>
      <p:sp>
        <p:nvSpPr>
          <p:cNvPr id="3" name="TextBox 2">
            <a:extLst>
              <a:ext uri="{FF2B5EF4-FFF2-40B4-BE49-F238E27FC236}">
                <a16:creationId xmlns:a16="http://schemas.microsoft.com/office/drawing/2014/main" id="{24C896F7-DA60-C0F2-517C-2176D2243102}"/>
              </a:ext>
            </a:extLst>
          </p:cNvPr>
          <p:cNvSpPr txBox="1"/>
          <p:nvPr/>
        </p:nvSpPr>
        <p:spPr>
          <a:xfrm>
            <a:off x="4447106" y="6485888"/>
            <a:ext cx="2661503" cy="307777"/>
          </a:xfrm>
          <a:prstGeom prst="rect">
            <a:avLst/>
          </a:prstGeom>
          <a:noFill/>
        </p:spPr>
        <p:txBody>
          <a:bodyPr wrap="square" rtlCol="0">
            <a:spAutoFit/>
          </a:bodyPr>
          <a:lstStyle/>
          <a:p>
            <a:r>
              <a:rPr lang="en-US" dirty="0"/>
              <a:t>Speaker’s name and slide #</a:t>
            </a:r>
          </a:p>
        </p:txBody>
      </p:sp>
      <p:sp>
        <p:nvSpPr>
          <p:cNvPr id="5" name="Slide Number Placeholder 4">
            <a:extLst>
              <a:ext uri="{FF2B5EF4-FFF2-40B4-BE49-F238E27FC236}">
                <a16:creationId xmlns:a16="http://schemas.microsoft.com/office/drawing/2014/main" id="{806D1066-6720-14A0-2406-A526DD919C80}"/>
              </a:ext>
            </a:extLst>
          </p:cNvPr>
          <p:cNvSpPr>
            <a:spLocks noGrp="1"/>
          </p:cNvSpPr>
          <p:nvPr>
            <p:ph type="sldNum" idx="12"/>
          </p:nvPr>
        </p:nvSpPr>
        <p:spPr>
          <a:xfrm>
            <a:off x="8591550" y="6442075"/>
            <a:ext cx="666750" cy="355600"/>
          </a:xfrm>
        </p:spPr>
        <p:txBody>
          <a:bodyPr/>
          <a:lstStyle/>
          <a:p>
            <a:fld id="{00000000-1234-1234-1234-123412341234}" type="slidenum">
              <a:rPr lang="en-US" sz="1400" dirty="0">
                <a:solidFill>
                  <a:schemeClr val="bg1"/>
                </a:solidFill>
              </a:rPr>
              <a:t>7</a:t>
            </a:fld>
            <a:endParaRPr lang="en-US" sz="1400" dirty="0">
              <a:solidFill>
                <a:schemeClr val="bg1"/>
              </a:solidFill>
            </a:endParaRPr>
          </a:p>
        </p:txBody>
      </p:sp>
    </p:spTree>
    <p:extLst>
      <p:ext uri="{BB962C8B-B14F-4D97-AF65-F5344CB8AC3E}">
        <p14:creationId xmlns:p14="http://schemas.microsoft.com/office/powerpoint/2010/main" val="2965582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4D4907BC-9805-FCE1-5AB1-A83BF66311DE}"/>
            </a:ext>
          </a:extLst>
        </p:cNvPr>
        <p:cNvGrpSpPr/>
        <p:nvPr/>
      </p:nvGrpSpPr>
      <p:grpSpPr>
        <a:xfrm>
          <a:off x="0" y="0"/>
          <a:ext cx="0" cy="0"/>
          <a:chOff x="0" y="0"/>
          <a:chExt cx="0" cy="0"/>
        </a:xfrm>
      </p:grpSpPr>
      <p:sp>
        <p:nvSpPr>
          <p:cNvPr id="147" name="Google Shape;147;p7">
            <a:extLst>
              <a:ext uri="{FF2B5EF4-FFF2-40B4-BE49-F238E27FC236}">
                <a16:creationId xmlns:a16="http://schemas.microsoft.com/office/drawing/2014/main" id="{105BC61F-F70E-37B0-5F68-1614CB020A8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3000"/>
              <a:buNone/>
            </a:pPr>
            <a:r>
              <a:rPr lang="en-US" sz="2600" b="1" dirty="0">
                <a:solidFill>
                  <a:srgbClr val="E84B36"/>
                </a:solidFill>
                <a:latin typeface="Arial" panose="020B0604020202020204" pitchFamily="34" charset="0"/>
                <a:ea typeface="Helvetica Neue Light"/>
                <a:cs typeface="Arial" panose="020B0604020202020204" pitchFamily="34" charset="0"/>
                <a:sym typeface="Helvetica Neue Light"/>
              </a:rPr>
              <a:t>Create a timeline of how you will complete the project</a:t>
            </a:r>
            <a:endParaRPr lang="en-US" sz="2600" b="1" dirty="0">
              <a:solidFill>
                <a:srgbClr val="E84B36"/>
              </a:solidFill>
              <a:latin typeface="Arial" panose="020B0604020202020204" pitchFamily="34" charset="0"/>
              <a:cs typeface="Arial" panose="020B0604020202020204" pitchFamily="34" charset="0"/>
            </a:endParaRPr>
          </a:p>
          <a:p>
            <a:pPr marL="0" lvl="0" indent="0">
              <a:lnSpc>
                <a:spcPct val="100000"/>
              </a:lnSpc>
              <a:spcBef>
                <a:spcPts val="0"/>
              </a:spcBef>
              <a:buSzPts val="2000"/>
              <a:buNone/>
            </a:pPr>
            <a:endParaRPr lang="en-US" sz="1800" dirty="0">
              <a:solidFill>
                <a:schemeClr val="tx1"/>
              </a:solidFill>
              <a:latin typeface="Arial" panose="020B0604020202020204" pitchFamily="34" charset="0"/>
              <a:ea typeface="Helvetica Neue Light"/>
              <a:cs typeface="Arial" panose="020B0604020202020204" pitchFamily="34" charset="0"/>
              <a:sym typeface="Helvetica Neue Light"/>
            </a:endParaRPr>
          </a:p>
          <a:p>
            <a:pPr marL="0" indent="0">
              <a:lnSpc>
                <a:spcPct val="100000"/>
              </a:lnSpc>
              <a:spcBef>
                <a:spcPts val="0"/>
              </a:spcBef>
              <a:buSzPts val="2000"/>
              <a:buNone/>
            </a:pPr>
            <a:r>
              <a:rPr lang="en-US" sz="1800" dirty="0">
                <a:latin typeface="Arial"/>
                <a:cs typeface="Arial"/>
              </a:rPr>
              <a:t>A good timeline consists of several elements: who, what, and when.</a:t>
            </a:r>
            <a:br>
              <a:rPr lang="en-US" sz="1800" dirty="0">
                <a:latin typeface="Arial"/>
                <a:cs typeface="Arial"/>
              </a:rPr>
            </a:br>
            <a:endParaRPr lang="en-US" sz="1800" dirty="0">
              <a:latin typeface="Arial"/>
              <a:cs typeface="Arial"/>
            </a:endParaRPr>
          </a:p>
          <a:p>
            <a:pPr marL="0" indent="0">
              <a:lnSpc>
                <a:spcPct val="100000"/>
              </a:lnSpc>
              <a:spcBef>
                <a:spcPts val="0"/>
              </a:spcBef>
              <a:buSzPts val="2000"/>
              <a:buNone/>
            </a:pPr>
            <a:r>
              <a:rPr lang="en-US" sz="1800" dirty="0">
                <a:solidFill>
                  <a:schemeClr val="tx1"/>
                </a:solidFill>
                <a:latin typeface="Arial"/>
                <a:cs typeface="Arial"/>
              </a:rPr>
              <a:t>You could also use a Gantt chart or similar device to visually depict your plan. Please still make sure to include who will complete which tasks. </a:t>
            </a:r>
          </a:p>
          <a:p>
            <a:pPr marL="0" indent="0">
              <a:lnSpc>
                <a:spcPct val="100000"/>
              </a:lnSpc>
              <a:spcBef>
                <a:spcPts val="0"/>
              </a:spcBef>
              <a:buSzPts val="2000"/>
              <a:buNone/>
            </a:pPr>
            <a:endParaRPr lang="en-US" sz="1800" dirty="0">
              <a:solidFill>
                <a:schemeClr val="tx1"/>
              </a:solidFill>
              <a:latin typeface="Arial"/>
              <a:cs typeface="Arial"/>
            </a:endParaRPr>
          </a:p>
          <a:p>
            <a:pPr marL="0" indent="0">
              <a:lnSpc>
                <a:spcPct val="100000"/>
              </a:lnSpc>
              <a:spcBef>
                <a:spcPts val="0"/>
              </a:spcBef>
              <a:buSzPts val="2000"/>
              <a:buNone/>
            </a:pPr>
            <a:r>
              <a:rPr lang="en-US" sz="1800" dirty="0">
                <a:solidFill>
                  <a:schemeClr val="tx1"/>
                </a:solidFill>
                <a:latin typeface="Arial"/>
                <a:cs typeface="Arial"/>
              </a:rPr>
              <a:t>Timeline to the end of the semester</a:t>
            </a:r>
          </a:p>
          <a:p>
            <a:pPr marL="0" indent="0">
              <a:lnSpc>
                <a:spcPct val="100000"/>
              </a:lnSpc>
              <a:spcBef>
                <a:spcPts val="0"/>
              </a:spcBef>
              <a:buSzPts val="2000"/>
              <a:buNone/>
            </a:pPr>
            <a:endParaRPr lang="en-US" sz="1800" dirty="0">
              <a:solidFill>
                <a:schemeClr val="tx1"/>
              </a:solidFill>
              <a:latin typeface="Arial"/>
              <a:cs typeface="Arial"/>
            </a:endParaRPr>
          </a:p>
          <a:p>
            <a:pPr marL="0" indent="0">
              <a:lnSpc>
                <a:spcPct val="100000"/>
              </a:lnSpc>
              <a:spcBef>
                <a:spcPts val="0"/>
              </a:spcBef>
              <a:buSzPts val="2000"/>
              <a:buNone/>
            </a:pPr>
            <a:endParaRPr lang="en-US" sz="1800" dirty="0">
              <a:solidFill>
                <a:schemeClr val="tx1"/>
              </a:solidFill>
              <a:latin typeface="Arial" panose="020B0604020202020204" pitchFamily="34" charset="0"/>
              <a:cs typeface="Arial" panose="020B0604020202020204" pitchFamily="34" charset="0"/>
            </a:endParaRPr>
          </a:p>
          <a:p>
            <a:pPr marL="0" indent="0">
              <a:lnSpc>
                <a:spcPct val="100000"/>
              </a:lnSpc>
              <a:spcBef>
                <a:spcPts val="0"/>
              </a:spcBef>
              <a:buSzPts val="2000"/>
              <a:buNone/>
            </a:pPr>
            <a:endParaRPr lang="en-US" sz="1800" dirty="0">
              <a:solidFill>
                <a:schemeClr val="tx1"/>
              </a:solidFill>
              <a:latin typeface="Arial" panose="020B0604020202020204" pitchFamily="34" charset="0"/>
              <a:cs typeface="Arial" panose="020B0604020202020204" pitchFamily="34" charset="0"/>
            </a:endParaRPr>
          </a:p>
        </p:txBody>
      </p:sp>
      <p:sp>
        <p:nvSpPr>
          <p:cNvPr id="18" name="Google Shape;145;p7">
            <a:extLst>
              <a:ext uri="{FF2B5EF4-FFF2-40B4-BE49-F238E27FC236}">
                <a16:creationId xmlns:a16="http://schemas.microsoft.com/office/drawing/2014/main" id="{956740F8-2F9C-EF0B-8D52-A5C51051327B}"/>
              </a:ext>
            </a:extLst>
          </p:cNvPr>
          <p:cNvSpPr/>
          <p:nvPr/>
        </p:nvSpPr>
        <p:spPr>
          <a:xfrm rot="10800000" flipH="1">
            <a:off x="0" y="6437013"/>
            <a:ext cx="12192000" cy="420987"/>
          </a:xfrm>
          <a:prstGeom prst="rect">
            <a:avLst/>
          </a:prstGeom>
          <a:gradFill flip="none" rotWithShape="1">
            <a:gsLst>
              <a:gs pos="0">
                <a:schemeClr val="bg1">
                  <a:lumMod val="50000"/>
                </a:schemeClr>
              </a:gs>
              <a:gs pos="100000">
                <a:schemeClr val="bg1">
                  <a:lumMod val="75000"/>
                </a:schemeClr>
              </a:gs>
            </a:gsLst>
            <a:lin ang="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9" name="Google Shape;100;p1">
            <a:extLst>
              <a:ext uri="{FF2B5EF4-FFF2-40B4-BE49-F238E27FC236}">
                <a16:creationId xmlns:a16="http://schemas.microsoft.com/office/drawing/2014/main" id="{2BC2D3D2-4DD5-A9F8-9C42-0B174EB1B51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lvl="0"/>
            <a:r>
              <a:rPr lang="en-US" sz="900" spc="200" dirty="0">
                <a:solidFill>
                  <a:schemeClr val="bg1"/>
                </a:solidFill>
                <a:ea typeface="Helvetica Neue Light"/>
                <a:cs typeface="Helvetica Neue Light"/>
                <a:sym typeface="Helvetica Neue Light"/>
              </a:rPr>
              <a:t>Mechanical Science and Engineering</a:t>
            </a:r>
          </a:p>
        </p:txBody>
      </p:sp>
      <p:sp>
        <p:nvSpPr>
          <p:cNvPr id="20" name="Google Shape;100;p1">
            <a:extLst>
              <a:ext uri="{FF2B5EF4-FFF2-40B4-BE49-F238E27FC236}">
                <a16:creationId xmlns:a16="http://schemas.microsoft.com/office/drawing/2014/main" id="{B5725869-A365-6A43-B65E-0F5DB35E726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lvl="0" algn="r"/>
            <a:r>
              <a:rPr lang="en-US" sz="900" spc="200" dirty="0">
                <a:solidFill>
                  <a:schemeClr val="bg1"/>
                </a:solidFill>
                <a:ea typeface="Helvetica Neue Light"/>
                <a:cs typeface="Helvetica Neue Light"/>
                <a:sym typeface="Helvetica Neue Light"/>
              </a:rPr>
              <a:t>GRAINGER ENGINEERING</a:t>
            </a:r>
          </a:p>
        </p:txBody>
      </p:sp>
      <p:sp>
        <p:nvSpPr>
          <p:cNvPr id="21" name="Google Shape;145;p7">
            <a:extLst>
              <a:ext uri="{FF2B5EF4-FFF2-40B4-BE49-F238E27FC236}">
                <a16:creationId xmlns:a16="http://schemas.microsoft.com/office/drawing/2014/main" id="{72C97C15-BBB5-2C9A-9681-9BCA54D90871}"/>
              </a:ext>
            </a:extLst>
          </p:cNvPr>
          <p:cNvSpPr/>
          <p:nvPr/>
        </p:nvSpPr>
        <p:spPr>
          <a:xfrm rot="10800000" flipH="1">
            <a:off x="0" y="-7695"/>
            <a:ext cx="12192000" cy="868218"/>
          </a:xfrm>
          <a:prstGeom prst="rect">
            <a:avLst/>
          </a:prstGeom>
          <a:gradFill>
            <a:gsLst>
              <a:gs pos="0">
                <a:srgbClr val="1B4284"/>
              </a:gs>
              <a:gs pos="100000">
                <a:srgbClr val="13294B"/>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22" name="Picture 21" descr="A close up of a logo&#10;&#10;Description automatically generated">
            <a:extLst>
              <a:ext uri="{FF2B5EF4-FFF2-40B4-BE49-F238E27FC236}">
                <a16:creationId xmlns:a16="http://schemas.microsoft.com/office/drawing/2014/main" id="{E041B989-D99A-E14A-AE06-C34DA57A1CE4}"/>
              </a:ext>
            </a:extLst>
          </p:cNvPr>
          <p:cNvPicPr>
            <a:picLocks noChangeAspect="1"/>
          </p:cNvPicPr>
          <p:nvPr/>
        </p:nvPicPr>
        <p:blipFill>
          <a:blip r:embed="rId3"/>
          <a:stretch>
            <a:fillRect/>
          </a:stretch>
        </p:blipFill>
        <p:spPr>
          <a:xfrm>
            <a:off x="11554210" y="228014"/>
            <a:ext cx="277906" cy="401420"/>
          </a:xfrm>
          <a:prstGeom prst="rect">
            <a:avLst/>
          </a:prstGeom>
        </p:spPr>
      </p:pic>
      <p:sp>
        <p:nvSpPr>
          <p:cNvPr id="23" name="Google Shape;100;p1">
            <a:extLst>
              <a:ext uri="{FF2B5EF4-FFF2-40B4-BE49-F238E27FC236}">
                <a16:creationId xmlns:a16="http://schemas.microsoft.com/office/drawing/2014/main" id="{8CF89EAC-807B-9F1D-8EA6-2283F3E52EF1}"/>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2400" u="none" strike="noStrike" cap="none" dirty="0">
                <a:solidFill>
                  <a:schemeClr val="lt1"/>
                </a:solidFill>
                <a:latin typeface="+mn-lt"/>
                <a:ea typeface="Helvetica Neue Light"/>
                <a:cs typeface="Helvetica Neue Light"/>
                <a:sym typeface="Helvetica Neue Light"/>
              </a:rPr>
              <a:t>Future plans</a:t>
            </a:r>
            <a:endParaRPr lang="en-US" sz="2400" dirty="0">
              <a:solidFill>
                <a:schemeClr val="lt1"/>
              </a:solidFill>
              <a:latin typeface="+mn-lt"/>
              <a:ea typeface="Helvetica Neue Light"/>
              <a:cs typeface="Helvetica Neue Light"/>
              <a:sym typeface="Helvetica Neue Light"/>
            </a:endParaRPr>
          </a:p>
        </p:txBody>
      </p:sp>
      <p:sp>
        <p:nvSpPr>
          <p:cNvPr id="3" name="TextBox 2">
            <a:extLst>
              <a:ext uri="{FF2B5EF4-FFF2-40B4-BE49-F238E27FC236}">
                <a16:creationId xmlns:a16="http://schemas.microsoft.com/office/drawing/2014/main" id="{67751452-54A8-C3F9-43BA-5870C3B0DDD6}"/>
              </a:ext>
            </a:extLst>
          </p:cNvPr>
          <p:cNvSpPr txBox="1"/>
          <p:nvPr/>
        </p:nvSpPr>
        <p:spPr>
          <a:xfrm>
            <a:off x="4447106" y="6485888"/>
            <a:ext cx="2661503" cy="307777"/>
          </a:xfrm>
          <a:prstGeom prst="rect">
            <a:avLst/>
          </a:prstGeom>
          <a:noFill/>
        </p:spPr>
        <p:txBody>
          <a:bodyPr wrap="square" rtlCol="0">
            <a:spAutoFit/>
          </a:bodyPr>
          <a:lstStyle/>
          <a:p>
            <a:r>
              <a:rPr lang="en-US" dirty="0"/>
              <a:t>Speaker’s name and slide #</a:t>
            </a:r>
          </a:p>
        </p:txBody>
      </p:sp>
      <p:sp>
        <p:nvSpPr>
          <p:cNvPr id="5" name="Slide Number Placeholder 4">
            <a:extLst>
              <a:ext uri="{FF2B5EF4-FFF2-40B4-BE49-F238E27FC236}">
                <a16:creationId xmlns:a16="http://schemas.microsoft.com/office/drawing/2014/main" id="{B9657AF5-86F1-B980-2518-D1B861B362DC}"/>
              </a:ext>
            </a:extLst>
          </p:cNvPr>
          <p:cNvSpPr>
            <a:spLocks noGrp="1"/>
          </p:cNvSpPr>
          <p:nvPr>
            <p:ph type="sldNum" idx="12"/>
          </p:nvPr>
        </p:nvSpPr>
        <p:spPr>
          <a:xfrm>
            <a:off x="8591550" y="6442075"/>
            <a:ext cx="666750" cy="355600"/>
          </a:xfrm>
        </p:spPr>
        <p:txBody>
          <a:bodyPr/>
          <a:lstStyle/>
          <a:p>
            <a:fld id="{00000000-1234-1234-1234-123412341234}" type="slidenum">
              <a:rPr lang="en-US" sz="1400" dirty="0">
                <a:solidFill>
                  <a:schemeClr val="bg1"/>
                </a:solidFill>
              </a:rPr>
              <a:t>8</a:t>
            </a:fld>
            <a:endParaRPr lang="en-US" sz="1400" dirty="0">
              <a:solidFill>
                <a:schemeClr val="bg1"/>
              </a:solidFill>
            </a:endParaRPr>
          </a:p>
        </p:txBody>
      </p:sp>
    </p:spTree>
    <p:extLst>
      <p:ext uri="{BB962C8B-B14F-4D97-AF65-F5344CB8AC3E}">
        <p14:creationId xmlns:p14="http://schemas.microsoft.com/office/powerpoint/2010/main" val="3899460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01005E12-7F93-89BC-8D90-318B9210A81C}"/>
            </a:ext>
          </a:extLst>
        </p:cNvPr>
        <p:cNvGrpSpPr/>
        <p:nvPr/>
      </p:nvGrpSpPr>
      <p:grpSpPr>
        <a:xfrm>
          <a:off x="0" y="0"/>
          <a:ext cx="0" cy="0"/>
          <a:chOff x="0" y="0"/>
          <a:chExt cx="0" cy="0"/>
        </a:xfrm>
      </p:grpSpPr>
      <p:sp>
        <p:nvSpPr>
          <p:cNvPr id="147" name="Google Shape;147;p7">
            <a:extLst>
              <a:ext uri="{FF2B5EF4-FFF2-40B4-BE49-F238E27FC236}">
                <a16:creationId xmlns:a16="http://schemas.microsoft.com/office/drawing/2014/main" id="{9713FC8F-A490-28DA-8526-7B7FCFA4C0B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t>Version 1 of the entire robot (walker + dispensing mechanism together) should be demonstrated. This 1</a:t>
            </a:r>
            <a:r>
              <a:rPr lang="en-US" sz="2000" baseline="30000" dirty="0"/>
              <a:t>st</a:t>
            </a:r>
            <a:r>
              <a:rPr lang="en-US" sz="2000" dirty="0"/>
              <a:t> version of the machine should have “final” components, made using materials in your kit or purchased from the studio. </a:t>
            </a:r>
          </a:p>
          <a:p>
            <a:pPr marL="0" indent="0">
              <a:lnSpc>
                <a:spcPct val="100000"/>
              </a:lnSpc>
              <a:spcBef>
                <a:spcPts val="0"/>
              </a:spcBef>
              <a:buSzPts val="3000"/>
              <a:buNone/>
            </a:pPr>
            <a:r>
              <a:rPr lang="en-US" sz="2000" dirty="0"/>
              <a:t>Grading will be based on: </a:t>
            </a:r>
          </a:p>
          <a:p>
            <a:pPr marL="342900">
              <a:lnSpc>
                <a:spcPct val="100000"/>
              </a:lnSpc>
              <a:spcBef>
                <a:spcPts val="0"/>
              </a:spcBef>
              <a:buSzPts val="3000"/>
            </a:pPr>
            <a:r>
              <a:rPr lang="en-US" sz="2000" dirty="0"/>
              <a:t>Compliance to physical requirements. (Fits within 18 × 18 × 30 cm³ in at least one configuration)</a:t>
            </a:r>
          </a:p>
          <a:p>
            <a:pPr marL="342900">
              <a:lnSpc>
                <a:spcPct val="100000"/>
              </a:lnSpc>
              <a:spcBef>
                <a:spcPts val="0"/>
              </a:spcBef>
              <a:buSzPts val="3000"/>
            </a:pPr>
            <a:r>
              <a:rPr lang="en-US" sz="2000" dirty="0"/>
              <a:t>Completeness of prototype. </a:t>
            </a:r>
          </a:p>
          <a:p>
            <a:pPr marL="342900">
              <a:lnSpc>
                <a:spcPct val="100000"/>
              </a:lnSpc>
              <a:spcBef>
                <a:spcPts val="0"/>
              </a:spcBef>
              <a:buSzPts val="3000"/>
            </a:pPr>
            <a:r>
              <a:rPr lang="en-US" sz="2000" dirty="0"/>
              <a:t>Degree of functionality. </a:t>
            </a:r>
          </a:p>
          <a:p>
            <a:pPr marL="342900">
              <a:lnSpc>
                <a:spcPct val="100000"/>
              </a:lnSpc>
              <a:spcBef>
                <a:spcPts val="0"/>
              </a:spcBef>
              <a:buSzPts val="3000"/>
            </a:pPr>
            <a:r>
              <a:rPr lang="en-US" sz="2000" dirty="0"/>
              <a:t>Level of prototype fidelity. </a:t>
            </a:r>
          </a:p>
          <a:p>
            <a:pPr marL="342900">
              <a:lnSpc>
                <a:spcPct val="100000"/>
              </a:lnSpc>
              <a:spcBef>
                <a:spcPts val="0"/>
              </a:spcBef>
              <a:buSzPts val="3000"/>
            </a:pPr>
            <a:r>
              <a:rPr lang="en-US" sz="2000" dirty="0"/>
              <a:t>At least one leg and dispenser operate with correct phase when motor connected (does not need to walk, can be while held in air). </a:t>
            </a:r>
          </a:p>
          <a:p>
            <a:pPr marL="0" indent="0">
              <a:lnSpc>
                <a:spcPct val="100000"/>
              </a:lnSpc>
              <a:spcBef>
                <a:spcPts val="0"/>
              </a:spcBef>
              <a:buSzPts val="3000"/>
              <a:buNone/>
            </a:pPr>
            <a:endParaRPr lang="en-US" sz="2600" b="1" dirty="0">
              <a:solidFill>
                <a:srgbClr val="E84B36"/>
              </a:solidFill>
              <a:latin typeface="Arial"/>
              <a:cs typeface="Arial"/>
              <a:sym typeface="Helvetica Neue Light"/>
            </a:endParaRPr>
          </a:p>
          <a:p>
            <a:pPr marL="0" indent="0">
              <a:lnSpc>
                <a:spcPct val="100000"/>
              </a:lnSpc>
              <a:spcBef>
                <a:spcPts val="0"/>
              </a:spcBef>
              <a:buSzPts val="3000"/>
              <a:buNone/>
            </a:pPr>
            <a:r>
              <a:rPr lang="en-US" sz="2000" b="1" dirty="0">
                <a:solidFill>
                  <a:srgbClr val="E84B36"/>
                </a:solidFill>
                <a:latin typeface="Arial"/>
                <a:cs typeface="Arial"/>
                <a:sym typeface="Helvetica Neue Light"/>
              </a:rPr>
              <a:t>Extra credit: demonstrate that the robot can walk, dispense at least one payload, and move consistently forward on the ground</a:t>
            </a:r>
            <a:endParaRPr lang="en-US" sz="2000" b="1" dirty="0">
              <a:solidFill>
                <a:srgbClr val="E84B36"/>
              </a:solidFill>
              <a:latin typeface="Arial"/>
              <a:cs typeface="Arial"/>
            </a:endParaRPr>
          </a:p>
          <a:p>
            <a:pPr marL="0" lvl="0" indent="0">
              <a:lnSpc>
                <a:spcPct val="100000"/>
              </a:lnSpc>
              <a:spcBef>
                <a:spcPts val="0"/>
              </a:spcBef>
              <a:buSzPts val="2000"/>
              <a:buNone/>
            </a:pPr>
            <a:endParaRPr lang="en-US" sz="1800" dirty="0">
              <a:solidFill>
                <a:schemeClr val="tx1"/>
              </a:solidFill>
              <a:latin typeface="Arial" panose="020B0604020202020204" pitchFamily="34" charset="0"/>
              <a:ea typeface="Helvetica Neue Light"/>
              <a:cs typeface="Arial" panose="020B0604020202020204" pitchFamily="34" charset="0"/>
              <a:sym typeface="Helvetica Neue Light"/>
            </a:endParaRPr>
          </a:p>
        </p:txBody>
      </p:sp>
      <p:sp>
        <p:nvSpPr>
          <p:cNvPr id="18" name="Google Shape;145;p7">
            <a:extLst>
              <a:ext uri="{FF2B5EF4-FFF2-40B4-BE49-F238E27FC236}">
                <a16:creationId xmlns:a16="http://schemas.microsoft.com/office/drawing/2014/main" id="{43DD67BD-97E8-3A19-5E59-C7EBCBF8AD01}"/>
              </a:ext>
            </a:extLst>
          </p:cNvPr>
          <p:cNvSpPr/>
          <p:nvPr/>
        </p:nvSpPr>
        <p:spPr>
          <a:xfrm rot="10800000" flipH="1">
            <a:off x="0" y="6437013"/>
            <a:ext cx="12192000" cy="420987"/>
          </a:xfrm>
          <a:prstGeom prst="rect">
            <a:avLst/>
          </a:prstGeom>
          <a:gradFill flip="none" rotWithShape="1">
            <a:gsLst>
              <a:gs pos="0">
                <a:schemeClr val="bg1">
                  <a:lumMod val="50000"/>
                </a:schemeClr>
              </a:gs>
              <a:gs pos="100000">
                <a:schemeClr val="bg1">
                  <a:lumMod val="75000"/>
                </a:schemeClr>
              </a:gs>
            </a:gsLst>
            <a:lin ang="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sp>
        <p:nvSpPr>
          <p:cNvPr id="19" name="Google Shape;100;p1">
            <a:extLst>
              <a:ext uri="{FF2B5EF4-FFF2-40B4-BE49-F238E27FC236}">
                <a16:creationId xmlns:a16="http://schemas.microsoft.com/office/drawing/2014/main" id="{3D081CF9-16D1-6547-B6E3-A9EA4D96138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lvl="0"/>
            <a:r>
              <a:rPr lang="en-US" sz="900" spc="200" dirty="0">
                <a:solidFill>
                  <a:schemeClr val="bg1"/>
                </a:solidFill>
                <a:ea typeface="Helvetica Neue Light"/>
                <a:cs typeface="Helvetica Neue Light"/>
                <a:sym typeface="Helvetica Neue Light"/>
              </a:rPr>
              <a:t>Mechanical Science and Engineering</a:t>
            </a:r>
          </a:p>
        </p:txBody>
      </p:sp>
      <p:sp>
        <p:nvSpPr>
          <p:cNvPr id="20" name="Google Shape;100;p1">
            <a:extLst>
              <a:ext uri="{FF2B5EF4-FFF2-40B4-BE49-F238E27FC236}">
                <a16:creationId xmlns:a16="http://schemas.microsoft.com/office/drawing/2014/main" id="{DF46E06E-0FEA-3630-EB26-109B4AE9008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lvl="0" algn="r"/>
            <a:r>
              <a:rPr lang="en-US" sz="900" spc="200" dirty="0">
                <a:solidFill>
                  <a:schemeClr val="bg1"/>
                </a:solidFill>
                <a:ea typeface="Helvetica Neue Light"/>
                <a:cs typeface="Helvetica Neue Light"/>
                <a:sym typeface="Helvetica Neue Light"/>
              </a:rPr>
              <a:t>GRAINGER ENGINEERING</a:t>
            </a:r>
          </a:p>
        </p:txBody>
      </p:sp>
      <p:sp>
        <p:nvSpPr>
          <p:cNvPr id="21" name="Google Shape;145;p7">
            <a:extLst>
              <a:ext uri="{FF2B5EF4-FFF2-40B4-BE49-F238E27FC236}">
                <a16:creationId xmlns:a16="http://schemas.microsoft.com/office/drawing/2014/main" id="{101F33FE-9E03-1BE3-93BC-04A1D31FEFFB}"/>
              </a:ext>
            </a:extLst>
          </p:cNvPr>
          <p:cNvSpPr/>
          <p:nvPr/>
        </p:nvSpPr>
        <p:spPr>
          <a:xfrm rot="10800000" flipH="1">
            <a:off x="0" y="-7695"/>
            <a:ext cx="12192000" cy="868218"/>
          </a:xfrm>
          <a:prstGeom prst="rect">
            <a:avLst/>
          </a:prstGeom>
          <a:gradFill>
            <a:gsLst>
              <a:gs pos="0">
                <a:srgbClr val="1B4284"/>
              </a:gs>
              <a:gs pos="100000">
                <a:srgbClr val="13294B"/>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22" name="Picture 21" descr="A close up of a logo&#10;&#10;Description automatically generated">
            <a:extLst>
              <a:ext uri="{FF2B5EF4-FFF2-40B4-BE49-F238E27FC236}">
                <a16:creationId xmlns:a16="http://schemas.microsoft.com/office/drawing/2014/main" id="{09223AEE-28CD-E6DC-FC64-B6396EFEF3F7}"/>
              </a:ext>
            </a:extLst>
          </p:cNvPr>
          <p:cNvPicPr>
            <a:picLocks noChangeAspect="1"/>
          </p:cNvPicPr>
          <p:nvPr/>
        </p:nvPicPr>
        <p:blipFill>
          <a:blip r:embed="rId3"/>
          <a:stretch>
            <a:fillRect/>
          </a:stretch>
        </p:blipFill>
        <p:spPr>
          <a:xfrm>
            <a:off x="11554210" y="228014"/>
            <a:ext cx="277906" cy="401420"/>
          </a:xfrm>
          <a:prstGeom prst="rect">
            <a:avLst/>
          </a:prstGeom>
        </p:spPr>
      </p:pic>
      <p:sp>
        <p:nvSpPr>
          <p:cNvPr id="23" name="Google Shape;100;p1">
            <a:extLst>
              <a:ext uri="{FF2B5EF4-FFF2-40B4-BE49-F238E27FC236}">
                <a16:creationId xmlns:a16="http://schemas.microsoft.com/office/drawing/2014/main" id="{A0E4D209-FF89-402E-6B32-FA0CB6FD080C}"/>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lvl="0"/>
            <a:r>
              <a:rPr lang="en-US" sz="2400" dirty="0">
                <a:solidFill>
                  <a:schemeClr val="lt1"/>
                </a:solidFill>
                <a:ea typeface="Helvetica Neue Light"/>
                <a:cs typeface="Helvetica Neue Light"/>
                <a:sym typeface="Helvetica Neue Light"/>
              </a:rPr>
              <a:t>Prototype demonstration</a:t>
            </a:r>
          </a:p>
        </p:txBody>
      </p:sp>
      <p:sp>
        <p:nvSpPr>
          <p:cNvPr id="3" name="TextBox 2">
            <a:extLst>
              <a:ext uri="{FF2B5EF4-FFF2-40B4-BE49-F238E27FC236}">
                <a16:creationId xmlns:a16="http://schemas.microsoft.com/office/drawing/2014/main" id="{24C896F7-DA60-C0F2-517C-2176D2243102}"/>
              </a:ext>
            </a:extLst>
          </p:cNvPr>
          <p:cNvSpPr txBox="1"/>
          <p:nvPr/>
        </p:nvSpPr>
        <p:spPr>
          <a:xfrm>
            <a:off x="4447106" y="6485888"/>
            <a:ext cx="2661503" cy="307777"/>
          </a:xfrm>
          <a:prstGeom prst="rect">
            <a:avLst/>
          </a:prstGeom>
          <a:noFill/>
        </p:spPr>
        <p:txBody>
          <a:bodyPr wrap="square" rtlCol="0">
            <a:spAutoFit/>
          </a:bodyPr>
          <a:lstStyle/>
          <a:p>
            <a:r>
              <a:rPr lang="en-US" dirty="0"/>
              <a:t>Speaker’s name and slide #</a:t>
            </a:r>
          </a:p>
        </p:txBody>
      </p:sp>
      <p:sp>
        <p:nvSpPr>
          <p:cNvPr id="5" name="Slide Number Placeholder 4">
            <a:extLst>
              <a:ext uri="{FF2B5EF4-FFF2-40B4-BE49-F238E27FC236}">
                <a16:creationId xmlns:a16="http://schemas.microsoft.com/office/drawing/2014/main" id="{806D1066-6720-14A0-2406-A526DD919C80}"/>
              </a:ext>
            </a:extLst>
          </p:cNvPr>
          <p:cNvSpPr>
            <a:spLocks noGrp="1"/>
          </p:cNvSpPr>
          <p:nvPr>
            <p:ph type="sldNum" idx="12"/>
          </p:nvPr>
        </p:nvSpPr>
        <p:spPr>
          <a:xfrm>
            <a:off x="8591550" y="6442075"/>
            <a:ext cx="666750" cy="355600"/>
          </a:xfrm>
        </p:spPr>
        <p:txBody>
          <a:bodyPr/>
          <a:lstStyle/>
          <a:p>
            <a:fld id="{00000000-1234-1234-1234-123412341234}" type="slidenum">
              <a:rPr lang="en-US" sz="1400" dirty="0">
                <a:solidFill>
                  <a:schemeClr val="bg1"/>
                </a:solidFill>
              </a:rPr>
              <a:t>9</a:t>
            </a:fld>
            <a:endParaRPr lang="en-US" sz="1400" dirty="0">
              <a:solidFill>
                <a:schemeClr val="bg1"/>
              </a:solidFill>
            </a:endParaRPr>
          </a:p>
        </p:txBody>
      </p:sp>
    </p:spTree>
    <p:extLst>
      <p:ext uri="{BB962C8B-B14F-4D97-AF65-F5344CB8AC3E}">
        <p14:creationId xmlns:p14="http://schemas.microsoft.com/office/powerpoint/2010/main" val="756668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5;p7">
            <a:extLst>
              <a:ext uri="{FF2B5EF4-FFF2-40B4-BE49-F238E27FC236}">
                <a16:creationId xmlns:a16="http://schemas.microsoft.com/office/drawing/2014/main" id="{8FE8EAD3-2D7F-0846-8465-1E5EC531CB76}"/>
              </a:ext>
            </a:extLst>
          </p:cNvPr>
          <p:cNvSpPr/>
          <p:nvPr/>
        </p:nvSpPr>
        <p:spPr>
          <a:xfrm rot="10800000" flipH="1">
            <a:off x="-1" y="8163"/>
            <a:ext cx="12192000" cy="6858000"/>
          </a:xfrm>
          <a:prstGeom prst="rect">
            <a:avLst/>
          </a:prstGeom>
          <a:gradFill flip="none" rotWithShape="1">
            <a:gsLst>
              <a:gs pos="0">
                <a:srgbClr val="1B4284"/>
              </a:gs>
              <a:gs pos="100000">
                <a:srgbClr val="13294B"/>
              </a:gs>
            </a:gsLst>
            <a:lin ang="18900000" scaled="1"/>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Calibri"/>
              <a:ea typeface="Calibri"/>
              <a:cs typeface="Calibri"/>
              <a:sym typeface="Calibri"/>
            </a:endParaRPr>
          </a:p>
        </p:txBody>
      </p:sp>
      <p:pic>
        <p:nvPicPr>
          <p:cNvPr id="3" name="Picture 2" descr="A close up of a newspaper&#10;&#10;Description automatically generated">
            <a:extLst>
              <a:ext uri="{FF2B5EF4-FFF2-40B4-BE49-F238E27FC236}">
                <a16:creationId xmlns:a16="http://schemas.microsoft.com/office/drawing/2014/main" id="{40BBED40-2928-B047-86D9-C914F64EDE53}"/>
              </a:ext>
            </a:extLst>
          </p:cNvPr>
          <p:cNvPicPr>
            <a:picLocks noChangeAspect="1"/>
          </p:cNvPicPr>
          <p:nvPr/>
        </p:nvPicPr>
        <p:blipFill>
          <a:blip r:embed="rId2">
            <a:alphaModFix amt="30000"/>
          </a:blip>
          <a:stretch>
            <a:fillRect/>
          </a:stretch>
        </p:blipFill>
        <p:spPr>
          <a:xfrm>
            <a:off x="-1" y="8164"/>
            <a:ext cx="12192000" cy="6858000"/>
          </a:xfrm>
          <a:prstGeom prst="rect">
            <a:avLst/>
          </a:prstGeom>
        </p:spPr>
      </p:pic>
      <p:pic>
        <p:nvPicPr>
          <p:cNvPr id="7" name="Picture 6" descr="Graphical user interface, text&#10;&#10;Description automatically generated">
            <a:extLst>
              <a:ext uri="{FF2B5EF4-FFF2-40B4-BE49-F238E27FC236}">
                <a16:creationId xmlns:a16="http://schemas.microsoft.com/office/drawing/2014/main" id="{F63AF0C5-85E3-5442-BD93-F22B807C76B5}"/>
              </a:ext>
            </a:extLst>
          </p:cNvPr>
          <p:cNvPicPr>
            <a:picLocks noChangeAspect="1"/>
          </p:cNvPicPr>
          <p:nvPr/>
        </p:nvPicPr>
        <p:blipFill>
          <a:blip r:embed="rId3"/>
          <a:stretch>
            <a:fillRect/>
          </a:stretch>
        </p:blipFill>
        <p:spPr>
          <a:xfrm>
            <a:off x="2530021" y="2252985"/>
            <a:ext cx="7131957" cy="2352029"/>
          </a:xfrm>
          <a:prstGeom prst="rect">
            <a:avLst/>
          </a:prstGeom>
        </p:spPr>
      </p:pic>
    </p:spTree>
    <p:extLst>
      <p:ext uri="{BB962C8B-B14F-4D97-AF65-F5344CB8AC3E}">
        <p14:creationId xmlns:p14="http://schemas.microsoft.com/office/powerpoint/2010/main" val="278040543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hort_UIUC_Template.potm" id="{55EFEA3B-ADC2-48A0-BCCD-A119EA483898}" vid="{8AEE1448-03A1-4086-8145-CF73B70A6259}"/>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Short_UIUC_Template</Template>
  <TotalTime>137</TotalTime>
  <Words>940</Words>
  <Application>Microsoft Office PowerPoint</Application>
  <PresentationFormat>Widescreen</PresentationFormat>
  <Paragraphs>112</Paragraphs>
  <Slides>10</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Helvetica Neue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Wandke, Kevin E</dc:creator>
  <cp:lastModifiedBy>Hsiao-Wecksler, Elizabeth T</cp:lastModifiedBy>
  <cp:revision>131</cp:revision>
  <dcterms:created xsi:type="dcterms:W3CDTF">2025-09-09T17:56:16Z</dcterms:created>
  <dcterms:modified xsi:type="dcterms:W3CDTF">2025-11-04T17:16:02Z</dcterms:modified>
</cp:coreProperties>
</file>